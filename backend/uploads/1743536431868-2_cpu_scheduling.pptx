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sldIdLst>
    <p:sldId id="256" r:id="rId2"/>
    <p:sldId id="261" r:id="rId3"/>
    <p:sldId id="262" r:id="rId4"/>
    <p:sldId id="263" r:id="rId5"/>
    <p:sldId id="264" r:id="rId6"/>
    <p:sldId id="265" r:id="rId7"/>
    <p:sldId id="266" r:id="rId8"/>
    <p:sldId id="267" r:id="rId9"/>
    <p:sldId id="268" r:id="rId10"/>
    <p:sldId id="269" r:id="rId11"/>
    <p:sldId id="270" r:id="rId12"/>
    <p:sldId id="286" r:id="rId13"/>
    <p:sldId id="271" r:id="rId14"/>
    <p:sldId id="273" r:id="rId15"/>
    <p:sldId id="274" r:id="rId16"/>
    <p:sldId id="275" r:id="rId17"/>
    <p:sldId id="272" r:id="rId18"/>
    <p:sldId id="278" r:id="rId19"/>
    <p:sldId id="279" r:id="rId20"/>
    <p:sldId id="294" r:id="rId21"/>
    <p:sldId id="291" r:id="rId22"/>
    <p:sldId id="292" r:id="rId23"/>
    <p:sldId id="293" r:id="rId24"/>
    <p:sldId id="284" r:id="rId25"/>
    <p:sldId id="283" r:id="rId26"/>
    <p:sldId id="285" r:id="rId27"/>
    <p:sldId id="287" r:id="rId28"/>
    <p:sldId id="289" r:id="rId29"/>
    <p:sldId id="296" r:id="rId30"/>
    <p:sldId id="295"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2" d="100"/>
          <a:sy n="82" d="100"/>
        </p:scale>
        <p:origin x="797"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3AC4AE6-A8D1-47F5-8429-792C94B5264D}" type="datetimeFigureOut">
              <a:rPr lang="en-IN" smtClean="0"/>
              <a:pPr/>
              <a:t>09-06-2021</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5118A28-29C2-49E4-A46F-6B846DAF02A1}" type="slidenum">
              <a:rPr lang="en-IN" smtClean="0"/>
              <a:pPr/>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4210" name="Rectangle 1025"/>
          <p:cNvSpPr>
            <a:spLocks noGrp="1" noRot="1" noChangeAspect="1" noChangeArrowheads="1" noTextEdit="1"/>
          </p:cNvSpPr>
          <p:nvPr>
            <p:ph type="sldImg"/>
          </p:nvPr>
        </p:nvSpPr>
        <p:spPr>
          <a:ln/>
        </p:spPr>
      </p:sp>
      <p:sp>
        <p:nvSpPr>
          <p:cNvPr id="94211" name="Rectangle 1026"/>
          <p:cNvSpPr txBox="1">
            <a:spLocks noGrp="1" noChangeArrowheads="1"/>
          </p:cNvSpPr>
          <p:nvPr>
            <p:ph type="body" idx="1"/>
          </p:nvPr>
        </p:nvSpPr>
        <p:spPr>
          <a:noFill/>
          <a:ln/>
        </p:spPr>
        <p:txBody>
          <a:bodyPr wrap="none"/>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ln/>
        </p:spPr>
      </p:sp>
      <p:sp>
        <p:nvSpPr>
          <p:cNvPr id="95235" name="Rectangle 3"/>
          <p:cNvSpPr txBox="1">
            <a:spLocks noGrp="1" noChangeArrowheads="1"/>
          </p:cNvSpPr>
          <p:nvPr>
            <p:ph type="body" idx="1"/>
          </p:nvPr>
        </p:nvSpPr>
        <p:spPr>
          <a:noFill/>
          <a:ln/>
        </p:spPr>
        <p:txBody>
          <a:bodyPr wrap="none"/>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6258" name="Rectangle 1025"/>
          <p:cNvSpPr>
            <a:spLocks noGrp="1" noRot="1" noChangeAspect="1" noChangeArrowheads="1" noTextEdit="1"/>
          </p:cNvSpPr>
          <p:nvPr>
            <p:ph type="sldImg"/>
          </p:nvPr>
        </p:nvSpPr>
        <p:spPr>
          <a:ln/>
        </p:spPr>
      </p:sp>
      <p:sp>
        <p:nvSpPr>
          <p:cNvPr id="96259" name="Rectangle 1026"/>
          <p:cNvSpPr txBox="1">
            <a:spLocks noGrp="1" noChangeArrowheads="1"/>
          </p:cNvSpPr>
          <p:nvPr>
            <p:ph type="body" idx="1"/>
          </p:nvPr>
        </p:nvSpPr>
        <p:spPr>
          <a:noFill/>
          <a:ln/>
        </p:spPr>
        <p:txBody>
          <a:bodyPr wrap="none"/>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65118A28-29C2-49E4-A46F-6B846DAF02A1}" type="slidenum">
              <a:rPr lang="en-IN" smtClean="0"/>
              <a:pPr/>
              <a:t>25</a:t>
            </a:fld>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r>
              <a:rPr lang="en-US"/>
              <a:t>Sonali C.</a:t>
            </a:r>
          </a:p>
        </p:txBody>
      </p:sp>
      <p:sp>
        <p:nvSpPr>
          <p:cNvPr id="30723" name="Rectangle 3"/>
          <p:cNvSpPr>
            <a:spLocks noGrp="1" noChangeArrowheads="1"/>
          </p:cNvSpPr>
          <p:nvPr>
            <p:ph type="dt" sz="quarter" idx="1"/>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r>
              <a:rPr lang="en-US"/>
              <a:t>UDIT</a:t>
            </a:r>
          </a:p>
        </p:txBody>
      </p:sp>
      <p:sp>
        <p:nvSpPr>
          <p:cNvPr id="30724" name="Rectangle 6"/>
          <p:cNvSpPr>
            <a:spLocks noGrp="1" noChangeArrowheads="1"/>
          </p:cNvSpPr>
          <p:nvPr>
            <p:ph type="ftr" sz="quarter" idx="4"/>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t>CPU Scheduling</a:t>
            </a:r>
          </a:p>
        </p:txBody>
      </p:sp>
      <p:sp>
        <p:nvSpPr>
          <p:cNvPr id="30725"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3CA17BC1-439A-4EB3-8A23-DFF542CFD233}" type="slidenum">
              <a:rPr lang="en-US" smtClean="0"/>
              <a:pPr fontAlgn="base">
                <a:spcBef>
                  <a:spcPct val="0"/>
                </a:spcBef>
                <a:spcAft>
                  <a:spcPct val="0"/>
                </a:spcAft>
                <a:defRPr/>
              </a:pPr>
              <a:t>26</a:t>
            </a:fld>
            <a:endParaRPr lang="en-US"/>
          </a:p>
        </p:txBody>
      </p:sp>
      <p:sp>
        <p:nvSpPr>
          <p:cNvPr id="3277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277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Aging - Gradually increasing the priority of process that waits in the system for long time.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378" name="Rectangle 1"/>
          <p:cNvSpPr>
            <a:spLocks noGrp="1" noRot="1" noChangeAspect="1" noChangeArrowheads="1" noTextEdit="1"/>
          </p:cNvSpPr>
          <p:nvPr>
            <p:ph type="sldImg"/>
          </p:nvPr>
        </p:nvSpPr>
        <p:spPr>
          <a:ln/>
        </p:spPr>
      </p:sp>
      <p:sp>
        <p:nvSpPr>
          <p:cNvPr id="101379" name="Rectangle 2"/>
          <p:cNvSpPr txBox="1">
            <a:spLocks noGrp="1" noChangeArrowheads="1"/>
          </p:cNvSpPr>
          <p:nvPr>
            <p:ph type="body" idx="1"/>
          </p:nvPr>
        </p:nvSpPr>
        <p:spPr>
          <a:noFill/>
          <a:ln/>
        </p:spPr>
        <p:txBody>
          <a:bodyPr wrap="none"/>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9D271B6E-924D-4AFF-9EE2-8D35AFC0AC07}" type="datetime1">
              <a:rPr lang="en-IN" smtClean="0"/>
              <a:t>09-06-2021</a:t>
            </a:fld>
            <a:endParaRPr lang="en-IN" dirty="0"/>
          </a:p>
        </p:txBody>
      </p:sp>
      <p:sp>
        <p:nvSpPr>
          <p:cNvPr id="19" name="Footer Placeholder 18"/>
          <p:cNvSpPr>
            <a:spLocks noGrp="1"/>
          </p:cNvSpPr>
          <p:nvPr>
            <p:ph type="ftr" sz="quarter" idx="11"/>
          </p:nvPr>
        </p:nvSpPr>
        <p:spPr/>
        <p:txBody>
          <a:bodyPr/>
          <a:lstStyle/>
          <a:p>
            <a:r>
              <a:rPr lang="en-IN"/>
              <a:t>Prepared by Aswathy K.R ,Asst. Professor,Dept.of CSE, CE Munnar</a:t>
            </a:r>
            <a:endParaRPr lang="en-IN" dirty="0"/>
          </a:p>
        </p:txBody>
      </p:sp>
      <p:sp>
        <p:nvSpPr>
          <p:cNvPr id="27" name="Slide Number Placeholder 26"/>
          <p:cNvSpPr>
            <a:spLocks noGrp="1"/>
          </p:cNvSpPr>
          <p:nvPr>
            <p:ph type="sldNum" sz="quarter" idx="12"/>
          </p:nvPr>
        </p:nvSpPr>
        <p:spPr/>
        <p:txBody>
          <a:bodyPr/>
          <a:lstStyle/>
          <a:p>
            <a:fld id="{EE5D3B95-1082-4AA7-8107-87B8F4991B16}" type="slidenum">
              <a:rPr lang="en-IN" smtClean="0"/>
              <a:pPr/>
              <a:t>‹#›</a:t>
            </a:fld>
            <a:endParaRPr lang="en-IN"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8229600" cy="864096"/>
          </a:xfrm>
        </p:spPr>
        <p:txBody>
          <a:bodyPr>
            <a:normAutofit/>
          </a:bodyPr>
          <a:lstStyle>
            <a:lvl1pPr>
              <a:defRPr sz="3600" b="1">
                <a:latin typeface="Times New Roman" pitchFamily="18" charset="0"/>
                <a:cs typeface="Times New Roman" pitchFamily="18" charset="0"/>
              </a:defRPr>
            </a:lvl1pPr>
          </a:lstStyle>
          <a:p>
            <a:r>
              <a:rPr kumimoji="0" lang="en-US" dirty="0"/>
              <a:t>Click to edit Master title style</a:t>
            </a:r>
          </a:p>
        </p:txBody>
      </p:sp>
      <p:sp>
        <p:nvSpPr>
          <p:cNvPr id="3" name="Content Placeholder 2"/>
          <p:cNvSpPr>
            <a:spLocks noGrp="1"/>
          </p:cNvSpPr>
          <p:nvPr>
            <p:ph idx="1"/>
          </p:nvPr>
        </p:nvSpPr>
        <p:spPr>
          <a:xfrm>
            <a:off x="457200" y="1340768"/>
            <a:ext cx="8229600" cy="5256584"/>
          </a:xfrm>
        </p:spPr>
        <p:txBody>
          <a:bodyPr>
            <a:normAutofit/>
          </a:bodyPr>
          <a:lstStyle>
            <a:lvl1pPr>
              <a:defRPr sz="2400">
                <a:latin typeface="Times New Roman" pitchFamily="18" charset="0"/>
                <a:cs typeface="Times New Roman" pitchFamily="18" charset="0"/>
              </a:defRPr>
            </a:lvl1pPr>
            <a:lvl2pPr>
              <a:defRPr sz="2400">
                <a:latin typeface="Times New Roman" pitchFamily="18" charset="0"/>
                <a:cs typeface="Times New Roman" pitchFamily="18" charset="0"/>
              </a:defRPr>
            </a:lvl2pPr>
            <a:lvl3pPr>
              <a:defRPr sz="2400">
                <a:latin typeface="Times New Roman" pitchFamily="18" charset="0"/>
                <a:cs typeface="Times New Roman" pitchFamily="18" charset="0"/>
              </a:defRPr>
            </a:lvl3pPr>
            <a:lvl4pPr>
              <a:defRPr sz="2400">
                <a:latin typeface="Times New Roman" pitchFamily="18" charset="0"/>
                <a:cs typeface="Times New Roman" pitchFamily="18" charset="0"/>
              </a:defRPr>
            </a:lvl4pPr>
            <a:lvl5pPr>
              <a:defRPr sz="2400">
                <a:latin typeface="Times New Roman" pitchFamily="18" charset="0"/>
                <a:cs typeface="Times New Roman" pitchFamily="18" charset="0"/>
              </a:defRPr>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9CD2DC18-6D7D-475B-B735-DC68041418D4}" type="datetime1">
              <a:rPr lang="en-IN" smtClean="0"/>
              <a:t>09-06-2021</a:t>
            </a:fld>
            <a:endParaRPr lang="en-IN" dirty="0"/>
          </a:p>
        </p:txBody>
      </p:sp>
      <p:sp>
        <p:nvSpPr>
          <p:cNvPr id="5" name="Footer Placeholder 4"/>
          <p:cNvSpPr>
            <a:spLocks noGrp="1"/>
          </p:cNvSpPr>
          <p:nvPr>
            <p:ph type="ftr" sz="quarter" idx="11"/>
          </p:nvPr>
        </p:nvSpPr>
        <p:spPr/>
        <p:txBody>
          <a:bodyPr/>
          <a:lstStyle/>
          <a:p>
            <a:r>
              <a:rPr lang="en-IN"/>
              <a:t>Prepared by Aswathy K.R ,Asst. Professor,Dept.of CSE, CE Munnar</a:t>
            </a:r>
            <a:endParaRPr lang="en-IN" dirty="0"/>
          </a:p>
        </p:txBody>
      </p:sp>
      <p:sp>
        <p:nvSpPr>
          <p:cNvPr id="6" name="Slide Number Placeholder 5"/>
          <p:cNvSpPr>
            <a:spLocks noGrp="1"/>
          </p:cNvSpPr>
          <p:nvPr>
            <p:ph type="sldNum" sz="quarter" idx="12"/>
          </p:nvPr>
        </p:nvSpPr>
        <p:spPr/>
        <p:txBody>
          <a:bodyPr/>
          <a:lstStyle/>
          <a:p>
            <a:fld id="{EE5D3B95-1082-4AA7-8107-87B8F4991B16}" type="slidenum">
              <a:rPr lang="en-IN" smtClean="0"/>
              <a:pPr/>
              <a:t>‹#›</a:t>
            </a:fld>
            <a:endParaRPr lang="en-IN"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6B51D5BE-4841-4B92-ACC5-809FF39B194C}" type="datetime1">
              <a:rPr lang="en-IN" smtClean="0"/>
              <a:t>09-06-2021</a:t>
            </a:fld>
            <a:endParaRPr lang="en-IN" dirty="0"/>
          </a:p>
        </p:txBody>
      </p:sp>
      <p:sp>
        <p:nvSpPr>
          <p:cNvPr id="6" name="Footer Placeholder 5"/>
          <p:cNvSpPr>
            <a:spLocks noGrp="1"/>
          </p:cNvSpPr>
          <p:nvPr>
            <p:ph type="ftr" sz="quarter" idx="11"/>
          </p:nvPr>
        </p:nvSpPr>
        <p:spPr/>
        <p:txBody>
          <a:bodyPr/>
          <a:lstStyle/>
          <a:p>
            <a:r>
              <a:rPr lang="en-IN"/>
              <a:t>Prepared by Aswathy K.R ,Asst. Professor,Dept.of CSE, CE Munnar</a:t>
            </a:r>
            <a:endParaRPr lang="en-IN" dirty="0"/>
          </a:p>
        </p:txBody>
      </p:sp>
      <p:sp>
        <p:nvSpPr>
          <p:cNvPr id="7" name="Slide Number Placeholder 6"/>
          <p:cNvSpPr>
            <a:spLocks noGrp="1"/>
          </p:cNvSpPr>
          <p:nvPr>
            <p:ph type="sldNum" sz="quarter" idx="12"/>
          </p:nvPr>
        </p:nvSpPr>
        <p:spPr/>
        <p:txBody>
          <a:bodyPr/>
          <a:lstStyle/>
          <a:p>
            <a:fld id="{EE5D3B95-1082-4AA7-8107-87B8F4991B16}" type="slidenum">
              <a:rPr lang="en-IN" smtClean="0"/>
              <a:pPr/>
              <a:t>‹#›</a:t>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71D6A165-46FB-4E7F-838C-818B2AA5C9D3}" type="datetime1">
              <a:rPr lang="en-IN" smtClean="0"/>
              <a:t>09-06-2021</a:t>
            </a:fld>
            <a:endParaRPr lang="en-IN" dirty="0"/>
          </a:p>
        </p:txBody>
      </p:sp>
      <p:sp>
        <p:nvSpPr>
          <p:cNvPr id="8" name="Footer Placeholder 7"/>
          <p:cNvSpPr>
            <a:spLocks noGrp="1"/>
          </p:cNvSpPr>
          <p:nvPr>
            <p:ph type="ftr" sz="quarter" idx="11"/>
          </p:nvPr>
        </p:nvSpPr>
        <p:spPr/>
        <p:txBody>
          <a:bodyPr/>
          <a:lstStyle/>
          <a:p>
            <a:r>
              <a:rPr lang="en-IN"/>
              <a:t>Prepared by Aswathy K.R ,Asst. Professor,Dept.of CSE, CE Munnar</a:t>
            </a:r>
            <a:endParaRPr lang="en-IN" dirty="0"/>
          </a:p>
        </p:txBody>
      </p:sp>
      <p:sp>
        <p:nvSpPr>
          <p:cNvPr id="9" name="Slide Number Placeholder 8"/>
          <p:cNvSpPr>
            <a:spLocks noGrp="1"/>
          </p:cNvSpPr>
          <p:nvPr>
            <p:ph type="sldNum" sz="quarter" idx="12"/>
          </p:nvPr>
        </p:nvSpPr>
        <p:spPr/>
        <p:txBody>
          <a:bodyPr/>
          <a:lstStyle/>
          <a:p>
            <a:fld id="{EE5D3B95-1082-4AA7-8107-87B8F4991B16}" type="slidenum">
              <a:rPr lang="en-IN" smtClean="0"/>
              <a:pPr/>
              <a:t>‹#›</a:t>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72B608EC-6063-47BC-B6B2-398E965240D1}" type="datetime1">
              <a:rPr lang="en-IN" smtClean="0"/>
              <a:t>09-06-2021</a:t>
            </a:fld>
            <a:endParaRPr lang="en-IN" dirty="0"/>
          </a:p>
        </p:txBody>
      </p:sp>
      <p:sp>
        <p:nvSpPr>
          <p:cNvPr id="4" name="Footer Placeholder 3"/>
          <p:cNvSpPr>
            <a:spLocks noGrp="1"/>
          </p:cNvSpPr>
          <p:nvPr>
            <p:ph type="ftr" sz="quarter" idx="11"/>
          </p:nvPr>
        </p:nvSpPr>
        <p:spPr/>
        <p:txBody>
          <a:bodyPr/>
          <a:lstStyle/>
          <a:p>
            <a:r>
              <a:rPr lang="en-IN"/>
              <a:t>Prepared by Aswathy K.R ,Asst. Professor,Dept.of CSE, CE Munnar</a:t>
            </a:r>
            <a:endParaRPr lang="en-IN" dirty="0"/>
          </a:p>
        </p:txBody>
      </p:sp>
      <p:sp>
        <p:nvSpPr>
          <p:cNvPr id="5" name="Slide Number Placeholder 4"/>
          <p:cNvSpPr>
            <a:spLocks noGrp="1"/>
          </p:cNvSpPr>
          <p:nvPr>
            <p:ph type="sldNum" sz="quarter" idx="12"/>
          </p:nvPr>
        </p:nvSpPr>
        <p:spPr/>
        <p:txBody>
          <a:bodyPr/>
          <a:lstStyle/>
          <a:p>
            <a:fld id="{EE5D3B95-1082-4AA7-8107-87B8F4991B16}" type="slidenum">
              <a:rPr lang="en-IN" smtClean="0"/>
              <a:pPr/>
              <a:t>‹#›</a:t>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8F2642-B7CE-4FA6-9789-26BC2ACC9510}" type="datetime1">
              <a:rPr lang="en-IN" smtClean="0"/>
              <a:t>09-06-2021</a:t>
            </a:fld>
            <a:endParaRPr lang="en-IN" dirty="0"/>
          </a:p>
        </p:txBody>
      </p:sp>
      <p:sp>
        <p:nvSpPr>
          <p:cNvPr id="3" name="Footer Placeholder 2"/>
          <p:cNvSpPr>
            <a:spLocks noGrp="1"/>
          </p:cNvSpPr>
          <p:nvPr>
            <p:ph type="ftr" sz="quarter" idx="11"/>
          </p:nvPr>
        </p:nvSpPr>
        <p:spPr/>
        <p:txBody>
          <a:bodyPr/>
          <a:lstStyle/>
          <a:p>
            <a:r>
              <a:rPr lang="en-IN"/>
              <a:t>Prepared by Aswathy K.R ,Asst. Professor,Dept.of CSE, CE Munnar</a:t>
            </a:r>
            <a:endParaRPr lang="en-IN" dirty="0"/>
          </a:p>
        </p:txBody>
      </p:sp>
      <p:sp>
        <p:nvSpPr>
          <p:cNvPr id="4" name="Slide Number Placeholder 3"/>
          <p:cNvSpPr>
            <a:spLocks noGrp="1"/>
          </p:cNvSpPr>
          <p:nvPr>
            <p:ph type="sldNum" sz="quarter" idx="12"/>
          </p:nvPr>
        </p:nvSpPr>
        <p:spPr/>
        <p:txBody>
          <a:bodyPr/>
          <a:lstStyle/>
          <a:p>
            <a:fld id="{EE5D3B95-1082-4AA7-8107-87B8F4991B16}" type="slidenum">
              <a:rPr lang="en-IN" smtClean="0"/>
              <a:pPr/>
              <a:t>‹#›</a:t>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A4EED70-04E1-44C8-A78A-04D2268C679D}" type="datetime1">
              <a:rPr lang="en-IN" smtClean="0"/>
              <a:t>09-06-2021</a:t>
            </a:fld>
            <a:endParaRPr lang="en-IN" dirty="0"/>
          </a:p>
        </p:txBody>
      </p:sp>
      <p:sp>
        <p:nvSpPr>
          <p:cNvPr id="6" name="Footer Placeholder 5"/>
          <p:cNvSpPr>
            <a:spLocks noGrp="1"/>
          </p:cNvSpPr>
          <p:nvPr>
            <p:ph type="ftr" sz="quarter" idx="11"/>
          </p:nvPr>
        </p:nvSpPr>
        <p:spPr/>
        <p:txBody>
          <a:bodyPr/>
          <a:lstStyle/>
          <a:p>
            <a:r>
              <a:rPr lang="en-IN"/>
              <a:t>Prepared by Aswathy K.R ,Asst. Professor,Dept.of CSE, CE Munnar</a:t>
            </a:r>
            <a:endParaRPr lang="en-IN" dirty="0"/>
          </a:p>
        </p:txBody>
      </p:sp>
      <p:sp>
        <p:nvSpPr>
          <p:cNvPr id="7" name="Slide Number Placeholder 6"/>
          <p:cNvSpPr>
            <a:spLocks noGrp="1"/>
          </p:cNvSpPr>
          <p:nvPr>
            <p:ph type="sldNum" sz="quarter" idx="12"/>
          </p:nvPr>
        </p:nvSpPr>
        <p:spPr/>
        <p:txBody>
          <a:bodyPr/>
          <a:lstStyle/>
          <a:p>
            <a:fld id="{EE5D3B95-1082-4AA7-8107-87B8F4991B16}" type="slidenum">
              <a:rPr lang="en-IN" smtClean="0"/>
              <a:pPr/>
              <a:t>‹#›</a:t>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506756E0-DAB7-446C-B0F8-C1813D33BBD9}" type="datetime1">
              <a:rPr lang="en-IN" smtClean="0"/>
              <a:t>09-06-2021</a:t>
            </a:fld>
            <a:endParaRPr lang="en-IN" dirty="0"/>
          </a:p>
        </p:txBody>
      </p:sp>
      <p:sp>
        <p:nvSpPr>
          <p:cNvPr id="6" name="Footer Placeholder 5"/>
          <p:cNvSpPr>
            <a:spLocks noGrp="1"/>
          </p:cNvSpPr>
          <p:nvPr>
            <p:ph type="ftr" sz="quarter" idx="11"/>
          </p:nvPr>
        </p:nvSpPr>
        <p:spPr/>
        <p:txBody>
          <a:bodyPr/>
          <a:lstStyle/>
          <a:p>
            <a:r>
              <a:rPr lang="en-IN"/>
              <a:t>Prepared by Aswathy K.R ,Asst. Professor,Dept.of CSE, CE Munnar</a:t>
            </a:r>
            <a:endParaRPr lang="en-IN" dirty="0"/>
          </a:p>
        </p:txBody>
      </p:sp>
      <p:sp>
        <p:nvSpPr>
          <p:cNvPr id="7" name="Slide Number Placeholder 6"/>
          <p:cNvSpPr>
            <a:spLocks noGrp="1"/>
          </p:cNvSpPr>
          <p:nvPr>
            <p:ph type="sldNum" sz="quarter" idx="12"/>
          </p:nvPr>
        </p:nvSpPr>
        <p:spPr>
          <a:xfrm>
            <a:off x="8077200" y="6356350"/>
            <a:ext cx="609600" cy="365125"/>
          </a:xfrm>
        </p:spPr>
        <p:txBody>
          <a:bodyPr/>
          <a:lstStyle/>
          <a:p>
            <a:fld id="{EE5D3B95-1082-4AA7-8107-87B8F4991B16}" type="slidenum">
              <a:rPr lang="en-IN" smtClean="0"/>
              <a:pPr/>
              <a:t>‹#›</a:t>
            </a:fld>
            <a:endParaRPr lang="en-IN" dirty="0"/>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dirty="0"/>
              <a:t>Click icon to add picture</a:t>
            </a:r>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152F13A-D471-4637-AA86-6DB5A2F55992}" type="datetime1">
              <a:rPr lang="en-IN" smtClean="0"/>
              <a:t>09-06-2021</a:t>
            </a:fld>
            <a:endParaRPr lang="en-IN" dirty="0"/>
          </a:p>
        </p:txBody>
      </p:sp>
      <p:sp>
        <p:nvSpPr>
          <p:cNvPr id="5" name="Footer Placeholder 4"/>
          <p:cNvSpPr>
            <a:spLocks noGrp="1"/>
          </p:cNvSpPr>
          <p:nvPr>
            <p:ph type="ftr" sz="quarter" idx="11"/>
          </p:nvPr>
        </p:nvSpPr>
        <p:spPr/>
        <p:txBody>
          <a:bodyPr/>
          <a:lstStyle/>
          <a:p>
            <a:r>
              <a:rPr lang="en-IN"/>
              <a:t>Prepared by Aswathy K.R ,Asst. Professor,Dept.of CSE, CE Munnar</a:t>
            </a:r>
            <a:endParaRPr lang="en-IN" dirty="0"/>
          </a:p>
        </p:txBody>
      </p:sp>
      <p:sp>
        <p:nvSpPr>
          <p:cNvPr id="6" name="Slide Number Placeholder 5"/>
          <p:cNvSpPr>
            <a:spLocks noGrp="1"/>
          </p:cNvSpPr>
          <p:nvPr>
            <p:ph type="sldNum" sz="quarter" idx="12"/>
          </p:nvPr>
        </p:nvSpPr>
        <p:spPr/>
        <p:txBody>
          <a:bodyPr/>
          <a:lstStyle/>
          <a:p>
            <a:fld id="{EE5D3B95-1082-4AA7-8107-87B8F4991B16}" type="slidenum">
              <a:rPr lang="en-IN" smtClean="0"/>
              <a:pPr/>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8993E47-5E98-410E-B292-DD4945E825A3}" type="datetime1">
              <a:rPr lang="en-IN" smtClean="0"/>
              <a:t>09-06-2021</a:t>
            </a:fld>
            <a:endParaRPr lang="en-IN" dirty="0"/>
          </a:p>
        </p:txBody>
      </p:sp>
      <p:sp>
        <p:nvSpPr>
          <p:cNvPr id="5" name="Footer Placeholder 4"/>
          <p:cNvSpPr>
            <a:spLocks noGrp="1"/>
          </p:cNvSpPr>
          <p:nvPr>
            <p:ph type="ftr" sz="quarter" idx="11"/>
          </p:nvPr>
        </p:nvSpPr>
        <p:spPr/>
        <p:txBody>
          <a:bodyPr/>
          <a:lstStyle/>
          <a:p>
            <a:r>
              <a:rPr lang="en-IN"/>
              <a:t>Prepared by Aswathy K.R ,Asst. Professor,Dept.of CSE, CE Munnar</a:t>
            </a:r>
            <a:endParaRPr lang="en-IN" dirty="0"/>
          </a:p>
        </p:txBody>
      </p:sp>
      <p:sp>
        <p:nvSpPr>
          <p:cNvPr id="6" name="Slide Number Placeholder 5"/>
          <p:cNvSpPr>
            <a:spLocks noGrp="1"/>
          </p:cNvSpPr>
          <p:nvPr>
            <p:ph type="sldNum" sz="quarter" idx="12"/>
          </p:nvPr>
        </p:nvSpPr>
        <p:spPr/>
        <p:txBody>
          <a:bodyPr/>
          <a:lstStyle/>
          <a:p>
            <a:fld id="{EE5D3B95-1082-4AA7-8107-87B8F4991B16}" type="slidenum">
              <a:rPr lang="en-IN" smtClean="0"/>
              <a:pPr/>
              <a:t>‹#›</a:t>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E7AA929-DE33-43C0-9690-9606321955D4}" type="datetime1">
              <a:rPr lang="en-IN" smtClean="0"/>
              <a:t>09-06-2021</a:t>
            </a:fld>
            <a:endParaRPr lang="en-IN" dirty="0"/>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r>
              <a:rPr lang="en-IN"/>
              <a:t>Prepared by Aswathy K.R ,Asst. Professor,Dept.of CSE, CE Munnar</a:t>
            </a:r>
            <a:endParaRPr lang="en-IN" dirty="0"/>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EE5D3B95-1082-4AA7-8107-87B8F4991B16}" type="slidenum">
              <a:rPr lang="en-IN" smtClean="0"/>
              <a:pPr/>
              <a:t>‹#›</a:t>
            </a:fld>
            <a:endParaRPr lang="en-IN" dirty="0"/>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CPU SCHEDULING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CPU SCHEDULING</a:t>
            </a:r>
          </a:p>
        </p:txBody>
      </p:sp>
      <p:sp>
        <p:nvSpPr>
          <p:cNvPr id="3" name="Content Placeholder 2"/>
          <p:cNvSpPr>
            <a:spLocks noGrp="1"/>
          </p:cNvSpPr>
          <p:nvPr>
            <p:ph idx="1"/>
          </p:nvPr>
        </p:nvSpPr>
        <p:spPr>
          <a:xfrm>
            <a:off x="251520" y="1340768"/>
            <a:ext cx="8640960" cy="5256584"/>
          </a:xfrm>
        </p:spPr>
        <p:txBody>
          <a:bodyPr>
            <a:normAutofit/>
          </a:bodyPr>
          <a:lstStyle/>
          <a:p>
            <a:pPr algn="just"/>
            <a:r>
              <a:rPr lang="en-IN" dirty="0"/>
              <a:t> When a computer is multiprogrammed, it frequently has  multiple processes competing for the CPU at the same time. This situation occurs whenever two or more of them are simultaneously in the ready state. </a:t>
            </a:r>
          </a:p>
          <a:p>
            <a:pPr algn="just"/>
            <a:r>
              <a:rPr lang="en-IN" dirty="0"/>
              <a:t>If only one CPU is available, a choice has to be made which process to run next.</a:t>
            </a:r>
          </a:p>
          <a:p>
            <a:pPr algn="just"/>
            <a:r>
              <a:rPr lang="en-IN" dirty="0"/>
              <a:t> The part of the operating system that makes the choice is called the scheduler, and the algorithm it uses is called the scheduling algorithm.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CPU SCHEDULING</a:t>
            </a:r>
          </a:p>
        </p:txBody>
      </p:sp>
      <p:sp>
        <p:nvSpPr>
          <p:cNvPr id="3" name="Content Placeholder 2"/>
          <p:cNvSpPr>
            <a:spLocks noGrp="1"/>
          </p:cNvSpPr>
          <p:nvPr>
            <p:ph idx="1"/>
          </p:nvPr>
        </p:nvSpPr>
        <p:spPr/>
        <p:txBody>
          <a:bodyPr>
            <a:normAutofit/>
          </a:bodyPr>
          <a:lstStyle/>
          <a:p>
            <a:pPr algn="just">
              <a:buNone/>
            </a:pPr>
            <a:r>
              <a:rPr lang="en-IN" b="1" dirty="0"/>
              <a:t>CPU-I/O Burst Cycle</a:t>
            </a:r>
          </a:p>
          <a:p>
            <a:pPr algn="just"/>
            <a:r>
              <a:rPr lang="en-IN" dirty="0"/>
              <a:t>The success of CPU scheduling depends on an observed property of processes:</a:t>
            </a:r>
          </a:p>
          <a:p>
            <a:pPr algn="just"/>
            <a:r>
              <a:rPr lang="en-IN" dirty="0"/>
              <a:t>Process execution consists of a </a:t>
            </a:r>
            <a:r>
              <a:rPr lang="en-IN" b="1" dirty="0"/>
              <a:t>cycle of CPU execution and I/O wait. </a:t>
            </a:r>
          </a:p>
          <a:p>
            <a:pPr algn="just"/>
            <a:r>
              <a:rPr lang="en-IN" b="1" dirty="0"/>
              <a:t>Processes </a:t>
            </a:r>
            <a:r>
              <a:rPr lang="en-IN" dirty="0"/>
              <a:t>alternate between these two states. </a:t>
            </a:r>
          </a:p>
          <a:p>
            <a:pPr algn="just"/>
            <a:r>
              <a:rPr lang="en-IN" dirty="0"/>
              <a:t>Process execution begins with a CPU </a:t>
            </a:r>
            <a:r>
              <a:rPr lang="en-IN" b="1" dirty="0"/>
              <a:t>burst. </a:t>
            </a:r>
            <a:r>
              <a:rPr lang="en-IN" dirty="0"/>
              <a:t>That is followed by an </a:t>
            </a:r>
            <a:r>
              <a:rPr lang="en-IN" b="1" dirty="0"/>
              <a:t>I/O burst, which is followed by another CPU burst, then </a:t>
            </a:r>
            <a:r>
              <a:rPr lang="en-IN" dirty="0"/>
              <a:t>another I/O burst, and so on. </a:t>
            </a:r>
          </a:p>
          <a:p>
            <a:pPr algn="just"/>
            <a:r>
              <a:rPr lang="en-IN" dirty="0"/>
              <a:t>Eventually, the final CPU burst ends with a system request to terminate execution.</a:t>
            </a:r>
            <a:endParaRPr lang="en-IN"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CPU SCHEDULING...</a:t>
            </a:r>
            <a:endParaRPr lang="en-IN" b="0" dirty="0"/>
          </a:p>
        </p:txBody>
      </p:sp>
      <p:sp>
        <p:nvSpPr>
          <p:cNvPr id="3" name="Content Placeholder 2"/>
          <p:cNvSpPr>
            <a:spLocks noGrp="1"/>
          </p:cNvSpPr>
          <p:nvPr>
            <p:ph idx="1"/>
          </p:nvPr>
        </p:nvSpPr>
        <p:spPr/>
        <p:txBody>
          <a:bodyPr/>
          <a:lstStyle/>
          <a:p>
            <a:endParaRPr lang="en-IN" dirty="0"/>
          </a:p>
        </p:txBody>
      </p:sp>
      <p:pic>
        <p:nvPicPr>
          <p:cNvPr id="1028" name="Picture 4"/>
          <p:cNvPicPr>
            <a:picLocks noChangeAspect="1" noChangeArrowheads="1"/>
          </p:cNvPicPr>
          <p:nvPr/>
        </p:nvPicPr>
        <p:blipFill>
          <a:blip r:embed="rId2" cstate="print"/>
          <a:srcRect/>
          <a:stretch>
            <a:fillRect/>
          </a:stretch>
        </p:blipFill>
        <p:spPr bwMode="auto">
          <a:xfrm>
            <a:off x="827584" y="1772816"/>
            <a:ext cx="5688632" cy="4744591"/>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CPU SCHEDULING....</a:t>
            </a:r>
          </a:p>
        </p:txBody>
      </p:sp>
      <p:sp>
        <p:nvSpPr>
          <p:cNvPr id="3" name="Content Placeholder 2"/>
          <p:cNvSpPr>
            <a:spLocks noGrp="1"/>
          </p:cNvSpPr>
          <p:nvPr>
            <p:ph idx="1"/>
          </p:nvPr>
        </p:nvSpPr>
        <p:spPr/>
        <p:txBody>
          <a:bodyPr/>
          <a:lstStyle/>
          <a:p>
            <a:pPr algn="just"/>
            <a:r>
              <a:rPr lang="en-IN" dirty="0"/>
              <a:t>A process is executed until it must wait, typically for the completion of some I/O request. </a:t>
            </a:r>
          </a:p>
          <a:p>
            <a:pPr algn="just"/>
            <a:r>
              <a:rPr lang="en-IN" dirty="0"/>
              <a:t>In a simple computer system, the CPU then just sits idle. All this waiting time is wasted; no useful work is accomplished.</a:t>
            </a:r>
          </a:p>
          <a:p>
            <a:pPr algn="just"/>
            <a:r>
              <a:rPr lang="en-IN" dirty="0"/>
              <a:t>Multiprogramming, use this time productively. Several processes are kept in memory at one time.</a:t>
            </a:r>
          </a:p>
          <a:p>
            <a:pPr algn="just"/>
            <a:r>
              <a:rPr lang="en-IN" dirty="0"/>
              <a:t> When one process has to wait, the operating system takes the CPU away from that process and gives the CPU to another process. This pattern continues. </a:t>
            </a:r>
          </a:p>
          <a:p>
            <a:pPr algn="just"/>
            <a:r>
              <a:rPr lang="en-IN" dirty="0"/>
              <a:t>Every time one process has to wait, another process can take over use of the CPU.</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CPU SCHEDULING</a:t>
            </a:r>
          </a:p>
        </p:txBody>
      </p:sp>
      <p:sp>
        <p:nvSpPr>
          <p:cNvPr id="3" name="Content Placeholder 2"/>
          <p:cNvSpPr>
            <a:spLocks noGrp="1"/>
          </p:cNvSpPr>
          <p:nvPr>
            <p:ph idx="1"/>
          </p:nvPr>
        </p:nvSpPr>
        <p:spPr/>
        <p:txBody>
          <a:bodyPr/>
          <a:lstStyle/>
          <a:p>
            <a:pPr>
              <a:buNone/>
            </a:pPr>
            <a:r>
              <a:rPr lang="en-IN" b="1" dirty="0"/>
              <a:t>CPU Scheduler</a:t>
            </a:r>
          </a:p>
          <a:p>
            <a:r>
              <a:rPr lang="en-IN" dirty="0"/>
              <a:t>Whenever the CPU becomes idle, the operating system must select one of the processes in the ready queue to be executed.</a:t>
            </a:r>
          </a:p>
          <a:p>
            <a:r>
              <a:rPr lang="en-IN" dirty="0"/>
              <a:t>The selection process is carried out by the </a:t>
            </a:r>
            <a:r>
              <a:rPr lang="en-IN" b="1" dirty="0"/>
              <a:t>short-term scheduler (or CPU scheduler). </a:t>
            </a:r>
          </a:p>
          <a:p>
            <a:r>
              <a:rPr lang="en-IN" dirty="0"/>
              <a:t>The scheduler selects a</a:t>
            </a:r>
            <a:r>
              <a:rPr lang="en-IN" b="1" dirty="0"/>
              <a:t> </a:t>
            </a:r>
            <a:r>
              <a:rPr lang="en-IN" dirty="0"/>
              <a:t>process from the processes in memory that are ready to execute and allocates the CPU to that process.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CPU SCHEDULING</a:t>
            </a:r>
          </a:p>
        </p:txBody>
      </p:sp>
      <p:sp>
        <p:nvSpPr>
          <p:cNvPr id="3" name="Content Placeholder 2"/>
          <p:cNvSpPr>
            <a:spLocks noGrp="1"/>
          </p:cNvSpPr>
          <p:nvPr>
            <p:ph idx="1"/>
          </p:nvPr>
        </p:nvSpPr>
        <p:spPr>
          <a:xfrm>
            <a:off x="323528" y="1340768"/>
            <a:ext cx="8640960" cy="5256584"/>
          </a:xfrm>
        </p:spPr>
        <p:txBody>
          <a:bodyPr/>
          <a:lstStyle/>
          <a:p>
            <a:pPr>
              <a:buNone/>
            </a:pPr>
            <a:r>
              <a:rPr lang="en-IN" dirty="0"/>
              <a:t>CPU-scheduling decisions may take place under the following four circumstances:</a:t>
            </a:r>
          </a:p>
          <a:p>
            <a:pPr marL="457200" indent="-457200">
              <a:buFont typeface="+mj-lt"/>
              <a:buAutoNum type="arabicPeriod"/>
            </a:pPr>
            <a:r>
              <a:rPr lang="en-IN" dirty="0"/>
              <a:t>When a process switches from the running state to the waiting state (for example, as the result of an I/O request or an invocation of wait for the termination of one of the child processes)</a:t>
            </a:r>
          </a:p>
          <a:p>
            <a:pPr marL="457200" indent="-457200">
              <a:buFont typeface="+mj-lt"/>
              <a:buAutoNum type="arabicPeriod"/>
            </a:pPr>
            <a:r>
              <a:rPr lang="en-IN" dirty="0"/>
              <a:t>When a process switches from the running state to the ready state </a:t>
            </a:r>
            <a:r>
              <a:rPr lang="en-IN" i="1" dirty="0"/>
              <a:t>(for </a:t>
            </a:r>
            <a:r>
              <a:rPr lang="en-IN" dirty="0"/>
              <a:t>example, when an interrupt occurs).</a:t>
            </a:r>
          </a:p>
          <a:p>
            <a:pPr marL="457200" indent="-457200">
              <a:buFont typeface="+mj-lt"/>
              <a:buAutoNum type="arabicPeriod"/>
            </a:pPr>
            <a:r>
              <a:rPr lang="en-IN" dirty="0"/>
              <a:t> When a process switches from the waiting state to the ready state (for example, at completion of I/O).</a:t>
            </a:r>
          </a:p>
          <a:p>
            <a:pPr marL="457200" indent="-457200">
              <a:buFont typeface="+mj-lt"/>
              <a:buAutoNum type="arabicPeriod"/>
            </a:pPr>
            <a:r>
              <a:rPr lang="en-IN" dirty="0"/>
              <a:t> When a process terminates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CPU SCHEDULING</a:t>
            </a:r>
          </a:p>
        </p:txBody>
      </p:sp>
      <p:sp>
        <p:nvSpPr>
          <p:cNvPr id="3" name="Content Placeholder 2"/>
          <p:cNvSpPr>
            <a:spLocks noGrp="1"/>
          </p:cNvSpPr>
          <p:nvPr>
            <p:ph idx="1"/>
          </p:nvPr>
        </p:nvSpPr>
        <p:spPr>
          <a:xfrm>
            <a:off x="457200" y="1052736"/>
            <a:ext cx="8229600" cy="5544616"/>
          </a:xfrm>
        </p:spPr>
        <p:txBody>
          <a:bodyPr>
            <a:normAutofit lnSpcReduction="10000"/>
          </a:bodyPr>
          <a:lstStyle/>
          <a:p>
            <a:pPr algn="just">
              <a:buNone/>
            </a:pPr>
            <a:r>
              <a:rPr lang="en-IN" b="1" dirty="0" err="1"/>
              <a:t>Preemptive</a:t>
            </a:r>
            <a:r>
              <a:rPr lang="en-IN" b="1" dirty="0"/>
              <a:t> Scheduling</a:t>
            </a:r>
          </a:p>
          <a:p>
            <a:pPr algn="just"/>
            <a:r>
              <a:rPr lang="en-IN" dirty="0"/>
              <a:t>A scheduling discipline is pre-emptive if, once a process has been given the CPU ,the CPU can taken away from that process.</a:t>
            </a:r>
          </a:p>
          <a:p>
            <a:pPr algn="just"/>
            <a:r>
              <a:rPr lang="en-IN" dirty="0"/>
              <a:t>The scheduling which takes place when a process switches from running state to ready state or from waiting state to ready state is called </a:t>
            </a:r>
            <a:r>
              <a:rPr lang="en-IN" dirty="0" err="1"/>
              <a:t>Preemptive</a:t>
            </a:r>
            <a:r>
              <a:rPr lang="en-IN" dirty="0"/>
              <a:t> Scheduling. </a:t>
            </a:r>
          </a:p>
          <a:p>
            <a:pPr algn="just">
              <a:buNone/>
            </a:pPr>
            <a:r>
              <a:rPr lang="en-IN" b="1" dirty="0"/>
              <a:t>Non Pre-emptive Scheduling</a:t>
            </a:r>
          </a:p>
          <a:p>
            <a:pPr algn="just"/>
            <a:r>
              <a:rPr lang="en-IN" dirty="0"/>
              <a:t>A scheduling discipline is non pre-emptive if, once a process has been given the CPU, the CPU cannot be taken away from that process. </a:t>
            </a:r>
          </a:p>
          <a:p>
            <a:pPr algn="just"/>
            <a:r>
              <a:rPr lang="en-IN" b="1" dirty="0"/>
              <a:t>Under non-</a:t>
            </a:r>
            <a:r>
              <a:rPr lang="en-IN" b="1" dirty="0" err="1"/>
              <a:t>preemptive</a:t>
            </a:r>
            <a:r>
              <a:rPr lang="en-IN" b="1" dirty="0"/>
              <a:t> scheduling, once the CPU has been </a:t>
            </a:r>
            <a:r>
              <a:rPr lang="en-IN" dirty="0"/>
              <a:t>allocated to a process, the process keeps the CPU until it releases the CPU either by terminating or by switching to the waiting state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CPU SCHEDULING</a:t>
            </a:r>
          </a:p>
        </p:txBody>
      </p:sp>
      <p:sp>
        <p:nvSpPr>
          <p:cNvPr id="3" name="Content Placeholder 2"/>
          <p:cNvSpPr>
            <a:spLocks noGrp="1"/>
          </p:cNvSpPr>
          <p:nvPr>
            <p:ph idx="1"/>
          </p:nvPr>
        </p:nvSpPr>
        <p:spPr/>
        <p:txBody>
          <a:bodyPr/>
          <a:lstStyle/>
          <a:p>
            <a:pPr>
              <a:buNone/>
            </a:pPr>
            <a:r>
              <a:rPr lang="en-IN" b="1" dirty="0"/>
              <a:t>Dispatcher </a:t>
            </a:r>
          </a:p>
          <a:p>
            <a:r>
              <a:rPr lang="en-IN" dirty="0"/>
              <a:t>Dispatcher is the module that gives control of the CPU to the process selected by the CPU scheduler.</a:t>
            </a:r>
          </a:p>
          <a:p>
            <a:r>
              <a:rPr lang="en-IN" dirty="0"/>
              <a:t> This function involves the following:</a:t>
            </a:r>
          </a:p>
          <a:p>
            <a:r>
              <a:rPr lang="en-IN" dirty="0"/>
              <a:t>• Switching context</a:t>
            </a:r>
          </a:p>
          <a:p>
            <a:r>
              <a:rPr lang="en-IN" dirty="0"/>
              <a:t>• Switching to user mode</a:t>
            </a:r>
          </a:p>
          <a:p>
            <a:r>
              <a:rPr lang="en-IN" dirty="0"/>
              <a:t>• Jumping to the proper location in the user program to restart that program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CPU SCHEDULING</a:t>
            </a:r>
          </a:p>
        </p:txBody>
      </p:sp>
      <p:sp>
        <p:nvSpPr>
          <p:cNvPr id="3" name="Content Placeholder 2"/>
          <p:cNvSpPr>
            <a:spLocks noGrp="1"/>
          </p:cNvSpPr>
          <p:nvPr>
            <p:ph idx="1"/>
          </p:nvPr>
        </p:nvSpPr>
        <p:spPr>
          <a:xfrm>
            <a:off x="457200" y="1124744"/>
            <a:ext cx="8229600" cy="5472608"/>
          </a:xfrm>
        </p:spPr>
        <p:txBody>
          <a:bodyPr>
            <a:normAutofit fontScale="92500"/>
          </a:bodyPr>
          <a:lstStyle/>
          <a:p>
            <a:pPr algn="just">
              <a:buNone/>
            </a:pPr>
            <a:r>
              <a:rPr lang="en-IN" b="1" dirty="0"/>
              <a:t>Scheduling Criteria</a:t>
            </a:r>
          </a:p>
          <a:p>
            <a:pPr algn="just"/>
            <a:r>
              <a:rPr lang="en-IN" dirty="0"/>
              <a:t>Many criteria have been suggested for comparing CPU scheduling algorithms. The criteria include the following:</a:t>
            </a:r>
          </a:p>
          <a:p>
            <a:pPr algn="just">
              <a:buNone/>
            </a:pPr>
            <a:r>
              <a:rPr lang="en-IN" b="1" dirty="0"/>
              <a:t>CPU utilization: </a:t>
            </a:r>
            <a:r>
              <a:rPr lang="en-IN" dirty="0"/>
              <a:t>We want to keep the CPU as busy as possible. Conceptually, CPU utilization can range from 0 to 100 percent. In a real system, it should range from 40 percent (for a lightly loaded system) to 90 percent (for a heavily used system).</a:t>
            </a:r>
          </a:p>
          <a:p>
            <a:pPr algn="just">
              <a:buNone/>
            </a:pPr>
            <a:r>
              <a:rPr lang="en-IN" dirty="0"/>
              <a:t> </a:t>
            </a:r>
            <a:r>
              <a:rPr lang="en-IN" b="1" dirty="0"/>
              <a:t>Throughput: </a:t>
            </a:r>
            <a:r>
              <a:rPr lang="en-IN" dirty="0"/>
              <a:t>Number of processes that are completed per time unit, called </a:t>
            </a:r>
            <a:r>
              <a:rPr lang="en-IN" i="1" dirty="0"/>
              <a:t>throughput. For long processes, this rate may be one </a:t>
            </a:r>
            <a:r>
              <a:rPr lang="en-IN" dirty="0"/>
              <a:t>process per hour; for short transactions, it may be 10 processes per second.</a:t>
            </a:r>
          </a:p>
          <a:p>
            <a:pPr algn="just">
              <a:buNone/>
            </a:pPr>
            <a:r>
              <a:rPr lang="en-IN" b="1" dirty="0"/>
              <a:t>Turnaround time:</a:t>
            </a:r>
            <a:r>
              <a:rPr lang="en-IN" dirty="0"/>
              <a:t> The interval from the time of submission of a process to the time of completion is the </a:t>
            </a:r>
            <a:r>
              <a:rPr lang="en-IN" i="1" dirty="0"/>
              <a:t>turnaround time. Turnaround time is the sum of the periods spent waiting </a:t>
            </a:r>
            <a:r>
              <a:rPr lang="en-IN" dirty="0"/>
              <a:t>to get into memory, waiting in the ready queue, executing on the CPU, and  doing I/O.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CPU SCHEDULING</a:t>
            </a:r>
          </a:p>
        </p:txBody>
      </p:sp>
      <p:sp>
        <p:nvSpPr>
          <p:cNvPr id="3" name="Content Placeholder 2"/>
          <p:cNvSpPr>
            <a:spLocks noGrp="1"/>
          </p:cNvSpPr>
          <p:nvPr>
            <p:ph idx="1"/>
          </p:nvPr>
        </p:nvSpPr>
        <p:spPr/>
        <p:txBody>
          <a:bodyPr>
            <a:normAutofit/>
          </a:bodyPr>
          <a:lstStyle/>
          <a:p>
            <a:pPr algn="just">
              <a:buNone/>
            </a:pPr>
            <a:r>
              <a:rPr lang="en-IN" dirty="0"/>
              <a:t> </a:t>
            </a:r>
            <a:r>
              <a:rPr lang="en-IN" b="1" dirty="0"/>
              <a:t>Waiting time: </a:t>
            </a:r>
            <a:r>
              <a:rPr lang="en-IN" dirty="0"/>
              <a:t>Waiting time is the sum of the periods spent waiting in the ready queue</a:t>
            </a:r>
            <a:r>
              <a:rPr lang="en-IN" i="1" dirty="0"/>
              <a:t>.</a:t>
            </a:r>
          </a:p>
          <a:p>
            <a:pPr algn="just"/>
            <a:r>
              <a:rPr lang="en-IN" b="1" dirty="0"/>
              <a:t>Response time:  </a:t>
            </a:r>
            <a:r>
              <a:rPr lang="en-IN" dirty="0"/>
              <a:t>Time from the submission of a request until the first response is produced. This measure, called </a:t>
            </a:r>
            <a:r>
              <a:rPr lang="en-IN" i="1" dirty="0"/>
              <a:t>response time, is the time it takes to start responding.</a:t>
            </a:r>
          </a:p>
          <a:p>
            <a:pPr algn="just"/>
            <a:endParaRPr lang="en-IN" i="1" dirty="0"/>
          </a:p>
          <a:p>
            <a:pPr algn="just">
              <a:buNone/>
            </a:pPr>
            <a:endParaRPr lang="en-IN" i="1" dirty="0"/>
          </a:p>
          <a:p>
            <a:r>
              <a:rPr lang="en-IN" dirty="0"/>
              <a:t>It is desirable </a:t>
            </a:r>
            <a:r>
              <a:rPr lang="en-IN" b="1" dirty="0"/>
              <a:t>to maximize CPU utilization and throughput </a:t>
            </a:r>
            <a:r>
              <a:rPr lang="en-IN" dirty="0"/>
              <a:t>and to </a:t>
            </a:r>
            <a:r>
              <a:rPr lang="en-IN" b="1" dirty="0"/>
              <a:t>minimize turnaround time, waiting time, and response time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CPU SCHEDULING</a:t>
            </a:r>
          </a:p>
        </p:txBody>
      </p:sp>
      <p:sp>
        <p:nvSpPr>
          <p:cNvPr id="3" name="Content Placeholder 2"/>
          <p:cNvSpPr>
            <a:spLocks noGrp="1"/>
          </p:cNvSpPr>
          <p:nvPr>
            <p:ph idx="1"/>
          </p:nvPr>
        </p:nvSpPr>
        <p:spPr/>
        <p:txBody>
          <a:bodyPr/>
          <a:lstStyle/>
          <a:p>
            <a:pPr>
              <a:buNone/>
            </a:pPr>
            <a:r>
              <a:rPr lang="en-IN" dirty="0"/>
              <a:t>Arrival Time-AT</a:t>
            </a:r>
          </a:p>
          <a:p>
            <a:pPr>
              <a:buNone/>
            </a:pPr>
            <a:r>
              <a:rPr lang="en-IN" dirty="0"/>
              <a:t>Burst Time-BT</a:t>
            </a:r>
          </a:p>
          <a:p>
            <a:pPr>
              <a:buNone/>
            </a:pPr>
            <a:r>
              <a:rPr lang="en-IN" dirty="0"/>
              <a:t>Completion Time-CT</a:t>
            </a:r>
          </a:p>
          <a:p>
            <a:pPr>
              <a:buNone/>
            </a:pPr>
            <a:r>
              <a:rPr lang="en-IN" dirty="0"/>
              <a:t>Turnaround Time-TT</a:t>
            </a:r>
          </a:p>
          <a:p>
            <a:pPr>
              <a:buNone/>
            </a:pPr>
            <a:r>
              <a:rPr lang="en-IN" dirty="0"/>
              <a:t>Waiting Time-WT</a:t>
            </a:r>
          </a:p>
          <a:p>
            <a:pPr>
              <a:buNone/>
            </a:pPr>
            <a:r>
              <a:rPr lang="en-IN" b="1" dirty="0"/>
              <a:t>TT=CT-AT</a:t>
            </a:r>
          </a:p>
          <a:p>
            <a:pPr>
              <a:buNone/>
            </a:pPr>
            <a:r>
              <a:rPr lang="en-IN" b="1" dirty="0"/>
              <a:t>WT=TT-BT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Scheduling Algorithms</a:t>
            </a:r>
          </a:p>
        </p:txBody>
      </p:sp>
      <p:sp>
        <p:nvSpPr>
          <p:cNvPr id="3" name="Content Placeholder 2"/>
          <p:cNvSpPr>
            <a:spLocks noGrp="1"/>
          </p:cNvSpPr>
          <p:nvPr>
            <p:ph idx="1"/>
          </p:nvPr>
        </p:nvSpPr>
        <p:spPr/>
        <p:txBody>
          <a:bodyPr>
            <a:normAutofit lnSpcReduction="10000"/>
          </a:bodyPr>
          <a:lstStyle/>
          <a:p>
            <a:pPr>
              <a:buNone/>
            </a:pPr>
            <a:r>
              <a:rPr lang="en-IN" b="1" dirty="0"/>
              <a:t>First-Come, First-Served Scheduling</a:t>
            </a:r>
          </a:p>
          <a:p>
            <a:r>
              <a:rPr lang="en-IN" dirty="0"/>
              <a:t>Simplest CPU-scheduling algorithm is the </a:t>
            </a:r>
            <a:r>
              <a:rPr lang="en-IN" b="1" dirty="0"/>
              <a:t>first-come, first-served (FCFS) scheduling algorithm. </a:t>
            </a:r>
          </a:p>
          <a:p>
            <a:pPr algn="just"/>
            <a:r>
              <a:rPr lang="en-IN" dirty="0"/>
              <a:t>The process that requests the CPU first is allocated the CPU first. </a:t>
            </a:r>
          </a:p>
          <a:p>
            <a:pPr algn="just"/>
            <a:r>
              <a:rPr lang="en-IN" dirty="0"/>
              <a:t>The implementation of the FCFS policy is easily managed with a FIFO queue. </a:t>
            </a:r>
          </a:p>
          <a:p>
            <a:pPr algn="just"/>
            <a:r>
              <a:rPr lang="en-IN" dirty="0"/>
              <a:t>When a process enters the ready queue, its PCB is linked onto the tail of the queue. </a:t>
            </a:r>
          </a:p>
          <a:p>
            <a:pPr algn="just"/>
            <a:r>
              <a:rPr lang="en-IN" dirty="0"/>
              <a:t>When the CPU is free, it is allocated to the process at the head of the queue. </a:t>
            </a:r>
          </a:p>
          <a:p>
            <a:pPr algn="just"/>
            <a:r>
              <a:rPr lang="en-IN" dirty="0"/>
              <a:t>The running process is then removed from the queue. </a:t>
            </a:r>
          </a:p>
          <a:p>
            <a:pPr algn="just"/>
            <a:r>
              <a:rPr lang="en-IN" dirty="0"/>
              <a:t>The average waiting time under the FCFS policy, is often quite long.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First-Come, First-Served Scheduling</a:t>
            </a:r>
            <a:br>
              <a:rPr lang="en-IN" dirty="0"/>
            </a:br>
            <a:r>
              <a:rPr lang="en-IN" dirty="0"/>
              <a:t>contd...</a:t>
            </a:r>
          </a:p>
        </p:txBody>
      </p:sp>
      <p:sp>
        <p:nvSpPr>
          <p:cNvPr id="3" name="Content Placeholder 2"/>
          <p:cNvSpPr>
            <a:spLocks noGrp="1"/>
          </p:cNvSpPr>
          <p:nvPr>
            <p:ph idx="1"/>
          </p:nvPr>
        </p:nvSpPr>
        <p:spPr/>
        <p:txBody>
          <a:bodyPr/>
          <a:lstStyle/>
          <a:p>
            <a:pPr algn="just"/>
            <a:r>
              <a:rPr lang="en-IN" dirty="0"/>
              <a:t>The FCFS scheduling algorithm is non </a:t>
            </a:r>
            <a:r>
              <a:rPr lang="en-IN" dirty="0" err="1"/>
              <a:t>preemptive</a:t>
            </a:r>
            <a:r>
              <a:rPr lang="en-IN" dirty="0"/>
              <a:t>. Once the CPU has been allocated to a process, that process keeps the CPU until it releases the CPU, either by terminating or by requesting I/O. </a:t>
            </a:r>
          </a:p>
          <a:p>
            <a:pPr algn="just">
              <a:buNone/>
            </a:pPr>
            <a:endParaRPr lang="en-IN" dirty="0"/>
          </a:p>
          <a:p>
            <a:pPr algn="just"/>
            <a:r>
              <a:rPr lang="en-IN" dirty="0"/>
              <a:t>The FCFS algorithm troublesome for time-sharing systems, where it is important that each user get a share of the CPU at regular intervals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First-Come, First-Served Scheduling</a:t>
            </a:r>
            <a:br>
              <a:rPr lang="en-IN" dirty="0"/>
            </a:br>
            <a:r>
              <a:rPr lang="en-IN" dirty="0"/>
              <a:t>contd...</a:t>
            </a:r>
          </a:p>
        </p:txBody>
      </p:sp>
      <p:sp>
        <p:nvSpPr>
          <p:cNvPr id="3" name="Content Placeholder 2"/>
          <p:cNvSpPr>
            <a:spLocks noGrp="1"/>
          </p:cNvSpPr>
          <p:nvPr>
            <p:ph idx="1"/>
          </p:nvPr>
        </p:nvSpPr>
        <p:spPr/>
        <p:txBody>
          <a:bodyPr>
            <a:normAutofit fontScale="92500"/>
          </a:bodyPr>
          <a:lstStyle/>
          <a:p>
            <a:pPr algn="just">
              <a:buNone/>
            </a:pPr>
            <a:r>
              <a:rPr lang="en-IN" b="1" dirty="0"/>
              <a:t>Convoy effect</a:t>
            </a:r>
            <a:r>
              <a:rPr lang="en-IN" dirty="0"/>
              <a:t>:</a:t>
            </a:r>
          </a:p>
          <a:p>
            <a:pPr algn="just"/>
            <a:r>
              <a:rPr lang="en-IN" dirty="0"/>
              <a:t>In a multiprogramming environment, if multiple processes are waiting for the CPU time for execution in “first come first serve” method and a slow process is utilizing the CPU keeping the fast process on wait. It will lead to the convoy effect. </a:t>
            </a:r>
          </a:p>
          <a:p>
            <a:pPr algn="just"/>
            <a:r>
              <a:rPr lang="en-IN" dirty="0"/>
              <a:t>Consider 100 I/O bound processes and 1 CPU bound job in system.</a:t>
            </a:r>
          </a:p>
          <a:p>
            <a:pPr algn="just"/>
            <a:r>
              <a:rPr lang="en-IN" dirty="0"/>
              <a:t>These I/O bound processes will quickly pass through the ready queue and suspend themselves (will wait for I/O).</a:t>
            </a:r>
          </a:p>
          <a:p>
            <a:pPr algn="just"/>
            <a:r>
              <a:rPr lang="en-IN" dirty="0"/>
              <a:t>Now the CPU-bound process (slow) will get and hold the CPU.</a:t>
            </a:r>
          </a:p>
          <a:p>
            <a:pPr algn="just"/>
            <a:r>
              <a:rPr lang="en-IN" dirty="0"/>
              <a:t>During this time, all the other I/O bound processes will finish their I/0 and will move into the ready queue, waiting for the CPU.</a:t>
            </a:r>
          </a:p>
          <a:p>
            <a:pPr algn="just"/>
            <a:r>
              <a:rPr lang="en-IN" dirty="0"/>
              <a:t>While the I/O bound processes wait in the ready queue, the I/O devices are idle.</a:t>
            </a:r>
          </a:p>
          <a:p>
            <a:pPr algn="just"/>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First-Come, First-Served Scheduling</a:t>
            </a:r>
            <a:br>
              <a:rPr lang="en-IN" dirty="0"/>
            </a:br>
            <a:r>
              <a:rPr lang="en-IN" dirty="0"/>
              <a:t>contd...</a:t>
            </a:r>
          </a:p>
        </p:txBody>
      </p:sp>
      <p:sp>
        <p:nvSpPr>
          <p:cNvPr id="3" name="Content Placeholder 2"/>
          <p:cNvSpPr>
            <a:spLocks noGrp="1"/>
          </p:cNvSpPr>
          <p:nvPr>
            <p:ph idx="1"/>
          </p:nvPr>
        </p:nvSpPr>
        <p:spPr/>
        <p:txBody>
          <a:bodyPr>
            <a:normAutofit lnSpcReduction="10000"/>
          </a:bodyPr>
          <a:lstStyle/>
          <a:p>
            <a:pPr algn="just"/>
            <a:r>
              <a:rPr lang="en-IN" dirty="0"/>
              <a:t>Eventually, the CPU-bound process finishes its CPU burst and moves to an I/0 device.</a:t>
            </a:r>
          </a:p>
          <a:p>
            <a:pPr algn="just"/>
            <a:r>
              <a:rPr lang="en-IN" dirty="0"/>
              <a:t>All the I/O-bound processes, which have short CPU bursts, execute quickly and move back to the I/0 queues.</a:t>
            </a:r>
          </a:p>
          <a:p>
            <a:pPr algn="just"/>
            <a:r>
              <a:rPr lang="en-IN" dirty="0"/>
              <a:t>At this point, the CPU sits idle.</a:t>
            </a:r>
          </a:p>
          <a:p>
            <a:pPr algn="just"/>
            <a:r>
              <a:rPr lang="en-IN" dirty="0"/>
              <a:t>The CPU-bound process will then move back to the ready queue and be allocated the CPU.</a:t>
            </a:r>
          </a:p>
          <a:p>
            <a:pPr algn="just"/>
            <a:r>
              <a:rPr lang="en-IN" dirty="0"/>
              <a:t>Again, all the I/O processes end up waiting in the ready queue until the CPU-bound process is done.</a:t>
            </a:r>
          </a:p>
          <a:p>
            <a:pPr algn="just"/>
            <a:r>
              <a:rPr lang="en-IN" dirty="0"/>
              <a:t>There is a convoy effect as all the other processes wait for the one big process to get off the CPU.</a:t>
            </a:r>
          </a:p>
          <a:p>
            <a:pPr algn="just"/>
            <a:r>
              <a:rPr lang="en-IN" dirty="0"/>
              <a:t>A long CPU-bound job may take the CPU and may force shorter (or I/O-bound) jobs to wait prolonged periods.</a:t>
            </a:r>
          </a:p>
          <a:p>
            <a:pPr algn="just"/>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First-Come, First-Served Scheduling</a:t>
            </a:r>
            <a:br>
              <a:rPr lang="en-IN" dirty="0"/>
            </a:br>
            <a:r>
              <a:rPr lang="en-IN" dirty="0"/>
              <a:t>contd..</a:t>
            </a:r>
          </a:p>
        </p:txBody>
      </p:sp>
      <p:sp>
        <p:nvSpPr>
          <p:cNvPr id="3" name="Content Placeholder 2"/>
          <p:cNvSpPr>
            <a:spLocks noGrp="1"/>
          </p:cNvSpPr>
          <p:nvPr>
            <p:ph idx="1"/>
          </p:nvPr>
        </p:nvSpPr>
        <p:spPr>
          <a:xfrm>
            <a:off x="457200" y="980728"/>
            <a:ext cx="8229600" cy="5616624"/>
          </a:xfrm>
        </p:spPr>
        <p:txBody>
          <a:bodyPr>
            <a:normAutofit fontScale="62500" lnSpcReduction="20000"/>
          </a:bodyPr>
          <a:lstStyle/>
          <a:p>
            <a:pPr>
              <a:buNone/>
            </a:pPr>
            <a:r>
              <a:rPr lang="en-IN" sz="3400" dirty="0"/>
              <a:t>Q)Consider the following set of processes that arrive at time 0, with the length of the CPU burst given in milliseconds</a:t>
            </a:r>
            <a:r>
              <a:rPr lang="en-IN" dirty="0"/>
              <a:t>:</a:t>
            </a:r>
          </a:p>
          <a:p>
            <a:pPr>
              <a:buNone/>
            </a:pPr>
            <a:endParaRPr lang="en-IN" dirty="0"/>
          </a:p>
          <a:p>
            <a:pPr>
              <a:buNone/>
            </a:pPr>
            <a:endParaRPr lang="en-IN" dirty="0"/>
          </a:p>
          <a:p>
            <a:pPr>
              <a:buNone/>
            </a:pPr>
            <a:endParaRPr lang="en-IN" dirty="0"/>
          </a:p>
          <a:p>
            <a:pPr>
              <a:buNone/>
            </a:pPr>
            <a:endParaRPr lang="en-IN" dirty="0"/>
          </a:p>
          <a:p>
            <a:pPr>
              <a:buNone/>
            </a:pPr>
            <a:endParaRPr lang="en-IN" dirty="0"/>
          </a:p>
          <a:p>
            <a:pPr>
              <a:buFont typeface="Wingdings" pitchFamily="2" charset="2"/>
              <a:buChar char="§"/>
              <a:tabLst>
                <a:tab pos="3032125" algn="ctr"/>
                <a:tab pos="4635500" algn="ctr"/>
              </a:tabLst>
            </a:pPr>
            <a:endParaRPr lang="en-US" b="1" dirty="0"/>
          </a:p>
          <a:p>
            <a:pPr>
              <a:buFont typeface="Wingdings" pitchFamily="2" charset="2"/>
              <a:buChar char="§"/>
              <a:tabLst>
                <a:tab pos="3032125" algn="ctr"/>
                <a:tab pos="4635500" algn="ctr"/>
              </a:tabLst>
            </a:pPr>
            <a:endParaRPr lang="en-US" b="1" dirty="0"/>
          </a:p>
          <a:p>
            <a:pPr>
              <a:buFont typeface="Wingdings" pitchFamily="2" charset="2"/>
              <a:buChar char="§"/>
              <a:tabLst>
                <a:tab pos="3032125" algn="ctr"/>
                <a:tab pos="4635500" algn="ctr"/>
              </a:tabLst>
            </a:pPr>
            <a:endParaRPr lang="en-US" b="1" dirty="0"/>
          </a:p>
          <a:p>
            <a:pPr>
              <a:buFont typeface="Wingdings" pitchFamily="2" charset="2"/>
              <a:buChar char="§"/>
              <a:tabLst>
                <a:tab pos="3032125" algn="ctr"/>
                <a:tab pos="4635500" algn="ctr"/>
              </a:tabLst>
            </a:pPr>
            <a:r>
              <a:rPr lang="en-US" sz="3400" dirty="0"/>
              <a:t>Suppose that the processes arrive in the order:</a:t>
            </a:r>
          </a:p>
          <a:p>
            <a:pPr marL="742950" lvl="1" indent="-285750">
              <a:buNone/>
              <a:tabLst>
                <a:tab pos="3032125" algn="ctr"/>
                <a:tab pos="4635500" algn="ctr"/>
              </a:tabLst>
            </a:pPr>
            <a:r>
              <a:rPr lang="en-US" sz="3400" i="1" dirty="0"/>
              <a:t>P1</a:t>
            </a:r>
            <a:r>
              <a:rPr lang="en-US" sz="3400" dirty="0"/>
              <a:t> , </a:t>
            </a:r>
            <a:r>
              <a:rPr lang="en-US" sz="3400" i="1" dirty="0"/>
              <a:t>P2</a:t>
            </a:r>
            <a:r>
              <a:rPr lang="en-US" sz="3400" dirty="0"/>
              <a:t> , </a:t>
            </a:r>
            <a:r>
              <a:rPr lang="en-US" sz="3400" i="1" dirty="0"/>
              <a:t>P3 </a:t>
            </a:r>
          </a:p>
          <a:p>
            <a:pPr>
              <a:buFont typeface="Wingdings" pitchFamily="2" charset="2"/>
              <a:buChar char="§"/>
              <a:tabLst>
                <a:tab pos="3032125" algn="ctr"/>
                <a:tab pos="4635500" algn="ctr"/>
              </a:tabLst>
            </a:pPr>
            <a:r>
              <a:rPr lang="en-US" sz="3400" dirty="0"/>
              <a:t>The Gantt Chart for the schedule is:</a:t>
            </a:r>
          </a:p>
          <a:p>
            <a:pPr>
              <a:buNone/>
            </a:pPr>
            <a:endParaRPr lang="en-IN" dirty="0"/>
          </a:p>
          <a:p>
            <a:pPr>
              <a:buNone/>
            </a:pPr>
            <a:endParaRPr lang="en-IN" dirty="0"/>
          </a:p>
          <a:p>
            <a:pPr>
              <a:buNone/>
            </a:pPr>
            <a:endParaRPr lang="en-IN" dirty="0"/>
          </a:p>
          <a:p>
            <a:pPr>
              <a:buNone/>
            </a:pPr>
            <a:endParaRPr lang="en-IN" dirty="0"/>
          </a:p>
          <a:p>
            <a:pPr>
              <a:buNone/>
            </a:pPr>
            <a:r>
              <a:rPr lang="en-IN" dirty="0"/>
              <a:t>  </a:t>
            </a:r>
          </a:p>
          <a:p>
            <a:pPr>
              <a:buNone/>
            </a:pPr>
            <a:endParaRPr lang="en-IN" dirty="0"/>
          </a:p>
          <a:p>
            <a:pPr>
              <a:buNone/>
            </a:pPr>
            <a:r>
              <a:rPr lang="en-IN" sz="3800" dirty="0"/>
              <a:t>Waiting time for P1  = 0; P2  = 24; P3 = 27 </a:t>
            </a:r>
          </a:p>
          <a:p>
            <a:pPr>
              <a:buNone/>
            </a:pPr>
            <a:r>
              <a:rPr lang="en-IN" sz="3800" dirty="0"/>
              <a:t>Average waiting time:  (0 + 24 + 27)/3 = 17</a:t>
            </a:r>
          </a:p>
          <a:p>
            <a:pPr>
              <a:buNone/>
            </a:pPr>
            <a:endParaRPr lang="en-IN" dirty="0"/>
          </a:p>
          <a:p>
            <a:pPr>
              <a:buNone/>
            </a:pPr>
            <a:endParaRPr lang="en-IN" dirty="0"/>
          </a:p>
          <a:p>
            <a:pPr>
              <a:buNone/>
            </a:pPr>
            <a:endParaRPr lang="en-IN" dirty="0"/>
          </a:p>
          <a:p>
            <a:pPr>
              <a:buNone/>
            </a:pPr>
            <a:endParaRPr lang="en-IN" dirty="0"/>
          </a:p>
        </p:txBody>
      </p:sp>
      <p:pic>
        <p:nvPicPr>
          <p:cNvPr id="1026" name="Picture 2"/>
          <p:cNvPicPr>
            <a:picLocks noChangeAspect="1" noChangeArrowheads="1"/>
          </p:cNvPicPr>
          <p:nvPr/>
        </p:nvPicPr>
        <p:blipFill>
          <a:blip r:embed="rId2" cstate="print"/>
          <a:srcRect/>
          <a:stretch>
            <a:fillRect/>
          </a:stretch>
        </p:blipFill>
        <p:spPr bwMode="auto">
          <a:xfrm>
            <a:off x="1115616" y="1772817"/>
            <a:ext cx="3096344" cy="1512167"/>
          </a:xfrm>
          <a:prstGeom prst="rect">
            <a:avLst/>
          </a:prstGeom>
          <a:noFill/>
          <a:ln w="9525">
            <a:noFill/>
            <a:miter lim="800000"/>
            <a:headEnd/>
            <a:tailEnd/>
          </a:ln>
        </p:spPr>
      </p:pic>
      <p:grpSp>
        <p:nvGrpSpPr>
          <p:cNvPr id="5" name="Group 6"/>
          <p:cNvGrpSpPr>
            <a:grpSpLocks/>
          </p:cNvGrpSpPr>
          <p:nvPr/>
        </p:nvGrpSpPr>
        <p:grpSpPr bwMode="auto">
          <a:xfrm>
            <a:off x="827584" y="4797152"/>
            <a:ext cx="5711403" cy="823169"/>
            <a:chOff x="863" y="2688"/>
            <a:chExt cx="3482" cy="711"/>
          </a:xfrm>
        </p:grpSpPr>
        <p:sp>
          <p:nvSpPr>
            <p:cNvPr id="6" name="Rectangle 7"/>
            <p:cNvSpPr>
              <a:spLocks noChangeArrowheads="1"/>
            </p:cNvSpPr>
            <p:nvPr/>
          </p:nvSpPr>
          <p:spPr bwMode="auto">
            <a:xfrm>
              <a:off x="960" y="2688"/>
              <a:ext cx="3312" cy="384"/>
            </a:xfrm>
            <a:prstGeom prst="rect">
              <a:avLst/>
            </a:prstGeom>
            <a:solidFill>
              <a:schemeClr val="bg1"/>
            </a:solidFill>
            <a:ln w="9525">
              <a:solidFill>
                <a:schemeClr val="tx1"/>
              </a:solidFill>
              <a:miter lim="800000"/>
              <a:headEnd/>
              <a:tailEnd/>
            </a:ln>
          </p:spPr>
          <p:txBody>
            <a:bodyPr wrap="none" anchor="ctr"/>
            <a:lstStyle/>
            <a:p>
              <a:pPr algn="ctr"/>
              <a:endParaRPr lang="en-US">
                <a:latin typeface="Tahoma" pitchFamily="34" charset="0"/>
                <a:cs typeface="Tahoma" pitchFamily="34" charset="0"/>
              </a:endParaRPr>
            </a:p>
          </p:txBody>
        </p:sp>
        <p:sp>
          <p:nvSpPr>
            <p:cNvPr id="7" name="Text Box 8"/>
            <p:cNvSpPr txBox="1">
              <a:spLocks noChangeArrowheads="1"/>
            </p:cNvSpPr>
            <p:nvPr/>
          </p:nvSpPr>
          <p:spPr bwMode="auto">
            <a:xfrm>
              <a:off x="1785" y="2736"/>
              <a:ext cx="231" cy="233"/>
            </a:xfrm>
            <a:prstGeom prst="rect">
              <a:avLst/>
            </a:prstGeom>
            <a:noFill/>
            <a:ln w="9525">
              <a:noFill/>
              <a:miter lim="800000"/>
              <a:headEnd/>
              <a:tailEnd/>
            </a:ln>
          </p:spPr>
          <p:txBody>
            <a:bodyPr wrap="none" anchor="ctr">
              <a:spAutoFit/>
            </a:bodyPr>
            <a:lstStyle/>
            <a:p>
              <a:pPr algn="ctr" eaLnBrk="0" hangingPunct="0">
                <a:spcBef>
                  <a:spcPct val="50000"/>
                </a:spcBef>
              </a:pPr>
              <a:r>
                <a:rPr lang="en-US" dirty="0">
                  <a:latin typeface="Tahoma" pitchFamily="34" charset="0"/>
                  <a:cs typeface="Tahoma" pitchFamily="34" charset="0"/>
                </a:rPr>
                <a:t>P</a:t>
              </a:r>
              <a:r>
                <a:rPr lang="en-US" baseline="-25000" dirty="0">
                  <a:latin typeface="Tahoma" pitchFamily="34" charset="0"/>
                  <a:cs typeface="Tahoma" pitchFamily="34" charset="0"/>
                </a:rPr>
                <a:t>1</a:t>
              </a:r>
              <a:endParaRPr lang="en-US" dirty="0">
                <a:latin typeface="Tahoma" pitchFamily="34" charset="0"/>
                <a:cs typeface="Tahoma" pitchFamily="34" charset="0"/>
              </a:endParaRPr>
            </a:p>
          </p:txBody>
        </p:sp>
        <p:sp>
          <p:nvSpPr>
            <p:cNvPr id="8" name="Text Box 9"/>
            <p:cNvSpPr txBox="1">
              <a:spLocks noChangeArrowheads="1"/>
            </p:cNvSpPr>
            <p:nvPr/>
          </p:nvSpPr>
          <p:spPr bwMode="auto">
            <a:xfrm>
              <a:off x="3274" y="2736"/>
              <a:ext cx="231"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Tahoma" pitchFamily="34" charset="0"/>
                  <a:cs typeface="Tahoma" pitchFamily="34" charset="0"/>
                </a:rPr>
                <a:t>P</a:t>
              </a:r>
              <a:r>
                <a:rPr lang="en-US" baseline="-25000">
                  <a:latin typeface="Tahoma" pitchFamily="34" charset="0"/>
                  <a:cs typeface="Tahoma" pitchFamily="34" charset="0"/>
                </a:rPr>
                <a:t>2</a:t>
              </a:r>
              <a:endParaRPr lang="en-US">
                <a:latin typeface="Tahoma" pitchFamily="34" charset="0"/>
                <a:cs typeface="Tahoma" pitchFamily="34" charset="0"/>
              </a:endParaRPr>
            </a:p>
          </p:txBody>
        </p:sp>
        <p:sp>
          <p:nvSpPr>
            <p:cNvPr id="9" name="Text Box 10"/>
            <p:cNvSpPr txBox="1">
              <a:spLocks noChangeArrowheads="1"/>
            </p:cNvSpPr>
            <p:nvPr/>
          </p:nvSpPr>
          <p:spPr bwMode="auto">
            <a:xfrm>
              <a:off x="3850" y="2736"/>
              <a:ext cx="231"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Tahoma" pitchFamily="34" charset="0"/>
                  <a:cs typeface="Tahoma" pitchFamily="34" charset="0"/>
                </a:rPr>
                <a:t>P</a:t>
              </a:r>
              <a:r>
                <a:rPr lang="en-US" baseline="-25000">
                  <a:latin typeface="Tahoma" pitchFamily="34" charset="0"/>
                  <a:cs typeface="Tahoma" pitchFamily="34" charset="0"/>
                </a:rPr>
                <a:t>3</a:t>
              </a:r>
              <a:endParaRPr lang="en-US">
                <a:latin typeface="Tahoma" pitchFamily="34" charset="0"/>
                <a:cs typeface="Tahoma" pitchFamily="34" charset="0"/>
              </a:endParaRPr>
            </a:p>
          </p:txBody>
        </p:sp>
        <p:sp>
          <p:nvSpPr>
            <p:cNvPr id="10" name="Line 11"/>
            <p:cNvSpPr>
              <a:spLocks noChangeShapeType="1"/>
            </p:cNvSpPr>
            <p:nvPr/>
          </p:nvSpPr>
          <p:spPr bwMode="auto">
            <a:xfrm>
              <a:off x="960" y="3072"/>
              <a:ext cx="0" cy="144"/>
            </a:xfrm>
            <a:prstGeom prst="line">
              <a:avLst/>
            </a:prstGeom>
            <a:noFill/>
            <a:ln w="9525">
              <a:solidFill>
                <a:schemeClr val="tx1"/>
              </a:solidFill>
              <a:round/>
              <a:headEnd/>
              <a:tailEnd/>
            </a:ln>
          </p:spPr>
          <p:txBody>
            <a:bodyPr wrap="none" anchor="ctr"/>
            <a:lstStyle/>
            <a:p>
              <a:endParaRPr lang="en-IN"/>
            </a:p>
          </p:txBody>
        </p:sp>
        <p:sp>
          <p:nvSpPr>
            <p:cNvPr id="11" name="Line 12"/>
            <p:cNvSpPr>
              <a:spLocks noChangeShapeType="1"/>
            </p:cNvSpPr>
            <p:nvPr/>
          </p:nvSpPr>
          <p:spPr bwMode="auto">
            <a:xfrm>
              <a:off x="4272" y="3072"/>
              <a:ext cx="0" cy="144"/>
            </a:xfrm>
            <a:prstGeom prst="line">
              <a:avLst/>
            </a:prstGeom>
            <a:noFill/>
            <a:ln w="9525">
              <a:solidFill>
                <a:schemeClr val="tx1"/>
              </a:solidFill>
              <a:round/>
              <a:headEnd/>
              <a:tailEnd/>
            </a:ln>
          </p:spPr>
          <p:txBody>
            <a:bodyPr wrap="none" anchor="ctr"/>
            <a:lstStyle/>
            <a:p>
              <a:endParaRPr lang="en-IN"/>
            </a:p>
          </p:txBody>
        </p:sp>
        <p:sp>
          <p:nvSpPr>
            <p:cNvPr id="12" name="Line 13"/>
            <p:cNvSpPr>
              <a:spLocks noChangeShapeType="1"/>
            </p:cNvSpPr>
            <p:nvPr/>
          </p:nvSpPr>
          <p:spPr bwMode="auto">
            <a:xfrm>
              <a:off x="3072" y="2688"/>
              <a:ext cx="0" cy="384"/>
            </a:xfrm>
            <a:prstGeom prst="line">
              <a:avLst/>
            </a:prstGeom>
            <a:noFill/>
            <a:ln w="9525">
              <a:solidFill>
                <a:schemeClr val="tx1"/>
              </a:solidFill>
              <a:round/>
              <a:headEnd/>
              <a:tailEnd/>
            </a:ln>
          </p:spPr>
          <p:txBody>
            <a:bodyPr wrap="none" anchor="ctr"/>
            <a:lstStyle/>
            <a:p>
              <a:endParaRPr lang="en-IN"/>
            </a:p>
          </p:txBody>
        </p:sp>
        <p:sp>
          <p:nvSpPr>
            <p:cNvPr id="13" name="Line 14"/>
            <p:cNvSpPr>
              <a:spLocks noChangeShapeType="1"/>
            </p:cNvSpPr>
            <p:nvPr/>
          </p:nvSpPr>
          <p:spPr bwMode="auto">
            <a:xfrm>
              <a:off x="3648" y="2688"/>
              <a:ext cx="0" cy="384"/>
            </a:xfrm>
            <a:prstGeom prst="line">
              <a:avLst/>
            </a:prstGeom>
            <a:noFill/>
            <a:ln w="9525">
              <a:solidFill>
                <a:schemeClr val="tx1"/>
              </a:solidFill>
              <a:round/>
              <a:headEnd/>
              <a:tailEnd/>
            </a:ln>
          </p:spPr>
          <p:txBody>
            <a:bodyPr wrap="none" anchor="ctr"/>
            <a:lstStyle/>
            <a:p>
              <a:endParaRPr lang="en-IN"/>
            </a:p>
          </p:txBody>
        </p:sp>
        <p:sp>
          <p:nvSpPr>
            <p:cNvPr id="14" name="Line 15"/>
            <p:cNvSpPr>
              <a:spLocks noChangeShapeType="1"/>
            </p:cNvSpPr>
            <p:nvPr/>
          </p:nvSpPr>
          <p:spPr bwMode="auto">
            <a:xfrm>
              <a:off x="3072" y="3072"/>
              <a:ext cx="0" cy="144"/>
            </a:xfrm>
            <a:prstGeom prst="line">
              <a:avLst/>
            </a:prstGeom>
            <a:noFill/>
            <a:ln w="9525">
              <a:solidFill>
                <a:schemeClr val="tx1"/>
              </a:solidFill>
              <a:round/>
              <a:headEnd/>
              <a:tailEnd/>
            </a:ln>
          </p:spPr>
          <p:txBody>
            <a:bodyPr wrap="none" anchor="ctr"/>
            <a:lstStyle/>
            <a:p>
              <a:endParaRPr lang="en-IN"/>
            </a:p>
          </p:txBody>
        </p:sp>
        <p:sp>
          <p:nvSpPr>
            <p:cNvPr id="15" name="Line 16"/>
            <p:cNvSpPr>
              <a:spLocks noChangeShapeType="1"/>
            </p:cNvSpPr>
            <p:nvPr/>
          </p:nvSpPr>
          <p:spPr bwMode="auto">
            <a:xfrm>
              <a:off x="3648" y="3072"/>
              <a:ext cx="0" cy="144"/>
            </a:xfrm>
            <a:prstGeom prst="line">
              <a:avLst/>
            </a:prstGeom>
            <a:noFill/>
            <a:ln w="9525">
              <a:solidFill>
                <a:schemeClr val="tx1"/>
              </a:solidFill>
              <a:round/>
              <a:headEnd/>
              <a:tailEnd/>
            </a:ln>
          </p:spPr>
          <p:txBody>
            <a:bodyPr wrap="none" anchor="ctr"/>
            <a:lstStyle/>
            <a:p>
              <a:endParaRPr lang="en-IN"/>
            </a:p>
          </p:txBody>
        </p:sp>
        <p:sp>
          <p:nvSpPr>
            <p:cNvPr id="16" name="Text Box 17"/>
            <p:cNvSpPr txBox="1">
              <a:spLocks noChangeArrowheads="1"/>
            </p:cNvSpPr>
            <p:nvPr/>
          </p:nvSpPr>
          <p:spPr bwMode="auto">
            <a:xfrm>
              <a:off x="2937" y="3168"/>
              <a:ext cx="256" cy="231"/>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Tahoma" pitchFamily="34" charset="0"/>
                  <a:cs typeface="Tahoma" pitchFamily="34" charset="0"/>
                </a:rPr>
                <a:t>24</a:t>
              </a:r>
            </a:p>
          </p:txBody>
        </p:sp>
        <p:sp>
          <p:nvSpPr>
            <p:cNvPr id="17" name="Text Box 18"/>
            <p:cNvSpPr txBox="1">
              <a:spLocks noChangeArrowheads="1"/>
            </p:cNvSpPr>
            <p:nvPr/>
          </p:nvSpPr>
          <p:spPr bwMode="auto">
            <a:xfrm>
              <a:off x="3513" y="3168"/>
              <a:ext cx="256" cy="231"/>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Tahoma" pitchFamily="34" charset="0"/>
                  <a:cs typeface="Tahoma" pitchFamily="34" charset="0"/>
                </a:rPr>
                <a:t>27</a:t>
              </a:r>
            </a:p>
          </p:txBody>
        </p:sp>
        <p:sp>
          <p:nvSpPr>
            <p:cNvPr id="18" name="Text Box 19"/>
            <p:cNvSpPr txBox="1">
              <a:spLocks noChangeArrowheads="1"/>
            </p:cNvSpPr>
            <p:nvPr/>
          </p:nvSpPr>
          <p:spPr bwMode="auto">
            <a:xfrm>
              <a:off x="4089" y="3168"/>
              <a:ext cx="256" cy="231"/>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Tahoma" pitchFamily="34" charset="0"/>
                  <a:cs typeface="Tahoma" pitchFamily="34" charset="0"/>
                </a:rPr>
                <a:t>30</a:t>
              </a:r>
            </a:p>
          </p:txBody>
        </p:sp>
        <p:sp>
          <p:nvSpPr>
            <p:cNvPr id="19" name="Text Box 20"/>
            <p:cNvSpPr txBox="1">
              <a:spLocks noChangeArrowheads="1"/>
            </p:cNvSpPr>
            <p:nvPr/>
          </p:nvSpPr>
          <p:spPr bwMode="auto">
            <a:xfrm>
              <a:off x="863" y="3168"/>
              <a:ext cx="182" cy="231"/>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Tahoma" pitchFamily="34" charset="0"/>
                  <a:cs typeface="Tahoma" pitchFamily="34" charset="0"/>
                </a:rPr>
                <a:t>0</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4"/>
          <p:cNvSpPr>
            <a:spLocks noChangeArrowheads="1"/>
          </p:cNvSpPr>
          <p:nvPr/>
        </p:nvSpPr>
        <p:spPr bwMode="auto">
          <a:xfrm>
            <a:off x="1143000" y="1295400"/>
            <a:ext cx="7772400" cy="4724400"/>
          </a:xfrm>
          <a:prstGeom prst="rect">
            <a:avLst/>
          </a:prstGeom>
          <a:noFill/>
          <a:ln w="9525">
            <a:noFill/>
            <a:miter lim="800000"/>
            <a:headEnd/>
            <a:tailEnd/>
          </a:ln>
        </p:spPr>
        <p:txBody>
          <a:bodyPr/>
          <a:lstStyle/>
          <a:p>
            <a:pPr marL="342900" indent="-342900" fontAlgn="auto">
              <a:spcBef>
                <a:spcPct val="20000"/>
              </a:spcBef>
              <a:spcAft>
                <a:spcPts val="0"/>
              </a:spcAft>
              <a:buClr>
                <a:schemeClr val="accent1"/>
              </a:buClr>
              <a:buSzPct val="80000"/>
              <a:buFont typeface="Wingdings" pitchFamily="2" charset="2"/>
              <a:buChar char="§"/>
              <a:tabLst>
                <a:tab pos="3651250" algn="ctr"/>
              </a:tabLst>
              <a:defRPr/>
            </a:pPr>
            <a:r>
              <a:rPr lang="en-US" sz="2400" dirty="0">
                <a:latin typeface="Times New Roman" pitchFamily="18" charset="0"/>
                <a:cs typeface="Times New Roman" pitchFamily="18" charset="0"/>
              </a:rPr>
              <a:t>Suppose that the processes arrive in the order :  </a:t>
            </a:r>
          </a:p>
          <a:p>
            <a:pPr marL="342900" indent="-342900" fontAlgn="auto">
              <a:spcBef>
                <a:spcPct val="20000"/>
              </a:spcBef>
              <a:spcAft>
                <a:spcPts val="0"/>
              </a:spcAft>
              <a:buClr>
                <a:schemeClr val="accent1"/>
              </a:buClr>
              <a:buSzPct val="80000"/>
              <a:tabLst>
                <a:tab pos="3651250" algn="ctr"/>
              </a:tabLst>
              <a:defRPr/>
            </a:pPr>
            <a:r>
              <a:rPr lang="en-US" sz="2400" i="1" dirty="0">
                <a:latin typeface="Times New Roman" pitchFamily="18" charset="0"/>
                <a:cs typeface="Times New Roman" pitchFamily="18" charset="0"/>
              </a:rPr>
              <a:t>	P</a:t>
            </a:r>
            <a:r>
              <a:rPr lang="en-US" sz="2400" i="1" baseline="-25000" dirty="0">
                <a:latin typeface="Times New Roman" pitchFamily="18" charset="0"/>
                <a:cs typeface="Times New Roman" pitchFamily="18" charset="0"/>
              </a:rPr>
              <a:t>2</a:t>
            </a:r>
            <a:r>
              <a:rPr lang="en-US" sz="2400" dirty="0">
                <a:latin typeface="Times New Roman" pitchFamily="18" charset="0"/>
                <a:cs typeface="Times New Roman" pitchFamily="18" charset="0"/>
              </a:rPr>
              <a:t> , </a:t>
            </a:r>
            <a:r>
              <a:rPr lang="en-US" sz="2400" i="1" dirty="0">
                <a:latin typeface="Times New Roman" pitchFamily="18" charset="0"/>
                <a:cs typeface="Times New Roman" pitchFamily="18" charset="0"/>
              </a:rPr>
              <a:t>P</a:t>
            </a:r>
            <a:r>
              <a:rPr lang="en-US" sz="2400" i="1" baseline="-25000" dirty="0">
                <a:latin typeface="Times New Roman" pitchFamily="18" charset="0"/>
                <a:cs typeface="Times New Roman" pitchFamily="18" charset="0"/>
              </a:rPr>
              <a:t>3</a:t>
            </a:r>
            <a:r>
              <a:rPr lang="en-US" sz="2400" dirty="0">
                <a:latin typeface="Times New Roman" pitchFamily="18" charset="0"/>
                <a:cs typeface="Times New Roman" pitchFamily="18" charset="0"/>
              </a:rPr>
              <a:t> , </a:t>
            </a:r>
            <a:r>
              <a:rPr lang="en-US" sz="2400" i="1" dirty="0">
                <a:latin typeface="Times New Roman" pitchFamily="18" charset="0"/>
                <a:cs typeface="Times New Roman" pitchFamily="18" charset="0"/>
              </a:rPr>
              <a:t>P</a:t>
            </a:r>
            <a:r>
              <a:rPr lang="en-US" sz="2400" i="1" baseline="-25000" dirty="0">
                <a:latin typeface="Times New Roman" pitchFamily="18" charset="0"/>
                <a:cs typeface="Times New Roman" pitchFamily="18" charset="0"/>
              </a:rPr>
              <a:t>1</a:t>
            </a:r>
            <a:r>
              <a:rPr lang="en-US" sz="2400" dirty="0">
                <a:latin typeface="Times New Roman" pitchFamily="18" charset="0"/>
                <a:cs typeface="Times New Roman" pitchFamily="18" charset="0"/>
              </a:rPr>
              <a:t> (</a:t>
            </a:r>
            <a:r>
              <a:rPr lang="en-US" sz="2400" i="1" dirty="0">
                <a:latin typeface="Times New Roman" pitchFamily="18" charset="0"/>
                <a:cs typeface="Times New Roman" pitchFamily="18" charset="0"/>
              </a:rPr>
              <a:t>P1:</a:t>
            </a:r>
            <a:r>
              <a:rPr lang="en-US" sz="2400" dirty="0">
                <a:latin typeface="Times New Roman" pitchFamily="18" charset="0"/>
                <a:cs typeface="Times New Roman" pitchFamily="18" charset="0"/>
              </a:rPr>
              <a:t>24, </a:t>
            </a:r>
            <a:r>
              <a:rPr lang="en-US" sz="2400" i="1" dirty="0">
                <a:latin typeface="Times New Roman" pitchFamily="18" charset="0"/>
                <a:cs typeface="Times New Roman" pitchFamily="18" charset="0"/>
              </a:rPr>
              <a:t>P2:</a:t>
            </a:r>
            <a:r>
              <a:rPr lang="en-US" sz="2400" dirty="0">
                <a:latin typeface="Times New Roman" pitchFamily="18" charset="0"/>
                <a:cs typeface="Times New Roman" pitchFamily="18" charset="0"/>
              </a:rPr>
              <a:t>3, </a:t>
            </a:r>
            <a:r>
              <a:rPr lang="en-US" sz="2400" i="1" dirty="0">
                <a:latin typeface="Times New Roman" pitchFamily="18" charset="0"/>
                <a:cs typeface="Times New Roman" pitchFamily="18" charset="0"/>
              </a:rPr>
              <a:t>P3:</a:t>
            </a:r>
            <a:r>
              <a:rPr lang="en-US" sz="2400" dirty="0">
                <a:latin typeface="Times New Roman" pitchFamily="18" charset="0"/>
                <a:cs typeface="Times New Roman" pitchFamily="18" charset="0"/>
              </a:rPr>
              <a:t>3)</a:t>
            </a:r>
          </a:p>
          <a:p>
            <a:pPr marL="342900" indent="-342900" fontAlgn="auto">
              <a:spcBef>
                <a:spcPct val="20000"/>
              </a:spcBef>
              <a:spcAft>
                <a:spcPts val="0"/>
              </a:spcAft>
              <a:buClr>
                <a:schemeClr val="accent1"/>
              </a:buClr>
              <a:buSzPct val="80000"/>
              <a:buFont typeface="Wingdings" pitchFamily="2" charset="2"/>
              <a:buChar char="§"/>
              <a:tabLst>
                <a:tab pos="3651250" algn="ctr"/>
              </a:tabLst>
              <a:defRPr/>
            </a:pPr>
            <a:r>
              <a:rPr lang="en-US" sz="2400" dirty="0">
                <a:latin typeface="Times New Roman" pitchFamily="18" charset="0"/>
                <a:cs typeface="Times New Roman" pitchFamily="18" charset="0"/>
              </a:rPr>
              <a:t>The Gantt chart for the schedule is:</a:t>
            </a:r>
          </a:p>
          <a:p>
            <a:pPr marL="342900" indent="-342900" fontAlgn="auto">
              <a:spcBef>
                <a:spcPct val="20000"/>
              </a:spcBef>
              <a:spcAft>
                <a:spcPts val="0"/>
              </a:spcAft>
              <a:buClr>
                <a:schemeClr val="accent1"/>
              </a:buClr>
              <a:buSzPct val="80000"/>
              <a:buFont typeface="Wingdings" pitchFamily="2" charset="2"/>
              <a:buChar char="§"/>
              <a:tabLst>
                <a:tab pos="3651250" algn="ctr"/>
              </a:tabLst>
              <a:defRPr/>
            </a:pPr>
            <a:endParaRPr lang="en-US" sz="2400" dirty="0">
              <a:latin typeface="Times New Roman" pitchFamily="18" charset="0"/>
              <a:cs typeface="Times New Roman" pitchFamily="18" charset="0"/>
            </a:endParaRPr>
          </a:p>
          <a:p>
            <a:pPr marL="342900" indent="-342900" fontAlgn="auto">
              <a:spcBef>
                <a:spcPct val="20000"/>
              </a:spcBef>
              <a:spcAft>
                <a:spcPts val="0"/>
              </a:spcAft>
              <a:buClr>
                <a:schemeClr val="accent1"/>
              </a:buClr>
              <a:buSzPct val="80000"/>
              <a:buFont typeface="Wingdings" pitchFamily="2" charset="2"/>
              <a:buChar char="§"/>
              <a:tabLst>
                <a:tab pos="3651250" algn="ctr"/>
              </a:tabLst>
              <a:defRPr/>
            </a:pPr>
            <a:endParaRPr lang="en-US" sz="2400" dirty="0">
              <a:latin typeface="Times New Roman" pitchFamily="18" charset="0"/>
              <a:cs typeface="Times New Roman" pitchFamily="18" charset="0"/>
            </a:endParaRPr>
          </a:p>
          <a:p>
            <a:pPr marL="342900" indent="-342900" fontAlgn="auto">
              <a:spcBef>
                <a:spcPct val="20000"/>
              </a:spcBef>
              <a:spcAft>
                <a:spcPts val="0"/>
              </a:spcAft>
              <a:buClr>
                <a:schemeClr val="accent1"/>
              </a:buClr>
              <a:buSzPct val="80000"/>
              <a:buFont typeface="Wingdings" pitchFamily="2" charset="2"/>
              <a:buChar char="§"/>
              <a:tabLst>
                <a:tab pos="3651250" algn="ctr"/>
              </a:tabLst>
              <a:defRPr/>
            </a:pPr>
            <a:endParaRPr lang="en-US" sz="2400" dirty="0">
              <a:latin typeface="Times New Roman" pitchFamily="18" charset="0"/>
              <a:cs typeface="Times New Roman" pitchFamily="18" charset="0"/>
            </a:endParaRPr>
          </a:p>
          <a:p>
            <a:pPr marL="342900" indent="-342900" fontAlgn="auto">
              <a:spcBef>
                <a:spcPct val="20000"/>
              </a:spcBef>
              <a:spcAft>
                <a:spcPts val="0"/>
              </a:spcAft>
              <a:buClr>
                <a:schemeClr val="accent1"/>
              </a:buClr>
              <a:buSzPct val="80000"/>
              <a:buFont typeface="Wingdings" pitchFamily="2" charset="2"/>
              <a:buChar char="§"/>
              <a:tabLst>
                <a:tab pos="3651250" algn="ctr"/>
              </a:tabLst>
              <a:defRPr/>
            </a:pPr>
            <a:r>
              <a:rPr lang="en-US" sz="2400" dirty="0">
                <a:latin typeface="Times New Roman" pitchFamily="18" charset="0"/>
                <a:cs typeface="Times New Roman" pitchFamily="18" charset="0"/>
              </a:rPr>
              <a:t>Waiting time for </a:t>
            </a:r>
            <a:r>
              <a:rPr lang="en-US" sz="2400" i="1" dirty="0">
                <a:latin typeface="Times New Roman" pitchFamily="18" charset="0"/>
                <a:cs typeface="Times New Roman" pitchFamily="18" charset="0"/>
              </a:rPr>
              <a:t>P</a:t>
            </a:r>
            <a:r>
              <a:rPr lang="en-US" sz="2400" i="1" baseline="-25000" dirty="0">
                <a:latin typeface="Times New Roman" pitchFamily="18" charset="0"/>
                <a:cs typeface="Times New Roman" pitchFamily="18" charset="0"/>
              </a:rPr>
              <a:t>1 </a:t>
            </a:r>
            <a:r>
              <a:rPr lang="en-US" sz="2400" i="1" dirty="0">
                <a:latin typeface="Times New Roman" pitchFamily="18" charset="0"/>
                <a:cs typeface="Times New Roman" pitchFamily="18" charset="0"/>
              </a:rPr>
              <a:t>=</a:t>
            </a:r>
            <a:r>
              <a:rPr lang="en-US" sz="2400" dirty="0">
                <a:latin typeface="Times New Roman" pitchFamily="18" charset="0"/>
                <a:cs typeface="Times New Roman" pitchFamily="18" charset="0"/>
              </a:rPr>
              <a:t> 6</a:t>
            </a:r>
            <a:r>
              <a:rPr lang="en-US" sz="2400" i="1" dirty="0">
                <a:latin typeface="Times New Roman" pitchFamily="18" charset="0"/>
                <a:cs typeface="Times New Roman" pitchFamily="18" charset="0"/>
              </a:rPr>
              <a:t>;</a:t>
            </a:r>
            <a:r>
              <a:rPr lang="en-US" sz="2400" i="1" baseline="-25000" dirty="0">
                <a:latin typeface="Times New Roman" pitchFamily="18" charset="0"/>
                <a:cs typeface="Times New Roman" pitchFamily="18" charset="0"/>
              </a:rPr>
              <a:t> </a:t>
            </a:r>
            <a:r>
              <a:rPr lang="en-US" sz="2400" i="1" dirty="0">
                <a:latin typeface="Times New Roman" pitchFamily="18" charset="0"/>
                <a:cs typeface="Times New Roman" pitchFamily="18" charset="0"/>
              </a:rPr>
              <a:t>P</a:t>
            </a:r>
            <a:r>
              <a:rPr lang="en-US" sz="2400" i="1" baseline="-25000" dirty="0">
                <a:latin typeface="Times New Roman" pitchFamily="18" charset="0"/>
                <a:cs typeface="Times New Roman" pitchFamily="18" charset="0"/>
              </a:rPr>
              <a:t>2</a:t>
            </a:r>
            <a:r>
              <a:rPr lang="en-US" sz="2400" dirty="0">
                <a:latin typeface="Times New Roman" pitchFamily="18" charset="0"/>
                <a:cs typeface="Times New Roman" pitchFamily="18" charset="0"/>
              </a:rPr>
              <a:t> = 0</a:t>
            </a:r>
            <a:r>
              <a:rPr lang="en-US" sz="2400" i="1" baseline="-25000" dirty="0">
                <a:latin typeface="Times New Roman" pitchFamily="18" charset="0"/>
                <a:cs typeface="Times New Roman" pitchFamily="18" charset="0"/>
              </a:rPr>
              <a:t>; </a:t>
            </a:r>
            <a:r>
              <a:rPr lang="en-US" sz="2400" i="1" dirty="0">
                <a:latin typeface="Times New Roman" pitchFamily="18" charset="0"/>
                <a:cs typeface="Times New Roman" pitchFamily="18" charset="0"/>
              </a:rPr>
              <a:t>P</a:t>
            </a:r>
            <a:r>
              <a:rPr lang="en-US" sz="2400" i="1" baseline="-25000" dirty="0">
                <a:latin typeface="Times New Roman" pitchFamily="18" charset="0"/>
                <a:cs typeface="Times New Roman" pitchFamily="18" charset="0"/>
              </a:rPr>
              <a:t>3 </a:t>
            </a:r>
            <a:r>
              <a:rPr lang="en-US" sz="2400" i="1" dirty="0">
                <a:latin typeface="Times New Roman" pitchFamily="18" charset="0"/>
                <a:cs typeface="Times New Roman" pitchFamily="18" charset="0"/>
              </a:rPr>
              <a:t>= </a:t>
            </a:r>
            <a:r>
              <a:rPr lang="en-US" sz="2400" dirty="0">
                <a:latin typeface="Times New Roman" pitchFamily="18" charset="0"/>
                <a:cs typeface="Times New Roman" pitchFamily="18" charset="0"/>
              </a:rPr>
              <a:t>3</a:t>
            </a:r>
            <a:endParaRPr lang="en-US" sz="2400" i="1" dirty="0">
              <a:latin typeface="Times New Roman" pitchFamily="18" charset="0"/>
              <a:cs typeface="Times New Roman" pitchFamily="18" charset="0"/>
            </a:endParaRPr>
          </a:p>
          <a:p>
            <a:pPr marL="342900" indent="-342900" fontAlgn="auto">
              <a:spcBef>
                <a:spcPct val="20000"/>
              </a:spcBef>
              <a:spcAft>
                <a:spcPts val="0"/>
              </a:spcAft>
              <a:buClr>
                <a:schemeClr val="accent1"/>
              </a:buClr>
              <a:buSzPct val="80000"/>
              <a:buFont typeface="Wingdings" pitchFamily="2" charset="2"/>
              <a:buChar char="§"/>
              <a:tabLst>
                <a:tab pos="3651250" algn="ctr"/>
              </a:tabLst>
              <a:defRPr/>
            </a:pPr>
            <a:r>
              <a:rPr lang="en-US" sz="2400" dirty="0">
                <a:latin typeface="Times New Roman" pitchFamily="18" charset="0"/>
                <a:cs typeface="Times New Roman" pitchFamily="18" charset="0"/>
              </a:rPr>
              <a:t>Average waiting time:   (6 + 0 + 3)/3 = 3</a:t>
            </a:r>
          </a:p>
        </p:txBody>
      </p:sp>
      <p:sp>
        <p:nvSpPr>
          <p:cNvPr id="19460" name="Text Box 20"/>
          <p:cNvSpPr txBox="1">
            <a:spLocks noChangeArrowheads="1"/>
          </p:cNvSpPr>
          <p:nvPr/>
        </p:nvSpPr>
        <p:spPr bwMode="auto">
          <a:xfrm>
            <a:off x="7848600" y="228600"/>
            <a:ext cx="1100138" cy="366713"/>
          </a:xfrm>
          <a:prstGeom prst="rect">
            <a:avLst/>
          </a:prstGeom>
          <a:noFill/>
          <a:ln w="9525">
            <a:noFill/>
            <a:miter lim="800000"/>
            <a:headEnd/>
            <a:tailEnd/>
          </a:ln>
        </p:spPr>
        <p:txBody>
          <a:bodyPr wrap="none">
            <a:spAutoFit/>
          </a:bodyPr>
          <a:lstStyle/>
          <a:p>
            <a:pPr eaLnBrk="0" hangingPunct="0"/>
            <a:r>
              <a:rPr lang="en-US" b="1">
                <a:solidFill>
                  <a:srgbClr val="7F7F7F"/>
                </a:solidFill>
                <a:latin typeface="Gill Sans MT" pitchFamily="34" charset="0"/>
              </a:rPr>
              <a:t>CONT…</a:t>
            </a:r>
          </a:p>
        </p:txBody>
      </p:sp>
      <p:sp>
        <p:nvSpPr>
          <p:cNvPr id="17414" name="Rectangle 2"/>
          <p:cNvSpPr>
            <a:spLocks noGrp="1" noChangeArrowheads="1"/>
          </p:cNvSpPr>
          <p:nvPr>
            <p:ph type="title"/>
          </p:nvPr>
        </p:nvSpPr>
        <p:spPr bwMode="auto">
          <a:xfrm>
            <a:off x="1130300" y="152400"/>
            <a:ext cx="6718300" cy="1143000"/>
          </a:xfrm>
        </p:spPr>
        <p:txBody>
          <a:bodyPr vert="horz" wrap="square" lIns="91440" tIns="45720" rIns="91440" bIns="45720" numCol="1" anchorCtr="0" compatLnSpc="1">
            <a:prstTxWarp prst="textNoShape">
              <a:avLst/>
            </a:prstTxWarp>
          </a:bodyPr>
          <a:lstStyle/>
          <a:p>
            <a:pPr eaLnBrk="1" hangingPunct="1"/>
            <a:r>
              <a:rPr lang="en-US" b="1" dirty="0">
                <a:effectLst/>
              </a:rPr>
              <a:t>First Come First Served </a:t>
            </a:r>
          </a:p>
        </p:txBody>
      </p:sp>
      <p:grpSp>
        <p:nvGrpSpPr>
          <p:cNvPr id="2" name="Group 5"/>
          <p:cNvGrpSpPr>
            <a:grpSpLocks/>
          </p:cNvGrpSpPr>
          <p:nvPr/>
        </p:nvGrpSpPr>
        <p:grpSpPr bwMode="auto">
          <a:xfrm>
            <a:off x="1752600" y="2819400"/>
            <a:ext cx="5575300" cy="1128713"/>
            <a:chOff x="852" y="1650"/>
            <a:chExt cx="3512" cy="711"/>
          </a:xfrm>
        </p:grpSpPr>
        <p:sp>
          <p:nvSpPr>
            <p:cNvPr id="19464" name="Rectangle 6"/>
            <p:cNvSpPr>
              <a:spLocks noChangeArrowheads="1"/>
            </p:cNvSpPr>
            <p:nvPr/>
          </p:nvSpPr>
          <p:spPr bwMode="auto">
            <a:xfrm flipH="1">
              <a:off x="948" y="1650"/>
              <a:ext cx="3312" cy="384"/>
            </a:xfrm>
            <a:prstGeom prst="rect">
              <a:avLst/>
            </a:prstGeom>
            <a:noFill/>
            <a:ln w="9525">
              <a:solidFill>
                <a:schemeClr val="tx1"/>
              </a:solidFill>
              <a:miter lim="800000"/>
              <a:headEnd/>
              <a:tailEnd/>
            </a:ln>
          </p:spPr>
          <p:txBody>
            <a:bodyPr wrap="none" anchor="ctr"/>
            <a:lstStyle/>
            <a:p>
              <a:endParaRPr lang="en-US">
                <a:latin typeface="Tahoma" pitchFamily="34" charset="0"/>
                <a:cs typeface="Tahoma" pitchFamily="34" charset="0"/>
              </a:endParaRPr>
            </a:p>
          </p:txBody>
        </p:sp>
        <p:sp>
          <p:nvSpPr>
            <p:cNvPr id="19465" name="Text Box 7"/>
            <p:cNvSpPr txBox="1">
              <a:spLocks noChangeArrowheads="1"/>
            </p:cNvSpPr>
            <p:nvPr/>
          </p:nvSpPr>
          <p:spPr bwMode="auto">
            <a:xfrm flipH="1">
              <a:off x="3179" y="1698"/>
              <a:ext cx="249"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Tahoma" pitchFamily="34" charset="0"/>
                  <a:cs typeface="Tahoma" pitchFamily="34" charset="0"/>
                </a:rPr>
                <a:t>P</a:t>
              </a:r>
              <a:r>
                <a:rPr lang="en-US" baseline="-25000">
                  <a:latin typeface="Tahoma" pitchFamily="34" charset="0"/>
                  <a:cs typeface="Tahoma" pitchFamily="34" charset="0"/>
                </a:rPr>
                <a:t>1</a:t>
              </a:r>
              <a:endParaRPr lang="en-US">
                <a:latin typeface="Tahoma" pitchFamily="34" charset="0"/>
                <a:cs typeface="Tahoma" pitchFamily="34" charset="0"/>
              </a:endParaRPr>
            </a:p>
          </p:txBody>
        </p:sp>
        <p:sp>
          <p:nvSpPr>
            <p:cNvPr id="19466" name="Text Box 8"/>
            <p:cNvSpPr txBox="1">
              <a:spLocks noChangeArrowheads="1"/>
            </p:cNvSpPr>
            <p:nvPr/>
          </p:nvSpPr>
          <p:spPr bwMode="auto">
            <a:xfrm flipH="1">
              <a:off x="1691" y="1698"/>
              <a:ext cx="249"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Tahoma" pitchFamily="34" charset="0"/>
                  <a:cs typeface="Tahoma" pitchFamily="34" charset="0"/>
                </a:rPr>
                <a:t>P</a:t>
              </a:r>
              <a:r>
                <a:rPr lang="en-US" baseline="-25000">
                  <a:latin typeface="Tahoma" pitchFamily="34" charset="0"/>
                  <a:cs typeface="Tahoma" pitchFamily="34" charset="0"/>
                </a:rPr>
                <a:t>3</a:t>
              </a:r>
              <a:endParaRPr lang="en-US">
                <a:latin typeface="Tahoma" pitchFamily="34" charset="0"/>
                <a:cs typeface="Tahoma" pitchFamily="34" charset="0"/>
              </a:endParaRPr>
            </a:p>
          </p:txBody>
        </p:sp>
        <p:sp>
          <p:nvSpPr>
            <p:cNvPr id="19467" name="Text Box 9"/>
            <p:cNvSpPr txBox="1">
              <a:spLocks noChangeArrowheads="1"/>
            </p:cNvSpPr>
            <p:nvPr/>
          </p:nvSpPr>
          <p:spPr bwMode="auto">
            <a:xfrm flipH="1">
              <a:off x="1115" y="1698"/>
              <a:ext cx="249"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Tahoma" pitchFamily="34" charset="0"/>
                  <a:cs typeface="Tahoma" pitchFamily="34" charset="0"/>
                </a:rPr>
                <a:t>P</a:t>
              </a:r>
              <a:r>
                <a:rPr lang="en-US" baseline="-25000">
                  <a:latin typeface="Tahoma" pitchFamily="34" charset="0"/>
                  <a:cs typeface="Tahoma" pitchFamily="34" charset="0"/>
                </a:rPr>
                <a:t>2</a:t>
              </a:r>
              <a:endParaRPr lang="en-US">
                <a:latin typeface="Tahoma" pitchFamily="34" charset="0"/>
                <a:cs typeface="Tahoma" pitchFamily="34" charset="0"/>
              </a:endParaRPr>
            </a:p>
          </p:txBody>
        </p:sp>
        <p:sp>
          <p:nvSpPr>
            <p:cNvPr id="19468" name="Line 10"/>
            <p:cNvSpPr>
              <a:spLocks noChangeShapeType="1"/>
            </p:cNvSpPr>
            <p:nvPr/>
          </p:nvSpPr>
          <p:spPr bwMode="auto">
            <a:xfrm flipH="1">
              <a:off x="4260" y="2034"/>
              <a:ext cx="0" cy="144"/>
            </a:xfrm>
            <a:prstGeom prst="line">
              <a:avLst/>
            </a:prstGeom>
            <a:noFill/>
            <a:ln w="9525">
              <a:solidFill>
                <a:schemeClr val="tx1"/>
              </a:solidFill>
              <a:round/>
              <a:headEnd/>
              <a:tailEnd/>
            </a:ln>
          </p:spPr>
          <p:txBody>
            <a:bodyPr wrap="none" anchor="ctr"/>
            <a:lstStyle/>
            <a:p>
              <a:endParaRPr lang="en-IN"/>
            </a:p>
          </p:txBody>
        </p:sp>
        <p:sp>
          <p:nvSpPr>
            <p:cNvPr id="19469" name="Line 11"/>
            <p:cNvSpPr>
              <a:spLocks noChangeShapeType="1"/>
            </p:cNvSpPr>
            <p:nvPr/>
          </p:nvSpPr>
          <p:spPr bwMode="auto">
            <a:xfrm flipH="1">
              <a:off x="948" y="2034"/>
              <a:ext cx="0" cy="144"/>
            </a:xfrm>
            <a:prstGeom prst="line">
              <a:avLst/>
            </a:prstGeom>
            <a:noFill/>
            <a:ln w="9525">
              <a:solidFill>
                <a:schemeClr val="tx1"/>
              </a:solidFill>
              <a:round/>
              <a:headEnd/>
              <a:tailEnd/>
            </a:ln>
          </p:spPr>
          <p:txBody>
            <a:bodyPr wrap="none" anchor="ctr"/>
            <a:lstStyle/>
            <a:p>
              <a:endParaRPr lang="en-IN"/>
            </a:p>
          </p:txBody>
        </p:sp>
        <p:sp>
          <p:nvSpPr>
            <p:cNvPr id="19470" name="Line 12"/>
            <p:cNvSpPr>
              <a:spLocks noChangeShapeType="1"/>
            </p:cNvSpPr>
            <p:nvPr/>
          </p:nvSpPr>
          <p:spPr bwMode="auto">
            <a:xfrm flipH="1">
              <a:off x="2148" y="1650"/>
              <a:ext cx="0" cy="384"/>
            </a:xfrm>
            <a:prstGeom prst="line">
              <a:avLst/>
            </a:prstGeom>
            <a:noFill/>
            <a:ln w="9525">
              <a:solidFill>
                <a:schemeClr val="tx1"/>
              </a:solidFill>
              <a:round/>
              <a:headEnd/>
              <a:tailEnd/>
            </a:ln>
          </p:spPr>
          <p:txBody>
            <a:bodyPr wrap="none" anchor="ctr"/>
            <a:lstStyle/>
            <a:p>
              <a:endParaRPr lang="en-IN"/>
            </a:p>
          </p:txBody>
        </p:sp>
        <p:sp>
          <p:nvSpPr>
            <p:cNvPr id="19471" name="Line 13"/>
            <p:cNvSpPr>
              <a:spLocks noChangeShapeType="1"/>
            </p:cNvSpPr>
            <p:nvPr/>
          </p:nvSpPr>
          <p:spPr bwMode="auto">
            <a:xfrm flipH="1">
              <a:off x="1572" y="1650"/>
              <a:ext cx="0" cy="384"/>
            </a:xfrm>
            <a:prstGeom prst="line">
              <a:avLst/>
            </a:prstGeom>
            <a:noFill/>
            <a:ln w="9525">
              <a:solidFill>
                <a:schemeClr val="tx1"/>
              </a:solidFill>
              <a:round/>
              <a:headEnd/>
              <a:tailEnd/>
            </a:ln>
          </p:spPr>
          <p:txBody>
            <a:bodyPr wrap="none" anchor="ctr"/>
            <a:lstStyle/>
            <a:p>
              <a:endParaRPr lang="en-IN"/>
            </a:p>
          </p:txBody>
        </p:sp>
        <p:sp>
          <p:nvSpPr>
            <p:cNvPr id="19472" name="Line 14"/>
            <p:cNvSpPr>
              <a:spLocks noChangeShapeType="1"/>
            </p:cNvSpPr>
            <p:nvPr/>
          </p:nvSpPr>
          <p:spPr bwMode="auto">
            <a:xfrm flipH="1">
              <a:off x="2148" y="2034"/>
              <a:ext cx="0" cy="144"/>
            </a:xfrm>
            <a:prstGeom prst="line">
              <a:avLst/>
            </a:prstGeom>
            <a:noFill/>
            <a:ln w="9525">
              <a:solidFill>
                <a:schemeClr val="tx1"/>
              </a:solidFill>
              <a:round/>
              <a:headEnd/>
              <a:tailEnd/>
            </a:ln>
          </p:spPr>
          <p:txBody>
            <a:bodyPr wrap="none" anchor="ctr"/>
            <a:lstStyle/>
            <a:p>
              <a:endParaRPr lang="en-IN"/>
            </a:p>
          </p:txBody>
        </p:sp>
        <p:sp>
          <p:nvSpPr>
            <p:cNvPr id="19473" name="Line 15"/>
            <p:cNvSpPr>
              <a:spLocks noChangeShapeType="1"/>
            </p:cNvSpPr>
            <p:nvPr/>
          </p:nvSpPr>
          <p:spPr bwMode="auto">
            <a:xfrm flipH="1">
              <a:off x="1572" y="2034"/>
              <a:ext cx="0" cy="144"/>
            </a:xfrm>
            <a:prstGeom prst="line">
              <a:avLst/>
            </a:prstGeom>
            <a:noFill/>
            <a:ln w="9525">
              <a:solidFill>
                <a:schemeClr val="tx1"/>
              </a:solidFill>
              <a:round/>
              <a:headEnd/>
              <a:tailEnd/>
            </a:ln>
          </p:spPr>
          <p:txBody>
            <a:bodyPr wrap="none" anchor="ctr"/>
            <a:lstStyle/>
            <a:p>
              <a:endParaRPr lang="en-IN"/>
            </a:p>
          </p:txBody>
        </p:sp>
        <p:sp>
          <p:nvSpPr>
            <p:cNvPr id="19474" name="Text Box 16"/>
            <p:cNvSpPr txBox="1">
              <a:spLocks noChangeArrowheads="1"/>
            </p:cNvSpPr>
            <p:nvPr/>
          </p:nvSpPr>
          <p:spPr bwMode="auto">
            <a:xfrm flipH="1">
              <a:off x="2056" y="2130"/>
              <a:ext cx="196" cy="231"/>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Tahoma" pitchFamily="34" charset="0"/>
                  <a:cs typeface="Tahoma" pitchFamily="34" charset="0"/>
                </a:rPr>
                <a:t>6</a:t>
              </a:r>
            </a:p>
          </p:txBody>
        </p:sp>
        <p:sp>
          <p:nvSpPr>
            <p:cNvPr id="19475" name="Text Box 17"/>
            <p:cNvSpPr txBox="1">
              <a:spLocks noChangeArrowheads="1"/>
            </p:cNvSpPr>
            <p:nvPr/>
          </p:nvSpPr>
          <p:spPr bwMode="auto">
            <a:xfrm flipH="1">
              <a:off x="1480" y="2130"/>
              <a:ext cx="196" cy="231"/>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Tahoma" pitchFamily="34" charset="0"/>
                  <a:cs typeface="Tahoma" pitchFamily="34" charset="0"/>
                </a:rPr>
                <a:t>3</a:t>
              </a:r>
            </a:p>
          </p:txBody>
        </p:sp>
        <p:sp>
          <p:nvSpPr>
            <p:cNvPr id="19476" name="Text Box 18"/>
            <p:cNvSpPr txBox="1">
              <a:spLocks noChangeArrowheads="1"/>
            </p:cNvSpPr>
            <p:nvPr/>
          </p:nvSpPr>
          <p:spPr bwMode="auto">
            <a:xfrm flipH="1">
              <a:off x="4088" y="2130"/>
              <a:ext cx="276" cy="231"/>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Tahoma" pitchFamily="34" charset="0"/>
                  <a:cs typeface="Tahoma" pitchFamily="34" charset="0"/>
                </a:rPr>
                <a:t>30</a:t>
              </a:r>
            </a:p>
          </p:txBody>
        </p:sp>
        <p:sp>
          <p:nvSpPr>
            <p:cNvPr id="19477" name="Text Box 19"/>
            <p:cNvSpPr txBox="1">
              <a:spLocks noChangeArrowheads="1"/>
            </p:cNvSpPr>
            <p:nvPr/>
          </p:nvSpPr>
          <p:spPr bwMode="auto">
            <a:xfrm flipH="1">
              <a:off x="852" y="2130"/>
              <a:ext cx="196" cy="231"/>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Tahoma" pitchFamily="34" charset="0"/>
                  <a:cs typeface="Tahoma" pitchFamily="34" charset="0"/>
                </a:rPr>
                <a:t>0</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7414"/>
                                        </p:tgtEl>
                                        <p:attrNameLst>
                                          <p:attrName>style.visibility</p:attrName>
                                        </p:attrNameLst>
                                      </p:cBhvr>
                                      <p:to>
                                        <p:strVal val="visible"/>
                                      </p:to>
                                    </p:set>
                                    <p:animEffect transition="in" filter="wipe(left)">
                                      <p:cBhvr>
                                        <p:cTn id="7" dur="1000"/>
                                        <p:tgtEl>
                                          <p:spTgt spid="17414"/>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27652"/>
                                        </p:tgtEl>
                                        <p:attrNameLst>
                                          <p:attrName>style.visibility</p:attrName>
                                        </p:attrNameLst>
                                      </p:cBhvr>
                                      <p:to>
                                        <p:strVal val="visible"/>
                                      </p:to>
                                    </p:set>
                                    <p:animEffect transition="in" filter="fade">
                                      <p:cBhvr>
                                        <p:cTn id="11" dur="500"/>
                                        <p:tgtEl>
                                          <p:spTgt spid="27652"/>
                                        </p:tgtEl>
                                      </p:cBhvr>
                                    </p:animEffect>
                                  </p:childTnLst>
                                </p:cTn>
                              </p:par>
                            </p:childTnLst>
                          </p:cTn>
                        </p:par>
                        <p:par>
                          <p:cTn id="12" fill="hold">
                            <p:stCondLst>
                              <p:cond delay="1500"/>
                            </p:stCondLst>
                            <p:childTnLst>
                              <p:par>
                                <p:cTn id="13" presetID="10" presetClass="entr" presetSubtype="0"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2" grpId="0"/>
      <p:bldP spid="1741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467544" y="836712"/>
            <a:ext cx="8424936" cy="5616624"/>
          </a:xfrm>
          <a:prstGeom prst="rect">
            <a:avLst/>
          </a:prstGeom>
        </p:spPr>
        <p:txBody>
          <a:bodyPr>
            <a:noAutofit/>
          </a:bodyPr>
          <a:lstStyle/>
          <a:p>
            <a:pPr marL="365760" indent="-283464" algn="just">
              <a:lnSpc>
                <a:spcPct val="110000"/>
              </a:lnSpc>
              <a:spcBef>
                <a:spcPts val="600"/>
              </a:spcBef>
              <a:buClr>
                <a:schemeClr val="accent1"/>
              </a:buClr>
              <a:buSzPct val="80000"/>
              <a:buFont typeface="Wingdings" pitchFamily="2" charset="2"/>
              <a:buChar char="§"/>
              <a:defRPr/>
            </a:pPr>
            <a:r>
              <a:rPr lang="en-IN" sz="2400" dirty="0">
                <a:latin typeface="Times New Roman" pitchFamily="18" charset="0"/>
                <a:cs typeface="Times New Roman" pitchFamily="18" charset="0"/>
              </a:rPr>
              <a:t>This algorithm that assumes the run times are known in advance.</a:t>
            </a:r>
            <a:endParaRPr lang="en-US" sz="2400" dirty="0">
              <a:latin typeface="Times New Roman" pitchFamily="18" charset="0"/>
              <a:cs typeface="Times New Roman" pitchFamily="18" charset="0"/>
            </a:endParaRPr>
          </a:p>
          <a:p>
            <a:pPr marL="365760" indent="-283464" algn="just" fontAlgn="auto">
              <a:lnSpc>
                <a:spcPct val="110000"/>
              </a:lnSpc>
              <a:spcBef>
                <a:spcPts val="600"/>
              </a:spcBef>
              <a:spcAft>
                <a:spcPts val="0"/>
              </a:spcAft>
              <a:buClr>
                <a:schemeClr val="accent1"/>
              </a:buClr>
              <a:buSzPct val="80000"/>
              <a:buFont typeface="Wingdings" pitchFamily="2" charset="2"/>
              <a:buChar char="§"/>
              <a:defRPr/>
            </a:pPr>
            <a:r>
              <a:rPr lang="en-US" sz="2400" dirty="0">
                <a:latin typeface="Times New Roman" pitchFamily="18" charset="0"/>
                <a:cs typeface="Times New Roman" pitchFamily="18" charset="0"/>
              </a:rPr>
              <a:t>Associate with each process the length of its CPU burst. </a:t>
            </a:r>
          </a:p>
          <a:p>
            <a:pPr marL="365760" indent="-283464" algn="just" fontAlgn="auto">
              <a:lnSpc>
                <a:spcPct val="110000"/>
              </a:lnSpc>
              <a:spcBef>
                <a:spcPts val="600"/>
              </a:spcBef>
              <a:spcAft>
                <a:spcPts val="0"/>
              </a:spcAft>
              <a:buClr>
                <a:schemeClr val="accent1"/>
              </a:buClr>
              <a:buSzPct val="80000"/>
              <a:buFont typeface="Wingdings" pitchFamily="2" charset="2"/>
              <a:buChar char="§"/>
              <a:defRPr/>
            </a:pPr>
            <a:r>
              <a:rPr lang="en-US" sz="2400" dirty="0">
                <a:latin typeface="Times New Roman" pitchFamily="18" charset="0"/>
                <a:cs typeface="Times New Roman" pitchFamily="18" charset="0"/>
              </a:rPr>
              <a:t>Use these lengths to schedule the process with the shortest time.</a:t>
            </a:r>
          </a:p>
          <a:p>
            <a:pPr marL="365760" indent="-283464" algn="just" fontAlgn="auto">
              <a:lnSpc>
                <a:spcPct val="110000"/>
              </a:lnSpc>
              <a:spcBef>
                <a:spcPts val="600"/>
              </a:spcBef>
              <a:spcAft>
                <a:spcPts val="0"/>
              </a:spcAft>
              <a:buClr>
                <a:schemeClr val="accent1"/>
              </a:buClr>
              <a:buSzPct val="80000"/>
              <a:buFont typeface="Wingdings" pitchFamily="2" charset="2"/>
              <a:buChar char="§"/>
              <a:defRPr/>
            </a:pPr>
            <a:r>
              <a:rPr lang="en-US" sz="2400" dirty="0">
                <a:latin typeface="Times New Roman" pitchFamily="18" charset="0"/>
                <a:cs typeface="Times New Roman" pitchFamily="18" charset="0"/>
              </a:rPr>
              <a:t>Two schemes: </a:t>
            </a:r>
          </a:p>
          <a:p>
            <a:pPr marL="640080" lvl="1" indent="-237744" algn="just" fontAlgn="auto">
              <a:lnSpc>
                <a:spcPct val="110000"/>
              </a:lnSpc>
              <a:spcBef>
                <a:spcPts val="550"/>
              </a:spcBef>
              <a:spcAft>
                <a:spcPts val="0"/>
              </a:spcAft>
              <a:buClr>
                <a:schemeClr val="accent1"/>
              </a:buClr>
              <a:buFont typeface="Courier New" pitchFamily="49" charset="0"/>
              <a:buChar char="o"/>
              <a:defRPr/>
            </a:pPr>
            <a:r>
              <a:rPr lang="en-US" sz="2400" b="1" dirty="0">
                <a:solidFill>
                  <a:schemeClr val="accent1"/>
                </a:solidFill>
                <a:latin typeface="Times New Roman" pitchFamily="18" charset="0"/>
                <a:cs typeface="Times New Roman" pitchFamily="18" charset="0"/>
              </a:rPr>
              <a:t>Non-Preemptive:</a:t>
            </a:r>
            <a:r>
              <a:rPr lang="en-US" sz="2400" dirty="0">
                <a:latin typeface="Times New Roman" pitchFamily="18" charset="0"/>
                <a:cs typeface="Times New Roman" pitchFamily="18" charset="0"/>
              </a:rPr>
              <a:t>  once CPU given to the process it cannot be preempted until completes its CPU burst.</a:t>
            </a:r>
          </a:p>
          <a:p>
            <a:pPr marL="640080" lvl="1" indent="-237744" algn="just" fontAlgn="auto">
              <a:lnSpc>
                <a:spcPct val="110000"/>
              </a:lnSpc>
              <a:spcBef>
                <a:spcPts val="550"/>
              </a:spcBef>
              <a:spcAft>
                <a:spcPts val="0"/>
              </a:spcAft>
              <a:buClr>
                <a:schemeClr val="accent1"/>
              </a:buClr>
              <a:buFont typeface="Courier New" pitchFamily="49" charset="0"/>
              <a:buChar char="o"/>
              <a:defRPr/>
            </a:pPr>
            <a:r>
              <a:rPr lang="en-US" sz="2400" b="1" dirty="0">
                <a:solidFill>
                  <a:schemeClr val="accent1"/>
                </a:solidFill>
                <a:latin typeface="Times New Roman" pitchFamily="18" charset="0"/>
                <a:cs typeface="Times New Roman" pitchFamily="18" charset="0"/>
              </a:rPr>
              <a:t>Preemptive:</a:t>
            </a:r>
            <a:r>
              <a:rPr lang="en-US" sz="2400" dirty="0">
                <a:latin typeface="Times New Roman" pitchFamily="18" charset="0"/>
                <a:cs typeface="Times New Roman" pitchFamily="18" charset="0"/>
              </a:rPr>
              <a:t> if a new process arrives with CPU burst length less than remaining time of current executing process, preempt the current process. This scheme is know as the </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Shortest-Remaining-Time-First (SRTF).</a:t>
            </a:r>
          </a:p>
          <a:p>
            <a:pPr marL="365760" indent="-283464" algn="just" fontAlgn="auto">
              <a:lnSpc>
                <a:spcPct val="110000"/>
              </a:lnSpc>
              <a:spcBef>
                <a:spcPts val="600"/>
              </a:spcBef>
              <a:spcAft>
                <a:spcPts val="0"/>
              </a:spcAft>
              <a:buClr>
                <a:schemeClr val="accent1"/>
              </a:buClr>
              <a:buSzPct val="80000"/>
              <a:buFont typeface="Wingdings" pitchFamily="2" charset="2"/>
              <a:buChar char="§"/>
              <a:defRPr/>
            </a:pPr>
            <a:r>
              <a:rPr lang="en-US" sz="2400" b="1" dirty="0">
                <a:solidFill>
                  <a:schemeClr val="accent1"/>
                </a:solidFill>
                <a:latin typeface="Times New Roman" pitchFamily="18" charset="0"/>
                <a:cs typeface="Times New Roman" pitchFamily="18" charset="0"/>
              </a:rPr>
              <a:t>SJF is optimal:  </a:t>
            </a:r>
            <a:r>
              <a:rPr lang="en-US" sz="2400" dirty="0">
                <a:latin typeface="Times New Roman" pitchFamily="18" charset="0"/>
                <a:cs typeface="Times New Roman" pitchFamily="18" charset="0"/>
              </a:rPr>
              <a:t>gives minimum average waiting time for a given set of processes.</a:t>
            </a:r>
          </a:p>
        </p:txBody>
      </p:sp>
      <p:sp>
        <p:nvSpPr>
          <p:cNvPr id="21507" name="Rectangle 2"/>
          <p:cNvSpPr>
            <a:spLocks noGrp="1" noChangeArrowheads="1"/>
          </p:cNvSpPr>
          <p:nvPr>
            <p:ph type="title"/>
          </p:nvPr>
        </p:nvSpPr>
        <p:spPr bwMode="auto">
          <a:xfrm>
            <a:off x="971600" y="0"/>
            <a:ext cx="6718300" cy="900336"/>
          </a:xfrm>
        </p:spPr>
        <p:txBody>
          <a:bodyPr vert="horz" wrap="square" lIns="91440" tIns="45720" rIns="91440" bIns="45720" numCol="1" anchorCtr="0" compatLnSpc="1">
            <a:prstTxWarp prst="textNoShape">
              <a:avLst/>
            </a:prstTxWarp>
          </a:bodyPr>
          <a:lstStyle/>
          <a:p>
            <a:pPr eaLnBrk="1" hangingPunct="1"/>
            <a:r>
              <a:rPr lang="en-US" b="1" dirty="0">
                <a:effectLst/>
              </a:rPr>
              <a:t>Shortest Job First</a:t>
            </a:r>
          </a:p>
        </p:txBody>
      </p:sp>
      <p:sp>
        <p:nvSpPr>
          <p:cNvPr id="23556" name="Text Box 4"/>
          <p:cNvSpPr txBox="1">
            <a:spLocks noChangeArrowheads="1"/>
          </p:cNvSpPr>
          <p:nvPr/>
        </p:nvSpPr>
        <p:spPr bwMode="auto">
          <a:xfrm>
            <a:off x="7648575" y="319088"/>
            <a:ext cx="1100138" cy="366712"/>
          </a:xfrm>
          <a:prstGeom prst="rect">
            <a:avLst/>
          </a:prstGeom>
          <a:noFill/>
          <a:ln w="9525">
            <a:noFill/>
            <a:miter lim="800000"/>
            <a:headEnd/>
            <a:tailEnd/>
          </a:ln>
        </p:spPr>
        <p:txBody>
          <a:bodyPr wrap="none">
            <a:spAutoFit/>
          </a:bodyPr>
          <a:lstStyle/>
          <a:p>
            <a:pPr eaLnBrk="0" hangingPunct="0"/>
            <a:r>
              <a:rPr lang="en-US" b="1">
                <a:solidFill>
                  <a:srgbClr val="7F7F7F"/>
                </a:solidFill>
                <a:latin typeface="Gill Sans MT" pitchFamily="34" charset="0"/>
              </a:rPr>
              <a:t>CONT…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1507"/>
                                        </p:tgtEl>
                                        <p:attrNameLst>
                                          <p:attrName>style.visibility</p:attrName>
                                        </p:attrNameLst>
                                      </p:cBhvr>
                                      <p:to>
                                        <p:strVal val="visible"/>
                                      </p:to>
                                    </p:set>
                                    <p:animEffect transition="in" filter="wipe(left)">
                                      <p:cBhvr>
                                        <p:cTn id="7" dur="1000"/>
                                        <p:tgtEl>
                                          <p:spTgt spid="21507"/>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150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bwMode="auto">
          <a:xfrm>
            <a:off x="251520" y="152400"/>
            <a:ext cx="8568952" cy="1143000"/>
          </a:xfrm>
        </p:spPr>
        <p:txBody>
          <a:bodyPr vert="horz" wrap="square" lIns="91440" tIns="45720" rIns="91440" bIns="45720" numCol="1" anchorCtr="0" compatLnSpc="1">
            <a:prstTxWarp prst="textNoShape">
              <a:avLst/>
            </a:prstTxWarp>
            <a:normAutofit fontScale="90000"/>
          </a:bodyPr>
          <a:lstStyle/>
          <a:p>
            <a:r>
              <a:rPr lang="en-GB" dirty="0"/>
              <a:t>Example #1: Non-</a:t>
            </a:r>
            <a:r>
              <a:rPr lang="en-GB" dirty="0" err="1"/>
              <a:t>Preemptive</a:t>
            </a:r>
            <a:r>
              <a:rPr lang="en-GB" dirty="0"/>
              <a:t> SJF</a:t>
            </a:r>
            <a:br>
              <a:rPr lang="en-GB" dirty="0"/>
            </a:br>
            <a:r>
              <a:rPr lang="en-GB" dirty="0"/>
              <a:t>(simultaneous arrival)</a:t>
            </a:r>
            <a:endParaRPr lang="en-US" b="1" dirty="0">
              <a:effectLst/>
              <a:latin typeface="Tahoma" pitchFamily="34" charset="0"/>
              <a:cs typeface="Tahoma" pitchFamily="34" charset="0"/>
            </a:endParaRPr>
          </a:p>
        </p:txBody>
      </p:sp>
      <p:sp>
        <p:nvSpPr>
          <p:cNvPr id="14" name="Rectangle 39"/>
          <p:cNvSpPr>
            <a:spLocks noChangeArrowheads="1"/>
          </p:cNvSpPr>
          <p:nvPr/>
        </p:nvSpPr>
        <p:spPr bwMode="auto">
          <a:xfrm>
            <a:off x="4041775" y="1366838"/>
            <a:ext cx="1749425" cy="461962"/>
          </a:xfrm>
          <a:prstGeom prst="rect">
            <a:avLst/>
          </a:prstGeom>
          <a:noFill/>
          <a:ln w="9525">
            <a:noFill/>
            <a:miter lim="800000"/>
            <a:headEnd/>
            <a:tailEnd/>
          </a:ln>
          <a:effectLst/>
        </p:spPr>
        <p:txBody>
          <a:bodyPr wrap="none">
            <a:spAutoFit/>
          </a:bodyPr>
          <a:lstStyle/>
          <a:p>
            <a:pPr algn="ctr" fontAlgn="auto">
              <a:spcBef>
                <a:spcPts val="0"/>
              </a:spcBef>
              <a:spcAft>
                <a:spcPts val="0"/>
              </a:spcAft>
              <a:defRPr/>
            </a:pPr>
            <a:r>
              <a:rPr kumimoji="1" lang="en-US" sz="2400" b="1" u="sng" dirty="0">
                <a:solidFill>
                  <a:schemeClr val="accent5"/>
                </a:solidFill>
                <a:latin typeface="Garamond" pitchFamily="18" charset="0"/>
                <a:cs typeface="+mn-cs"/>
              </a:rPr>
              <a:t>Normal SJF</a:t>
            </a:r>
          </a:p>
        </p:txBody>
      </p:sp>
      <p:sp>
        <p:nvSpPr>
          <p:cNvPr id="18438" name="Rectangle 6"/>
          <p:cNvSpPr>
            <a:spLocks noChangeArrowheads="1"/>
          </p:cNvSpPr>
          <p:nvPr/>
        </p:nvSpPr>
        <p:spPr bwMode="auto">
          <a:xfrm>
            <a:off x="611560" y="1524000"/>
            <a:ext cx="8227640" cy="4876800"/>
          </a:xfrm>
          <a:prstGeom prst="rect">
            <a:avLst/>
          </a:prstGeom>
          <a:noFill/>
          <a:ln w="9525">
            <a:noFill/>
            <a:miter lim="800000"/>
            <a:headEnd/>
            <a:tailEnd/>
          </a:ln>
        </p:spPr>
        <p:txBody>
          <a:bodyPr/>
          <a:lstStyle/>
          <a:p>
            <a:pPr marL="342900" indent="-342900" algn="ctr">
              <a:spcBef>
                <a:spcPct val="20000"/>
              </a:spcBef>
              <a:buClr>
                <a:schemeClr val="accent1"/>
              </a:buClr>
              <a:buSzPct val="65000"/>
              <a:buFont typeface="Wingdings" pitchFamily="2" charset="2"/>
              <a:buNone/>
              <a:tabLst>
                <a:tab pos="1603375" algn="ctr"/>
                <a:tab pos="3254375" algn="ctr"/>
                <a:tab pos="5143500" algn="ctr"/>
              </a:tabLst>
            </a:pPr>
            <a:r>
              <a:rPr lang="en-US" sz="2400" b="1" dirty="0">
                <a:latin typeface="Gill Sans MT" pitchFamily="34" charset="0"/>
              </a:rPr>
              <a:t>  </a:t>
            </a:r>
          </a:p>
          <a:p>
            <a:pPr marL="342900" indent="-342900" algn="ctr">
              <a:spcBef>
                <a:spcPct val="20000"/>
              </a:spcBef>
              <a:buClr>
                <a:schemeClr val="accent1"/>
              </a:buClr>
              <a:buSzPct val="65000"/>
              <a:buFont typeface="Wingdings" pitchFamily="2" charset="2"/>
              <a:buNone/>
              <a:tabLst>
                <a:tab pos="1603375" algn="ctr"/>
                <a:tab pos="3254375" algn="ctr"/>
                <a:tab pos="5143500" algn="ctr"/>
              </a:tabLst>
            </a:pPr>
            <a:r>
              <a:rPr lang="en-US" sz="2400" b="1" u="sng" dirty="0">
                <a:latin typeface="Garamond" pitchFamily="18" charset="0"/>
              </a:rPr>
              <a:t>Process</a:t>
            </a:r>
            <a:r>
              <a:rPr lang="en-US" sz="2400" b="1" dirty="0">
                <a:latin typeface="Garamond" pitchFamily="18" charset="0"/>
              </a:rPr>
              <a:t>		</a:t>
            </a:r>
            <a:r>
              <a:rPr lang="en-US" sz="2400" b="1" u="sng" dirty="0">
                <a:latin typeface="Garamond" pitchFamily="18" charset="0"/>
              </a:rPr>
              <a:t>Burst Time</a:t>
            </a:r>
          </a:p>
          <a:p>
            <a:pPr marL="342900" indent="-342900">
              <a:spcBef>
                <a:spcPct val="20000"/>
              </a:spcBef>
              <a:buClr>
                <a:schemeClr val="accent1"/>
              </a:buClr>
              <a:buSzPct val="65000"/>
              <a:buFont typeface="Wingdings" pitchFamily="2" charset="2"/>
              <a:buNone/>
              <a:tabLst>
                <a:tab pos="1603375" algn="ctr"/>
                <a:tab pos="3254375" algn="ctr"/>
                <a:tab pos="5143500" algn="ctr"/>
              </a:tabLst>
            </a:pPr>
            <a:r>
              <a:rPr lang="en-US" sz="2400" b="1" dirty="0">
                <a:latin typeface="Garamond" pitchFamily="18" charset="0"/>
              </a:rPr>
              <a:t>		               </a:t>
            </a:r>
            <a:r>
              <a:rPr lang="en-US" sz="2400" b="1" i="1" dirty="0">
                <a:latin typeface="Garamond" pitchFamily="18" charset="0"/>
              </a:rPr>
              <a:t>P</a:t>
            </a:r>
            <a:r>
              <a:rPr lang="en-US" sz="2400" b="1" i="1" baseline="-25000" dirty="0">
                <a:latin typeface="Garamond" pitchFamily="18" charset="0"/>
              </a:rPr>
              <a:t>1</a:t>
            </a:r>
            <a:r>
              <a:rPr lang="en-US" sz="2400" b="1" dirty="0">
                <a:latin typeface="Garamond" pitchFamily="18" charset="0"/>
              </a:rPr>
              <a:t>		7</a:t>
            </a:r>
          </a:p>
          <a:p>
            <a:pPr marL="342900" indent="-342900">
              <a:spcBef>
                <a:spcPct val="20000"/>
              </a:spcBef>
              <a:buClr>
                <a:schemeClr val="accent1"/>
              </a:buClr>
              <a:buSzPct val="65000"/>
              <a:buFont typeface="Wingdings" pitchFamily="2" charset="2"/>
              <a:buNone/>
              <a:tabLst>
                <a:tab pos="1603375" algn="ctr"/>
                <a:tab pos="3254375" algn="ctr"/>
                <a:tab pos="5143500" algn="ctr"/>
              </a:tabLst>
            </a:pPr>
            <a:r>
              <a:rPr lang="en-US" sz="2400" b="1" dirty="0">
                <a:latin typeface="Garamond" pitchFamily="18" charset="0"/>
              </a:rPr>
              <a:t>	        	              </a:t>
            </a:r>
            <a:r>
              <a:rPr lang="en-US" sz="2400" b="1" i="1" dirty="0">
                <a:latin typeface="Garamond" pitchFamily="18" charset="0"/>
              </a:rPr>
              <a:t>P</a:t>
            </a:r>
            <a:r>
              <a:rPr lang="en-US" sz="2400" b="1" i="1" baseline="-25000" dirty="0">
                <a:latin typeface="Garamond" pitchFamily="18" charset="0"/>
              </a:rPr>
              <a:t>2		</a:t>
            </a:r>
            <a:r>
              <a:rPr lang="en-US" sz="2400" b="1" dirty="0">
                <a:latin typeface="Garamond" pitchFamily="18" charset="0"/>
              </a:rPr>
              <a:t>3</a:t>
            </a:r>
          </a:p>
          <a:p>
            <a:pPr marL="342900" indent="-342900">
              <a:spcBef>
                <a:spcPct val="20000"/>
              </a:spcBef>
              <a:buClr>
                <a:schemeClr val="accent1"/>
              </a:buClr>
              <a:buSzPct val="65000"/>
              <a:buFont typeface="Wingdings" pitchFamily="2" charset="2"/>
              <a:buNone/>
              <a:tabLst>
                <a:tab pos="1603375" algn="ctr"/>
                <a:tab pos="3254375" algn="ctr"/>
                <a:tab pos="5143500" algn="ctr"/>
              </a:tabLst>
            </a:pPr>
            <a:r>
              <a:rPr lang="en-US" sz="2400" b="1" dirty="0">
                <a:latin typeface="Garamond" pitchFamily="18" charset="0"/>
              </a:rPr>
              <a:t>	 	               </a:t>
            </a:r>
            <a:r>
              <a:rPr lang="en-US" sz="2400" b="1" i="1" dirty="0">
                <a:latin typeface="Garamond" pitchFamily="18" charset="0"/>
              </a:rPr>
              <a:t>P</a:t>
            </a:r>
            <a:r>
              <a:rPr lang="en-US" sz="2400" b="1" i="1" baseline="-25000" dirty="0">
                <a:latin typeface="Garamond" pitchFamily="18" charset="0"/>
              </a:rPr>
              <a:t>3</a:t>
            </a:r>
            <a:r>
              <a:rPr lang="en-US" sz="2400" b="1" dirty="0">
                <a:latin typeface="Garamond" pitchFamily="18" charset="0"/>
              </a:rPr>
              <a:t>		4</a:t>
            </a:r>
          </a:p>
          <a:p>
            <a:pPr marL="342900" indent="-342900">
              <a:spcBef>
                <a:spcPct val="20000"/>
              </a:spcBef>
              <a:buClr>
                <a:schemeClr val="accent1"/>
              </a:buClr>
              <a:buSzPct val="65000"/>
              <a:buFont typeface="Wingdings" pitchFamily="2" charset="2"/>
              <a:buNone/>
              <a:tabLst>
                <a:tab pos="1603375" algn="ctr"/>
                <a:tab pos="3254375" algn="ctr"/>
                <a:tab pos="5143500" algn="ctr"/>
              </a:tabLst>
            </a:pPr>
            <a:endParaRPr lang="en-US" sz="2400" b="1" dirty="0">
              <a:latin typeface="Garamond" pitchFamily="18" charset="0"/>
            </a:endParaRPr>
          </a:p>
          <a:p>
            <a:pPr marL="342900" indent="-342900">
              <a:spcBef>
                <a:spcPct val="20000"/>
              </a:spcBef>
              <a:buClr>
                <a:schemeClr val="accent1"/>
              </a:buClr>
              <a:buSzPct val="65000"/>
              <a:buFont typeface="Wingdings" pitchFamily="2" charset="2"/>
              <a:buNone/>
              <a:tabLst>
                <a:tab pos="1603375" algn="ctr"/>
                <a:tab pos="3254375" algn="ctr"/>
                <a:tab pos="5143500" algn="ctr"/>
              </a:tabLst>
            </a:pPr>
            <a:r>
              <a:rPr lang="en-US" sz="2400" b="1" dirty="0">
                <a:latin typeface="Garamond" pitchFamily="18" charset="0"/>
              </a:rPr>
              <a:t>Arrival Time of all processes is 0		</a:t>
            </a:r>
          </a:p>
          <a:p>
            <a:pPr marL="342900" indent="-342900">
              <a:spcBef>
                <a:spcPct val="20000"/>
              </a:spcBef>
              <a:buClr>
                <a:schemeClr val="accent1"/>
              </a:buClr>
              <a:buSzPct val="65000"/>
              <a:tabLst>
                <a:tab pos="1603375" algn="ctr"/>
                <a:tab pos="3254375" algn="ctr"/>
                <a:tab pos="5143500" algn="ctr"/>
              </a:tabLst>
            </a:pPr>
            <a:r>
              <a:rPr lang="en-US" sz="2400" b="1" dirty="0">
                <a:latin typeface="Garamond" pitchFamily="18" charset="0"/>
              </a:rPr>
              <a:t>The Gantt Chart for SJF (Normal) is:</a:t>
            </a:r>
          </a:p>
          <a:p>
            <a:pPr marL="342900" indent="-342900">
              <a:spcBef>
                <a:spcPct val="20000"/>
              </a:spcBef>
              <a:buClr>
                <a:schemeClr val="accent1"/>
              </a:buClr>
              <a:buSzPct val="65000"/>
              <a:buFont typeface="Wingdings" pitchFamily="2" charset="2"/>
              <a:buChar char="n"/>
              <a:tabLst>
                <a:tab pos="1603375" algn="ctr"/>
                <a:tab pos="3254375" algn="ctr"/>
                <a:tab pos="5143500" algn="ctr"/>
              </a:tabLst>
            </a:pPr>
            <a:endParaRPr lang="en-US" sz="2400" b="1" dirty="0">
              <a:latin typeface="Garamond" pitchFamily="18" charset="0"/>
            </a:endParaRPr>
          </a:p>
          <a:p>
            <a:pPr marL="342900" indent="-342900">
              <a:spcBef>
                <a:spcPct val="20000"/>
              </a:spcBef>
              <a:buClr>
                <a:schemeClr val="accent1"/>
              </a:buClr>
              <a:buSzPct val="65000"/>
              <a:buFont typeface="Wingdings" pitchFamily="2" charset="2"/>
              <a:buChar char="n"/>
              <a:tabLst>
                <a:tab pos="1603375" algn="ctr"/>
                <a:tab pos="3254375" algn="ctr"/>
                <a:tab pos="5143500" algn="ctr"/>
              </a:tabLst>
            </a:pPr>
            <a:endParaRPr lang="en-US" sz="2400" b="1" dirty="0">
              <a:latin typeface="Garamond" pitchFamily="18" charset="0"/>
            </a:endParaRPr>
          </a:p>
          <a:p>
            <a:pPr marL="342900" indent="-342900">
              <a:spcBef>
                <a:spcPct val="20000"/>
              </a:spcBef>
              <a:buClr>
                <a:schemeClr val="accent1"/>
              </a:buClr>
              <a:buSzPct val="65000"/>
              <a:buFont typeface="Wingdings" pitchFamily="2" charset="2"/>
              <a:buChar char="n"/>
              <a:tabLst>
                <a:tab pos="1603375" algn="ctr"/>
                <a:tab pos="3254375" algn="ctr"/>
                <a:tab pos="5143500" algn="ctr"/>
              </a:tabLst>
            </a:pPr>
            <a:endParaRPr lang="en-US" sz="2400" b="1" dirty="0">
              <a:latin typeface="Garamond" pitchFamily="18" charset="0"/>
            </a:endParaRPr>
          </a:p>
          <a:p>
            <a:pPr marL="342900" indent="-342900">
              <a:spcBef>
                <a:spcPct val="20000"/>
              </a:spcBef>
              <a:buClr>
                <a:schemeClr val="accent1"/>
              </a:buClr>
              <a:buSzPct val="65000"/>
              <a:buFont typeface="Wingdings" pitchFamily="2" charset="2"/>
              <a:buChar char="n"/>
              <a:tabLst>
                <a:tab pos="1603375" algn="ctr"/>
                <a:tab pos="3254375" algn="ctr"/>
                <a:tab pos="5143500" algn="ctr"/>
              </a:tabLst>
            </a:pPr>
            <a:r>
              <a:rPr lang="en-US" sz="2400" b="1" dirty="0">
                <a:latin typeface="Garamond" pitchFamily="18" charset="0"/>
              </a:rPr>
              <a:t>Average waiting time = (0 + 3 + 7)/3 = 3.33</a:t>
            </a:r>
            <a:endParaRPr lang="en-US" sz="2400" b="1" i="1" baseline="-25000" dirty="0">
              <a:latin typeface="Garamond" pitchFamily="18" charset="0"/>
            </a:endParaRPr>
          </a:p>
        </p:txBody>
      </p:sp>
      <p:sp>
        <p:nvSpPr>
          <p:cNvPr id="18440" name="Rectangle 40"/>
          <p:cNvSpPr>
            <a:spLocks noChangeArrowheads="1"/>
          </p:cNvSpPr>
          <p:nvPr/>
        </p:nvSpPr>
        <p:spPr bwMode="auto">
          <a:xfrm>
            <a:off x="2743200" y="1905000"/>
            <a:ext cx="4495800" cy="1981200"/>
          </a:xfrm>
          <a:prstGeom prst="rect">
            <a:avLst/>
          </a:prstGeom>
          <a:noFill/>
          <a:ln w="9525">
            <a:solidFill>
              <a:schemeClr val="tx1"/>
            </a:solidFill>
            <a:miter lim="800000"/>
            <a:headEnd/>
            <a:tailEnd/>
          </a:ln>
        </p:spPr>
        <p:txBody>
          <a:bodyPr wrap="none" anchor="ctr"/>
          <a:lstStyle/>
          <a:p>
            <a:endParaRPr lang="en-US">
              <a:latin typeface="Gill Sans MT" pitchFamily="34" charset="0"/>
            </a:endParaRPr>
          </a:p>
        </p:txBody>
      </p:sp>
      <p:grpSp>
        <p:nvGrpSpPr>
          <p:cNvPr id="2" name="Group 33"/>
          <p:cNvGrpSpPr>
            <a:grpSpLocks/>
          </p:cNvGrpSpPr>
          <p:nvPr/>
        </p:nvGrpSpPr>
        <p:grpSpPr bwMode="auto">
          <a:xfrm>
            <a:off x="1187624" y="5229200"/>
            <a:ext cx="4746625" cy="1131888"/>
            <a:chOff x="1787525" y="4800600"/>
            <a:chExt cx="4746625" cy="1131888"/>
          </a:xfrm>
        </p:grpSpPr>
        <p:grpSp>
          <p:nvGrpSpPr>
            <p:cNvPr id="3" name="Group 7"/>
            <p:cNvGrpSpPr>
              <a:grpSpLocks/>
            </p:cNvGrpSpPr>
            <p:nvPr/>
          </p:nvGrpSpPr>
          <p:grpSpPr bwMode="auto">
            <a:xfrm>
              <a:off x="1787525" y="4800600"/>
              <a:ext cx="4746625" cy="1131888"/>
              <a:chOff x="864" y="2325"/>
              <a:chExt cx="2990" cy="713"/>
            </a:xfrm>
          </p:grpSpPr>
          <p:sp>
            <p:nvSpPr>
              <p:cNvPr id="20492" name="Rectangle 8"/>
              <p:cNvSpPr>
                <a:spLocks noChangeArrowheads="1"/>
              </p:cNvSpPr>
              <p:nvPr/>
            </p:nvSpPr>
            <p:spPr bwMode="auto">
              <a:xfrm flipH="1">
                <a:off x="960" y="2325"/>
                <a:ext cx="2762" cy="384"/>
              </a:xfrm>
              <a:prstGeom prst="rect">
                <a:avLst/>
              </a:prstGeom>
              <a:solidFill>
                <a:schemeClr val="bg1"/>
              </a:solidFill>
              <a:ln w="9525">
                <a:solidFill>
                  <a:schemeClr val="tx1"/>
                </a:solidFill>
                <a:miter lim="800000"/>
                <a:headEnd/>
                <a:tailEnd/>
              </a:ln>
            </p:spPr>
            <p:txBody>
              <a:bodyPr wrap="none" anchor="ctr"/>
              <a:lstStyle/>
              <a:p>
                <a:endParaRPr lang="en-US">
                  <a:latin typeface="Gill Sans MT" pitchFamily="34" charset="0"/>
                </a:endParaRPr>
              </a:p>
            </p:txBody>
          </p:sp>
          <p:sp>
            <p:nvSpPr>
              <p:cNvPr id="20493" name="Text Box 9"/>
              <p:cNvSpPr txBox="1">
                <a:spLocks noChangeArrowheads="1"/>
              </p:cNvSpPr>
              <p:nvPr/>
            </p:nvSpPr>
            <p:spPr bwMode="auto">
              <a:xfrm flipH="1">
                <a:off x="1159" y="2373"/>
                <a:ext cx="259"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Helvetica" pitchFamily="34" charset="0"/>
                  </a:rPr>
                  <a:t>P</a:t>
                </a:r>
                <a:r>
                  <a:rPr lang="en-US" baseline="-25000">
                    <a:latin typeface="Helvetica" pitchFamily="34" charset="0"/>
                  </a:rPr>
                  <a:t>2</a:t>
                </a:r>
                <a:endParaRPr lang="en-US">
                  <a:latin typeface="Helvetica" pitchFamily="34" charset="0"/>
                </a:endParaRPr>
              </a:p>
            </p:txBody>
          </p:sp>
          <p:sp>
            <p:nvSpPr>
              <p:cNvPr id="20494" name="Text Box 10"/>
              <p:cNvSpPr txBox="1">
                <a:spLocks noChangeArrowheads="1"/>
              </p:cNvSpPr>
              <p:nvPr/>
            </p:nvSpPr>
            <p:spPr bwMode="auto">
              <a:xfrm flipH="1">
                <a:off x="1898" y="2373"/>
                <a:ext cx="259"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Helvetica" pitchFamily="34" charset="0"/>
                  </a:rPr>
                  <a:t>P</a:t>
                </a:r>
                <a:r>
                  <a:rPr lang="en-US" baseline="-25000">
                    <a:latin typeface="Helvetica" pitchFamily="34" charset="0"/>
                  </a:rPr>
                  <a:t>3</a:t>
                </a:r>
                <a:endParaRPr lang="en-US">
                  <a:latin typeface="Helvetica" pitchFamily="34" charset="0"/>
                </a:endParaRPr>
              </a:p>
            </p:txBody>
          </p:sp>
          <p:sp>
            <p:nvSpPr>
              <p:cNvPr id="20495" name="Text Box 11"/>
              <p:cNvSpPr txBox="1">
                <a:spLocks noChangeArrowheads="1"/>
              </p:cNvSpPr>
              <p:nvPr/>
            </p:nvSpPr>
            <p:spPr bwMode="auto">
              <a:xfrm flipH="1">
                <a:off x="2976" y="2373"/>
                <a:ext cx="286"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Helvetica" pitchFamily="34" charset="0"/>
                  </a:rPr>
                  <a:t>P1</a:t>
                </a:r>
              </a:p>
            </p:txBody>
          </p:sp>
          <p:sp>
            <p:nvSpPr>
              <p:cNvPr id="20496" name="Line 13"/>
              <p:cNvSpPr>
                <a:spLocks noChangeShapeType="1"/>
              </p:cNvSpPr>
              <p:nvPr/>
            </p:nvSpPr>
            <p:spPr bwMode="auto">
              <a:xfrm flipH="1">
                <a:off x="960" y="2709"/>
                <a:ext cx="0" cy="144"/>
              </a:xfrm>
              <a:prstGeom prst="line">
                <a:avLst/>
              </a:prstGeom>
              <a:noFill/>
              <a:ln w="9525">
                <a:solidFill>
                  <a:schemeClr val="tx1"/>
                </a:solidFill>
                <a:round/>
                <a:headEnd/>
                <a:tailEnd/>
              </a:ln>
            </p:spPr>
            <p:txBody>
              <a:bodyPr wrap="none" anchor="ctr"/>
              <a:lstStyle/>
              <a:p>
                <a:endParaRPr lang="en-IN"/>
              </a:p>
            </p:txBody>
          </p:sp>
          <p:sp>
            <p:nvSpPr>
              <p:cNvPr id="20497" name="Line 14"/>
              <p:cNvSpPr>
                <a:spLocks noChangeShapeType="1"/>
              </p:cNvSpPr>
              <p:nvPr/>
            </p:nvSpPr>
            <p:spPr bwMode="auto">
              <a:xfrm flipH="1">
                <a:off x="2378" y="2325"/>
                <a:ext cx="0" cy="384"/>
              </a:xfrm>
              <a:prstGeom prst="line">
                <a:avLst/>
              </a:prstGeom>
              <a:noFill/>
              <a:ln w="9525">
                <a:solidFill>
                  <a:schemeClr val="tx1"/>
                </a:solidFill>
                <a:round/>
                <a:headEnd/>
                <a:tailEnd/>
              </a:ln>
            </p:spPr>
            <p:txBody>
              <a:bodyPr wrap="none" anchor="ctr"/>
              <a:lstStyle/>
              <a:p>
                <a:endParaRPr lang="en-IN"/>
              </a:p>
            </p:txBody>
          </p:sp>
          <p:sp>
            <p:nvSpPr>
              <p:cNvPr id="20498" name="Line 15"/>
              <p:cNvSpPr>
                <a:spLocks noChangeShapeType="1"/>
              </p:cNvSpPr>
              <p:nvPr/>
            </p:nvSpPr>
            <p:spPr bwMode="auto">
              <a:xfrm flipH="1">
                <a:off x="1610" y="2325"/>
                <a:ext cx="0" cy="384"/>
              </a:xfrm>
              <a:prstGeom prst="line">
                <a:avLst/>
              </a:prstGeom>
              <a:noFill/>
              <a:ln w="9525">
                <a:solidFill>
                  <a:schemeClr val="tx1"/>
                </a:solidFill>
                <a:round/>
                <a:headEnd/>
                <a:tailEnd/>
              </a:ln>
            </p:spPr>
            <p:txBody>
              <a:bodyPr wrap="none" anchor="ctr"/>
              <a:lstStyle/>
              <a:p>
                <a:endParaRPr lang="en-IN"/>
              </a:p>
            </p:txBody>
          </p:sp>
          <p:sp>
            <p:nvSpPr>
              <p:cNvPr id="20499" name="Line 17"/>
              <p:cNvSpPr>
                <a:spLocks noChangeShapeType="1"/>
              </p:cNvSpPr>
              <p:nvPr/>
            </p:nvSpPr>
            <p:spPr bwMode="auto">
              <a:xfrm flipH="1">
                <a:off x="1392" y="2638"/>
                <a:ext cx="0" cy="144"/>
              </a:xfrm>
              <a:prstGeom prst="line">
                <a:avLst/>
              </a:prstGeom>
              <a:noFill/>
              <a:ln w="9525">
                <a:solidFill>
                  <a:schemeClr val="tx1"/>
                </a:solidFill>
                <a:round/>
                <a:headEnd/>
                <a:tailEnd/>
              </a:ln>
            </p:spPr>
            <p:txBody>
              <a:bodyPr wrap="none" anchor="ctr"/>
              <a:lstStyle/>
              <a:p>
                <a:endParaRPr lang="en-IN"/>
              </a:p>
            </p:txBody>
          </p:sp>
          <p:sp>
            <p:nvSpPr>
              <p:cNvPr id="20500" name="Text Box 18"/>
              <p:cNvSpPr txBox="1">
                <a:spLocks noChangeArrowheads="1"/>
              </p:cNvSpPr>
              <p:nvPr/>
            </p:nvSpPr>
            <p:spPr bwMode="auto">
              <a:xfrm flipH="1">
                <a:off x="2282" y="2805"/>
                <a:ext cx="196" cy="231"/>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Helvetica" pitchFamily="34" charset="0"/>
                  </a:rPr>
                  <a:t>7</a:t>
                </a:r>
              </a:p>
            </p:txBody>
          </p:sp>
          <p:sp>
            <p:nvSpPr>
              <p:cNvPr id="20501" name="Text Box 19"/>
              <p:cNvSpPr txBox="1">
                <a:spLocks noChangeArrowheads="1"/>
              </p:cNvSpPr>
              <p:nvPr/>
            </p:nvSpPr>
            <p:spPr bwMode="auto">
              <a:xfrm flipH="1">
                <a:off x="1492" y="2805"/>
                <a:ext cx="196" cy="231"/>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Helvetica" pitchFamily="34" charset="0"/>
                  </a:rPr>
                  <a:t>3</a:t>
                </a:r>
              </a:p>
            </p:txBody>
          </p:sp>
          <p:sp>
            <p:nvSpPr>
              <p:cNvPr id="20502" name="Text Box 21"/>
              <p:cNvSpPr txBox="1">
                <a:spLocks noChangeArrowheads="1"/>
              </p:cNvSpPr>
              <p:nvPr/>
            </p:nvSpPr>
            <p:spPr bwMode="auto">
              <a:xfrm flipH="1">
                <a:off x="864" y="2805"/>
                <a:ext cx="196" cy="231"/>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Helvetica" pitchFamily="34" charset="0"/>
                  </a:rPr>
                  <a:t>0</a:t>
                </a:r>
              </a:p>
            </p:txBody>
          </p:sp>
          <p:sp>
            <p:nvSpPr>
              <p:cNvPr id="20503" name="Line 24"/>
              <p:cNvSpPr>
                <a:spLocks noChangeShapeType="1"/>
              </p:cNvSpPr>
              <p:nvPr/>
            </p:nvSpPr>
            <p:spPr bwMode="auto">
              <a:xfrm flipH="1">
                <a:off x="1152" y="2638"/>
                <a:ext cx="0" cy="144"/>
              </a:xfrm>
              <a:prstGeom prst="line">
                <a:avLst/>
              </a:prstGeom>
              <a:noFill/>
              <a:ln w="9525">
                <a:solidFill>
                  <a:schemeClr val="tx1"/>
                </a:solidFill>
                <a:round/>
                <a:headEnd/>
                <a:tailEnd/>
              </a:ln>
            </p:spPr>
            <p:txBody>
              <a:bodyPr wrap="none" anchor="ctr"/>
              <a:lstStyle/>
              <a:p>
                <a:endParaRPr lang="en-IN"/>
              </a:p>
            </p:txBody>
          </p:sp>
          <p:sp>
            <p:nvSpPr>
              <p:cNvPr id="20504" name="Line 25"/>
              <p:cNvSpPr>
                <a:spLocks noChangeShapeType="1"/>
              </p:cNvSpPr>
              <p:nvPr/>
            </p:nvSpPr>
            <p:spPr bwMode="auto">
              <a:xfrm flipH="1">
                <a:off x="1610" y="2638"/>
                <a:ext cx="0" cy="144"/>
              </a:xfrm>
              <a:prstGeom prst="line">
                <a:avLst/>
              </a:prstGeom>
              <a:noFill/>
              <a:ln w="9525">
                <a:solidFill>
                  <a:schemeClr val="tx1"/>
                </a:solidFill>
                <a:round/>
                <a:headEnd/>
                <a:tailEnd/>
              </a:ln>
            </p:spPr>
            <p:txBody>
              <a:bodyPr wrap="none" anchor="ctr"/>
              <a:lstStyle/>
              <a:p>
                <a:endParaRPr lang="en-IN"/>
              </a:p>
            </p:txBody>
          </p:sp>
          <p:sp>
            <p:nvSpPr>
              <p:cNvPr id="20505" name="Line 26"/>
              <p:cNvSpPr>
                <a:spLocks noChangeShapeType="1"/>
              </p:cNvSpPr>
              <p:nvPr/>
            </p:nvSpPr>
            <p:spPr bwMode="auto">
              <a:xfrm flipH="1">
                <a:off x="1802" y="2638"/>
                <a:ext cx="0" cy="144"/>
              </a:xfrm>
              <a:prstGeom prst="line">
                <a:avLst/>
              </a:prstGeom>
              <a:noFill/>
              <a:ln w="9525">
                <a:solidFill>
                  <a:schemeClr val="tx1"/>
                </a:solidFill>
                <a:round/>
                <a:headEnd/>
                <a:tailEnd/>
              </a:ln>
            </p:spPr>
            <p:txBody>
              <a:bodyPr wrap="none" anchor="ctr"/>
              <a:lstStyle/>
              <a:p>
                <a:endParaRPr lang="en-IN"/>
              </a:p>
            </p:txBody>
          </p:sp>
          <p:sp>
            <p:nvSpPr>
              <p:cNvPr id="20506" name="Line 27"/>
              <p:cNvSpPr>
                <a:spLocks noChangeShapeType="1"/>
              </p:cNvSpPr>
              <p:nvPr/>
            </p:nvSpPr>
            <p:spPr bwMode="auto">
              <a:xfrm flipH="1">
                <a:off x="1994" y="2638"/>
                <a:ext cx="0" cy="144"/>
              </a:xfrm>
              <a:prstGeom prst="line">
                <a:avLst/>
              </a:prstGeom>
              <a:noFill/>
              <a:ln w="9525">
                <a:solidFill>
                  <a:schemeClr val="tx1"/>
                </a:solidFill>
                <a:round/>
                <a:headEnd/>
                <a:tailEnd/>
              </a:ln>
            </p:spPr>
            <p:txBody>
              <a:bodyPr wrap="none" anchor="ctr"/>
              <a:lstStyle/>
              <a:p>
                <a:endParaRPr lang="en-IN"/>
              </a:p>
            </p:txBody>
          </p:sp>
          <p:sp>
            <p:nvSpPr>
              <p:cNvPr id="20507" name="Line 28"/>
              <p:cNvSpPr>
                <a:spLocks noChangeShapeType="1"/>
              </p:cNvSpPr>
              <p:nvPr/>
            </p:nvSpPr>
            <p:spPr bwMode="auto">
              <a:xfrm flipH="1">
                <a:off x="2186" y="2638"/>
                <a:ext cx="0" cy="144"/>
              </a:xfrm>
              <a:prstGeom prst="line">
                <a:avLst/>
              </a:prstGeom>
              <a:noFill/>
              <a:ln w="9525">
                <a:solidFill>
                  <a:schemeClr val="tx1"/>
                </a:solidFill>
                <a:round/>
                <a:headEnd/>
                <a:tailEnd/>
              </a:ln>
            </p:spPr>
            <p:txBody>
              <a:bodyPr wrap="none" anchor="ctr"/>
              <a:lstStyle/>
              <a:p>
                <a:endParaRPr lang="en-IN"/>
              </a:p>
            </p:txBody>
          </p:sp>
          <p:sp>
            <p:nvSpPr>
              <p:cNvPr id="20508" name="Line 31"/>
              <p:cNvSpPr>
                <a:spLocks noChangeShapeType="1"/>
              </p:cNvSpPr>
              <p:nvPr/>
            </p:nvSpPr>
            <p:spPr bwMode="auto">
              <a:xfrm flipH="1">
                <a:off x="2762" y="2661"/>
                <a:ext cx="0" cy="144"/>
              </a:xfrm>
              <a:prstGeom prst="line">
                <a:avLst/>
              </a:prstGeom>
              <a:noFill/>
              <a:ln w="9525">
                <a:solidFill>
                  <a:schemeClr val="tx1"/>
                </a:solidFill>
                <a:round/>
                <a:headEnd/>
                <a:tailEnd/>
              </a:ln>
            </p:spPr>
            <p:txBody>
              <a:bodyPr wrap="none" anchor="ctr"/>
              <a:lstStyle/>
              <a:p>
                <a:endParaRPr lang="en-IN"/>
              </a:p>
            </p:txBody>
          </p:sp>
          <p:sp>
            <p:nvSpPr>
              <p:cNvPr id="20509" name="Line 32"/>
              <p:cNvSpPr>
                <a:spLocks noChangeShapeType="1"/>
              </p:cNvSpPr>
              <p:nvPr/>
            </p:nvSpPr>
            <p:spPr bwMode="auto">
              <a:xfrm flipH="1">
                <a:off x="2954" y="2661"/>
                <a:ext cx="0" cy="144"/>
              </a:xfrm>
              <a:prstGeom prst="line">
                <a:avLst/>
              </a:prstGeom>
              <a:noFill/>
              <a:ln w="9525">
                <a:solidFill>
                  <a:schemeClr val="tx1"/>
                </a:solidFill>
                <a:round/>
                <a:headEnd/>
                <a:tailEnd/>
              </a:ln>
            </p:spPr>
            <p:txBody>
              <a:bodyPr wrap="none" anchor="ctr"/>
              <a:lstStyle/>
              <a:p>
                <a:endParaRPr lang="en-IN"/>
              </a:p>
            </p:txBody>
          </p:sp>
          <p:sp>
            <p:nvSpPr>
              <p:cNvPr id="20510" name="Line 33"/>
              <p:cNvSpPr>
                <a:spLocks noChangeShapeType="1"/>
              </p:cNvSpPr>
              <p:nvPr/>
            </p:nvSpPr>
            <p:spPr bwMode="auto">
              <a:xfrm flipH="1">
                <a:off x="3146" y="2661"/>
                <a:ext cx="0" cy="144"/>
              </a:xfrm>
              <a:prstGeom prst="line">
                <a:avLst/>
              </a:prstGeom>
              <a:noFill/>
              <a:ln w="9525">
                <a:solidFill>
                  <a:schemeClr val="tx1"/>
                </a:solidFill>
                <a:round/>
                <a:headEnd/>
                <a:tailEnd/>
              </a:ln>
            </p:spPr>
            <p:txBody>
              <a:bodyPr wrap="none" anchor="ctr"/>
              <a:lstStyle/>
              <a:p>
                <a:endParaRPr lang="en-IN"/>
              </a:p>
            </p:txBody>
          </p:sp>
          <p:sp>
            <p:nvSpPr>
              <p:cNvPr id="20511" name="Line 34"/>
              <p:cNvSpPr>
                <a:spLocks noChangeShapeType="1"/>
              </p:cNvSpPr>
              <p:nvPr/>
            </p:nvSpPr>
            <p:spPr bwMode="auto">
              <a:xfrm flipH="1">
                <a:off x="3338" y="2661"/>
                <a:ext cx="0" cy="144"/>
              </a:xfrm>
              <a:prstGeom prst="line">
                <a:avLst/>
              </a:prstGeom>
              <a:noFill/>
              <a:ln w="9525">
                <a:solidFill>
                  <a:schemeClr val="tx1"/>
                </a:solidFill>
                <a:round/>
                <a:headEnd/>
                <a:tailEnd/>
              </a:ln>
            </p:spPr>
            <p:txBody>
              <a:bodyPr wrap="none" anchor="ctr"/>
              <a:lstStyle/>
              <a:p>
                <a:endParaRPr lang="en-IN"/>
              </a:p>
            </p:txBody>
          </p:sp>
          <p:sp>
            <p:nvSpPr>
              <p:cNvPr id="20512" name="Text Box 35"/>
              <p:cNvSpPr txBox="1">
                <a:spLocks noChangeArrowheads="1"/>
              </p:cNvSpPr>
              <p:nvPr/>
            </p:nvSpPr>
            <p:spPr bwMode="auto">
              <a:xfrm flipH="1">
                <a:off x="3578" y="2805"/>
                <a:ext cx="276"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Helvetica" pitchFamily="34" charset="0"/>
                  </a:rPr>
                  <a:t>14</a:t>
                </a:r>
              </a:p>
            </p:txBody>
          </p:sp>
          <p:sp>
            <p:nvSpPr>
              <p:cNvPr id="20513" name="Line 36"/>
              <p:cNvSpPr>
                <a:spLocks noChangeShapeType="1"/>
              </p:cNvSpPr>
              <p:nvPr/>
            </p:nvSpPr>
            <p:spPr bwMode="auto">
              <a:xfrm flipH="1">
                <a:off x="3530" y="2661"/>
                <a:ext cx="0" cy="144"/>
              </a:xfrm>
              <a:prstGeom prst="line">
                <a:avLst/>
              </a:prstGeom>
              <a:noFill/>
              <a:ln w="9525">
                <a:solidFill>
                  <a:schemeClr val="tx1"/>
                </a:solidFill>
                <a:round/>
                <a:headEnd/>
                <a:tailEnd/>
              </a:ln>
            </p:spPr>
            <p:txBody>
              <a:bodyPr wrap="none" anchor="ctr"/>
              <a:lstStyle/>
              <a:p>
                <a:endParaRPr lang="en-IN"/>
              </a:p>
            </p:txBody>
          </p:sp>
          <p:sp>
            <p:nvSpPr>
              <p:cNvPr id="20514" name="Line 37"/>
              <p:cNvSpPr>
                <a:spLocks noChangeShapeType="1"/>
              </p:cNvSpPr>
              <p:nvPr/>
            </p:nvSpPr>
            <p:spPr bwMode="auto">
              <a:xfrm flipH="1">
                <a:off x="3722" y="2661"/>
                <a:ext cx="0" cy="144"/>
              </a:xfrm>
              <a:prstGeom prst="line">
                <a:avLst/>
              </a:prstGeom>
              <a:noFill/>
              <a:ln w="9525">
                <a:solidFill>
                  <a:schemeClr val="tx1"/>
                </a:solidFill>
                <a:round/>
                <a:headEnd/>
                <a:tailEnd/>
              </a:ln>
            </p:spPr>
            <p:txBody>
              <a:bodyPr wrap="none" anchor="ctr"/>
              <a:lstStyle/>
              <a:p>
                <a:endParaRPr lang="en-IN"/>
              </a:p>
            </p:txBody>
          </p:sp>
        </p:grpSp>
        <p:sp>
          <p:nvSpPr>
            <p:cNvPr id="20490" name="Line 25"/>
            <p:cNvSpPr>
              <a:spLocks noChangeShapeType="1"/>
            </p:cNvSpPr>
            <p:nvPr/>
          </p:nvSpPr>
          <p:spPr bwMode="auto">
            <a:xfrm flipH="1">
              <a:off x="4191000" y="5334000"/>
              <a:ext cx="0" cy="228600"/>
            </a:xfrm>
            <a:prstGeom prst="line">
              <a:avLst/>
            </a:prstGeom>
            <a:noFill/>
            <a:ln w="9525">
              <a:solidFill>
                <a:schemeClr val="tx1"/>
              </a:solidFill>
              <a:round/>
              <a:headEnd/>
              <a:tailEnd/>
            </a:ln>
          </p:spPr>
          <p:txBody>
            <a:bodyPr wrap="none" anchor="ctr"/>
            <a:lstStyle/>
            <a:p>
              <a:endParaRPr lang="en-IN"/>
            </a:p>
          </p:txBody>
        </p:sp>
        <p:sp>
          <p:nvSpPr>
            <p:cNvPr id="20491" name="Line 28"/>
            <p:cNvSpPr>
              <a:spLocks noChangeShapeType="1"/>
            </p:cNvSpPr>
            <p:nvPr/>
          </p:nvSpPr>
          <p:spPr bwMode="auto">
            <a:xfrm flipH="1">
              <a:off x="4495800" y="5334000"/>
              <a:ext cx="0" cy="228600"/>
            </a:xfrm>
            <a:prstGeom prst="line">
              <a:avLst/>
            </a:prstGeom>
            <a:noFill/>
            <a:ln w="9525">
              <a:solidFill>
                <a:schemeClr val="tx1"/>
              </a:solidFill>
              <a:round/>
              <a:headEnd/>
              <a:tailEnd/>
            </a:ln>
          </p:spPr>
          <p:txBody>
            <a:bodyPr wrap="none" anchor="ctr"/>
            <a:lstStyle/>
            <a:p>
              <a:endParaRPr lang="en-IN"/>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436"/>
                                        </p:tgtEl>
                                        <p:attrNameLst>
                                          <p:attrName>style.visibility</p:attrName>
                                        </p:attrNameLst>
                                      </p:cBhvr>
                                      <p:to>
                                        <p:strVal val="visible"/>
                                      </p:to>
                                    </p:set>
                                    <p:animEffect transition="in" filter="wipe(left)">
                                      <p:cBhvr>
                                        <p:cTn id="7" dur="1000"/>
                                        <p:tgtEl>
                                          <p:spTgt spid="18436"/>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childTnLst>
                          </p:cTn>
                        </p:par>
                        <p:par>
                          <p:cTn id="12" fill="hold">
                            <p:stCondLst>
                              <p:cond delay="1500"/>
                            </p:stCondLst>
                            <p:childTnLst>
                              <p:par>
                                <p:cTn id="13" presetID="13" presetClass="entr" presetSubtype="16" fill="hold" grpId="0" nodeType="afterEffect">
                                  <p:stCondLst>
                                    <p:cond delay="0"/>
                                  </p:stCondLst>
                                  <p:childTnLst>
                                    <p:set>
                                      <p:cBhvr>
                                        <p:cTn id="14" dur="1" fill="hold">
                                          <p:stCondLst>
                                            <p:cond delay="0"/>
                                          </p:stCondLst>
                                        </p:cTn>
                                        <p:tgtEl>
                                          <p:spTgt spid="18440"/>
                                        </p:tgtEl>
                                        <p:attrNameLst>
                                          <p:attrName>style.visibility</p:attrName>
                                        </p:attrNameLst>
                                      </p:cBhvr>
                                      <p:to>
                                        <p:strVal val="visible"/>
                                      </p:to>
                                    </p:set>
                                    <p:animEffect transition="in" filter="plus(in)">
                                      <p:cBhvr>
                                        <p:cTn id="15" dur="1000"/>
                                        <p:tgtEl>
                                          <p:spTgt spid="18440"/>
                                        </p:tgtEl>
                                      </p:cBhvr>
                                    </p:animEffect>
                                  </p:childTnLst>
                                </p:cTn>
                              </p:par>
                            </p:childTnLst>
                          </p:cTn>
                        </p:par>
                        <p:par>
                          <p:cTn id="16" fill="hold">
                            <p:stCondLst>
                              <p:cond delay="2500"/>
                            </p:stCondLst>
                            <p:childTnLst>
                              <p:par>
                                <p:cTn id="17" presetID="10" presetClass="entr" presetSubtype="0" fill="hold" grpId="0" nodeType="afterEffect">
                                  <p:stCondLst>
                                    <p:cond delay="0"/>
                                  </p:stCondLst>
                                  <p:childTnLst>
                                    <p:set>
                                      <p:cBhvr>
                                        <p:cTn id="18" dur="1" fill="hold">
                                          <p:stCondLst>
                                            <p:cond delay="0"/>
                                          </p:stCondLst>
                                        </p:cTn>
                                        <p:tgtEl>
                                          <p:spTgt spid="18438"/>
                                        </p:tgtEl>
                                        <p:attrNameLst>
                                          <p:attrName>style.visibility</p:attrName>
                                        </p:attrNameLst>
                                      </p:cBhvr>
                                      <p:to>
                                        <p:strVal val="visible"/>
                                      </p:to>
                                    </p:set>
                                    <p:animEffect transition="in" filter="fade">
                                      <p:cBhvr>
                                        <p:cTn id="19" dur="500"/>
                                        <p:tgtEl>
                                          <p:spTgt spid="18438"/>
                                        </p:tgtEl>
                                      </p:cBhvr>
                                    </p:animEffect>
                                  </p:childTnLst>
                                </p:cTn>
                              </p:par>
                            </p:childTnLst>
                          </p:cTn>
                        </p:par>
                        <p:par>
                          <p:cTn id="20" fill="hold">
                            <p:stCondLst>
                              <p:cond delay="3000"/>
                            </p:stCondLst>
                            <p:childTnLst>
                              <p:par>
                                <p:cTn id="21" presetID="10" presetClass="entr" presetSubtype="0"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fade">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p:bldP spid="14" grpId="0"/>
      <p:bldP spid="18438" grpId="0"/>
      <p:bldP spid="1844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
          <p:cNvSpPr>
            <a:spLocks noGrp="1" noChangeArrowheads="1"/>
          </p:cNvSpPr>
          <p:nvPr>
            <p:ph type="body" idx="4294967295"/>
          </p:nvPr>
        </p:nvSpPr>
        <p:spPr>
          <a:xfrm>
            <a:off x="467544" y="1282700"/>
            <a:ext cx="8136904" cy="5242644"/>
          </a:xfrm>
        </p:spPr>
        <p:txBody>
          <a:bodyPr>
            <a:normAutofit fontScale="92500" lnSpcReduction="10000"/>
          </a:bodyPr>
          <a:lstStyle/>
          <a:p>
            <a:pPr>
              <a:lnSpc>
                <a:spcPct val="93000"/>
              </a:lnSpc>
              <a:buFont typeface="Monotype Sorts" charset="2"/>
              <a:buNone/>
              <a:tabLst>
                <a:tab pos="341313" algn="l"/>
                <a:tab pos="1600200" algn="ctr"/>
                <a:tab pos="3251200" algn="ctr"/>
                <a:tab pos="5141913" algn="ctr"/>
                <a:tab pos="5483225" algn="l"/>
                <a:tab pos="6397625" algn="l"/>
                <a:tab pos="7312025" algn="l"/>
                <a:tab pos="8226425" algn="l"/>
                <a:tab pos="9140825" algn="l"/>
                <a:tab pos="10055225" algn="l"/>
              </a:tabLst>
            </a:pPr>
            <a:r>
              <a:rPr lang="en-GB" dirty="0"/>
              <a:t>		</a:t>
            </a:r>
            <a:r>
              <a:rPr lang="en-GB" u="sng" dirty="0"/>
              <a:t>Process  	Arrival Time</a:t>
            </a:r>
            <a:r>
              <a:rPr lang="en-GB" dirty="0"/>
              <a:t>	  </a:t>
            </a:r>
            <a:r>
              <a:rPr lang="en-GB" u="sng" dirty="0"/>
              <a:t>Burst Time</a:t>
            </a:r>
          </a:p>
          <a:p>
            <a:pPr>
              <a:buFont typeface="Monotype Sorts" charset="2"/>
              <a:buNone/>
              <a:tabLst>
                <a:tab pos="341313" algn="l"/>
                <a:tab pos="1600200" algn="ctr"/>
                <a:tab pos="3251200" algn="ctr"/>
                <a:tab pos="5141913" algn="ctr"/>
                <a:tab pos="5483225" algn="l"/>
                <a:tab pos="6397625" algn="l"/>
                <a:tab pos="7312025" algn="l"/>
                <a:tab pos="8226425" algn="l"/>
                <a:tab pos="9140825" algn="l"/>
                <a:tab pos="10055225" algn="l"/>
              </a:tabLst>
            </a:pPr>
            <a:r>
              <a:rPr lang="en-GB" dirty="0"/>
              <a:t>		</a:t>
            </a:r>
            <a:r>
              <a:rPr lang="en-GB" i="1" dirty="0"/>
              <a:t>P</a:t>
            </a:r>
            <a:r>
              <a:rPr lang="en-GB" i="1" baseline="-25000" dirty="0"/>
              <a:t>1</a:t>
            </a:r>
            <a:r>
              <a:rPr lang="en-GB" dirty="0"/>
              <a:t>	0.0	6</a:t>
            </a:r>
          </a:p>
          <a:p>
            <a:pPr>
              <a:buFont typeface="Monotype Sorts" charset="2"/>
              <a:buNone/>
              <a:tabLst>
                <a:tab pos="341313" algn="l"/>
                <a:tab pos="1600200" algn="ctr"/>
                <a:tab pos="3251200" algn="ctr"/>
                <a:tab pos="5141913" algn="ctr"/>
                <a:tab pos="5483225" algn="l"/>
                <a:tab pos="6397625" algn="l"/>
                <a:tab pos="7312025" algn="l"/>
                <a:tab pos="8226425" algn="l"/>
                <a:tab pos="9140825" algn="l"/>
                <a:tab pos="10055225" algn="l"/>
              </a:tabLst>
            </a:pPr>
            <a:r>
              <a:rPr lang="en-GB" dirty="0"/>
              <a:t>		 </a:t>
            </a:r>
            <a:r>
              <a:rPr lang="en-GB" i="1" dirty="0"/>
              <a:t>P</a:t>
            </a:r>
            <a:r>
              <a:rPr lang="en-GB" i="1" baseline="-25000" dirty="0"/>
              <a:t>2	</a:t>
            </a:r>
            <a:r>
              <a:rPr lang="en-GB" dirty="0"/>
              <a:t>0.0	4</a:t>
            </a:r>
          </a:p>
          <a:p>
            <a:pPr>
              <a:buFont typeface="Monotype Sorts" charset="2"/>
              <a:buNone/>
              <a:tabLst>
                <a:tab pos="341313" algn="l"/>
                <a:tab pos="1600200" algn="ctr"/>
                <a:tab pos="3251200" algn="ctr"/>
                <a:tab pos="5141913" algn="ctr"/>
                <a:tab pos="5483225" algn="l"/>
                <a:tab pos="6397625" algn="l"/>
                <a:tab pos="7312025" algn="l"/>
                <a:tab pos="8226425" algn="l"/>
                <a:tab pos="9140825" algn="l"/>
                <a:tab pos="10055225" algn="l"/>
              </a:tabLst>
            </a:pPr>
            <a:r>
              <a:rPr lang="en-GB" dirty="0"/>
              <a:t>		 </a:t>
            </a:r>
            <a:r>
              <a:rPr lang="en-GB" i="1" dirty="0"/>
              <a:t>P</a:t>
            </a:r>
            <a:r>
              <a:rPr lang="en-GB" i="1" baseline="-25000" dirty="0"/>
              <a:t>3</a:t>
            </a:r>
            <a:r>
              <a:rPr lang="en-GB" dirty="0"/>
              <a:t>	0.0	1</a:t>
            </a:r>
          </a:p>
          <a:p>
            <a:pPr>
              <a:buFont typeface="Monotype Sorts" charset="2"/>
              <a:buNone/>
              <a:tabLst>
                <a:tab pos="341313" algn="l"/>
                <a:tab pos="1600200" algn="ctr"/>
                <a:tab pos="3251200" algn="ctr"/>
                <a:tab pos="5141913" algn="ctr"/>
                <a:tab pos="5483225" algn="l"/>
                <a:tab pos="6397625" algn="l"/>
                <a:tab pos="7312025" algn="l"/>
                <a:tab pos="8226425" algn="l"/>
                <a:tab pos="9140825" algn="l"/>
                <a:tab pos="10055225" algn="l"/>
              </a:tabLst>
            </a:pPr>
            <a:r>
              <a:rPr lang="en-GB" dirty="0"/>
              <a:t>		 </a:t>
            </a:r>
            <a:r>
              <a:rPr lang="en-GB" i="1" dirty="0"/>
              <a:t>P</a:t>
            </a:r>
            <a:r>
              <a:rPr lang="en-GB" i="1" baseline="-25000" dirty="0"/>
              <a:t>4</a:t>
            </a:r>
            <a:r>
              <a:rPr lang="en-GB" dirty="0"/>
              <a:t>	0.0	5</a:t>
            </a:r>
          </a:p>
          <a:p>
            <a:pPr>
              <a:tabLst>
                <a:tab pos="341313" algn="l"/>
                <a:tab pos="1600200" algn="ctr"/>
                <a:tab pos="3251200" algn="ctr"/>
                <a:tab pos="5141913" algn="ctr"/>
                <a:tab pos="5483225" algn="l"/>
                <a:tab pos="6397625" algn="l"/>
                <a:tab pos="7312025" algn="l"/>
                <a:tab pos="8226425" algn="l"/>
                <a:tab pos="9140825" algn="l"/>
                <a:tab pos="10055225" algn="l"/>
              </a:tabLst>
            </a:pPr>
            <a:r>
              <a:rPr lang="en-GB" dirty="0"/>
              <a:t>SJF (non-</a:t>
            </a:r>
            <a:r>
              <a:rPr lang="en-GB" dirty="0" err="1"/>
              <a:t>preemptive</a:t>
            </a:r>
            <a:r>
              <a:rPr lang="en-GB" dirty="0"/>
              <a:t>, simultaneous arrival)</a:t>
            </a:r>
          </a:p>
          <a:p>
            <a:pPr>
              <a:buFont typeface="Monotype Sorts" charset="2"/>
              <a:buNone/>
              <a:tabLst>
                <a:tab pos="341313" algn="l"/>
                <a:tab pos="1600200" algn="ctr"/>
                <a:tab pos="3251200" algn="ctr"/>
                <a:tab pos="5141913" algn="ctr"/>
                <a:tab pos="5483225" algn="l"/>
                <a:tab pos="6397625" algn="l"/>
                <a:tab pos="7312025" algn="l"/>
                <a:tab pos="8226425" algn="l"/>
                <a:tab pos="9140825" algn="l"/>
                <a:tab pos="10055225" algn="l"/>
              </a:tabLst>
            </a:pPr>
            <a:endParaRPr lang="en-GB" dirty="0"/>
          </a:p>
          <a:p>
            <a:pPr>
              <a:buFont typeface="Monotype Sorts" charset="2"/>
              <a:buNone/>
              <a:tabLst>
                <a:tab pos="341313" algn="l"/>
                <a:tab pos="1600200" algn="ctr"/>
                <a:tab pos="3251200" algn="ctr"/>
                <a:tab pos="5141913" algn="ctr"/>
                <a:tab pos="5483225" algn="l"/>
                <a:tab pos="6397625" algn="l"/>
                <a:tab pos="7312025" algn="l"/>
                <a:tab pos="8226425" algn="l"/>
                <a:tab pos="9140825" algn="l"/>
                <a:tab pos="10055225" algn="l"/>
              </a:tabLst>
            </a:pPr>
            <a:endParaRPr lang="en-GB" dirty="0"/>
          </a:p>
          <a:p>
            <a:pPr>
              <a:buFont typeface="Monotype Sorts" charset="2"/>
              <a:buNone/>
              <a:tabLst>
                <a:tab pos="341313" algn="l"/>
                <a:tab pos="1600200" algn="ctr"/>
                <a:tab pos="3251200" algn="ctr"/>
                <a:tab pos="5141913" algn="ctr"/>
                <a:tab pos="5483225" algn="l"/>
                <a:tab pos="6397625" algn="l"/>
                <a:tab pos="7312025" algn="l"/>
                <a:tab pos="8226425" algn="l"/>
                <a:tab pos="9140825" algn="l"/>
                <a:tab pos="10055225" algn="l"/>
              </a:tabLst>
            </a:pPr>
            <a:endParaRPr lang="en-GB" dirty="0"/>
          </a:p>
          <a:p>
            <a:pPr>
              <a:buFont typeface="Monotype Sorts" charset="2"/>
              <a:buNone/>
              <a:tabLst>
                <a:tab pos="341313" algn="l"/>
                <a:tab pos="1600200" algn="ctr"/>
                <a:tab pos="3251200" algn="ctr"/>
                <a:tab pos="5141913" algn="ctr"/>
                <a:tab pos="5483225" algn="l"/>
                <a:tab pos="6397625" algn="l"/>
                <a:tab pos="7312025" algn="l"/>
                <a:tab pos="8226425" algn="l"/>
                <a:tab pos="9140825" algn="l"/>
                <a:tab pos="10055225" algn="l"/>
              </a:tabLst>
            </a:pPr>
            <a:endParaRPr lang="en-GB" dirty="0"/>
          </a:p>
          <a:p>
            <a:pPr>
              <a:tabLst>
                <a:tab pos="341313" algn="l"/>
                <a:tab pos="1600200" algn="ctr"/>
                <a:tab pos="3251200" algn="ctr"/>
                <a:tab pos="5141913" algn="ctr"/>
                <a:tab pos="5483225" algn="l"/>
                <a:tab pos="6397625" algn="l"/>
                <a:tab pos="7312025" algn="l"/>
                <a:tab pos="8226425" algn="l"/>
                <a:tab pos="9140825" algn="l"/>
                <a:tab pos="10055225" algn="l"/>
              </a:tabLst>
            </a:pPr>
            <a:r>
              <a:rPr lang="en-GB" dirty="0"/>
              <a:t>Average waiting time = (0 + 1 + 5 + 10)/4  = 4</a:t>
            </a:r>
          </a:p>
          <a:p>
            <a:pPr>
              <a:tabLst>
                <a:tab pos="341313" algn="l"/>
                <a:tab pos="1600200" algn="ctr"/>
                <a:tab pos="3251200" algn="ctr"/>
                <a:tab pos="5141913" algn="ctr"/>
                <a:tab pos="5483225" algn="l"/>
                <a:tab pos="6397625" algn="l"/>
                <a:tab pos="7312025" algn="l"/>
                <a:tab pos="8226425" algn="l"/>
                <a:tab pos="9140825" algn="l"/>
                <a:tab pos="10055225" algn="l"/>
              </a:tabLst>
            </a:pPr>
            <a:r>
              <a:rPr lang="en-GB" dirty="0"/>
              <a:t>Average turn-around time = (1 + 5 + 10 + 16)/4  = 8</a:t>
            </a:r>
          </a:p>
        </p:txBody>
      </p:sp>
      <p:sp>
        <p:nvSpPr>
          <p:cNvPr id="22530" name="Rectangle 2"/>
          <p:cNvSpPr>
            <a:spLocks noGrp="1" noChangeArrowheads="1"/>
          </p:cNvSpPr>
          <p:nvPr>
            <p:ph type="title" idx="4294967295"/>
          </p:nvPr>
        </p:nvSpPr>
        <p:spPr>
          <a:xfrm>
            <a:off x="685800" y="228600"/>
            <a:ext cx="8077200" cy="609600"/>
          </a:xfrm>
        </p:spPr>
        <p:txBody>
          <a:bodyPr lIns="91440" tIns="45720" rIns="91440" bIns="45720" anchor="ctr">
            <a:noAutofit/>
          </a:bodyPr>
          <a:lstStyle/>
          <a:p>
            <a:pPr>
              <a:lnSpc>
                <a:spcPct val="93000"/>
              </a:lnSpc>
              <a:buFont typeface="Helvetica" pitchFamily="32"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3600" dirty="0">
                <a:latin typeface="Times New Roman" pitchFamily="18" charset="0"/>
                <a:cs typeface="Times New Roman" pitchFamily="18" charset="0"/>
              </a:rPr>
              <a:t>Example #2: Non-</a:t>
            </a:r>
            <a:r>
              <a:rPr lang="en-GB" sz="3600" dirty="0" err="1">
                <a:latin typeface="Times New Roman" pitchFamily="18" charset="0"/>
                <a:cs typeface="Times New Roman" pitchFamily="18" charset="0"/>
              </a:rPr>
              <a:t>Preemptive</a:t>
            </a:r>
            <a:r>
              <a:rPr lang="en-GB" sz="3600" dirty="0">
                <a:latin typeface="Times New Roman" pitchFamily="18" charset="0"/>
                <a:cs typeface="Times New Roman" pitchFamily="18" charset="0"/>
              </a:rPr>
              <a:t> SJF</a:t>
            </a:r>
            <a:br>
              <a:rPr lang="en-GB" sz="3600" dirty="0">
                <a:latin typeface="Times New Roman" pitchFamily="18" charset="0"/>
                <a:cs typeface="Times New Roman" pitchFamily="18" charset="0"/>
              </a:rPr>
            </a:br>
            <a:r>
              <a:rPr lang="en-GB" sz="3600" dirty="0">
                <a:latin typeface="Times New Roman" pitchFamily="18" charset="0"/>
                <a:cs typeface="Times New Roman" pitchFamily="18" charset="0"/>
              </a:rPr>
              <a:t>(simultaneous arrival)</a:t>
            </a:r>
          </a:p>
        </p:txBody>
      </p:sp>
      <p:sp>
        <p:nvSpPr>
          <p:cNvPr id="21508" name="AutoShape 4"/>
          <p:cNvSpPr>
            <a:spLocks noChangeArrowheads="1"/>
          </p:cNvSpPr>
          <p:nvPr/>
        </p:nvSpPr>
        <p:spPr bwMode="auto">
          <a:xfrm>
            <a:off x="2195513" y="3690938"/>
            <a:ext cx="5257800" cy="609600"/>
          </a:xfrm>
          <a:prstGeom prst="roundRect">
            <a:avLst>
              <a:gd name="adj" fmla="val 259"/>
            </a:avLst>
          </a:prstGeom>
          <a:solidFill>
            <a:srgbClr val="FFFF99"/>
          </a:solidFill>
          <a:ln w="9360">
            <a:solidFill>
              <a:srgbClr val="000000"/>
            </a:solidFill>
            <a:round/>
            <a:headEnd/>
            <a:tailEnd/>
          </a:ln>
        </p:spPr>
        <p:txBody>
          <a:bodyPr wrap="none" anchor="ctr"/>
          <a:lstStyle/>
          <a:p>
            <a:endParaRPr lang="en-US">
              <a:ea typeface="Lucida Sans Unicode" pitchFamily="34" charset="0"/>
            </a:endParaRPr>
          </a:p>
        </p:txBody>
      </p:sp>
      <p:sp>
        <p:nvSpPr>
          <p:cNvPr id="21509" name="AutoShape 5"/>
          <p:cNvSpPr>
            <a:spLocks noChangeArrowheads="1"/>
          </p:cNvSpPr>
          <p:nvPr/>
        </p:nvSpPr>
        <p:spPr bwMode="auto">
          <a:xfrm>
            <a:off x="5980113" y="3763963"/>
            <a:ext cx="420687" cy="350837"/>
          </a:xfrm>
          <a:prstGeom prst="roundRect">
            <a:avLst>
              <a:gd name="adj" fmla="val 431"/>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P</a:t>
            </a:r>
            <a:r>
              <a:rPr lang="en-GB" sz="1800" baseline="-25000">
                <a:solidFill>
                  <a:schemeClr val="tx1"/>
                </a:solidFill>
                <a:latin typeface="Helvetica" pitchFamily="34" charset="0"/>
                <a:ea typeface="Lucida Sans Unicode" pitchFamily="34" charset="0"/>
              </a:rPr>
              <a:t>1</a:t>
            </a:r>
          </a:p>
        </p:txBody>
      </p:sp>
      <p:sp>
        <p:nvSpPr>
          <p:cNvPr id="21510" name="AutoShape 6"/>
          <p:cNvSpPr>
            <a:spLocks noChangeArrowheads="1"/>
          </p:cNvSpPr>
          <p:nvPr/>
        </p:nvSpPr>
        <p:spPr bwMode="auto">
          <a:xfrm>
            <a:off x="2170113" y="3763963"/>
            <a:ext cx="420687" cy="350837"/>
          </a:xfrm>
          <a:prstGeom prst="roundRect">
            <a:avLst>
              <a:gd name="adj" fmla="val 431"/>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P</a:t>
            </a:r>
            <a:r>
              <a:rPr lang="en-GB" sz="1800" baseline="-25000">
                <a:solidFill>
                  <a:schemeClr val="tx1"/>
                </a:solidFill>
                <a:latin typeface="Helvetica" pitchFamily="34" charset="0"/>
                <a:ea typeface="Lucida Sans Unicode" pitchFamily="34" charset="0"/>
              </a:rPr>
              <a:t>3</a:t>
            </a:r>
          </a:p>
        </p:txBody>
      </p:sp>
      <p:sp>
        <p:nvSpPr>
          <p:cNvPr id="21511" name="AutoShape 7"/>
          <p:cNvSpPr>
            <a:spLocks noChangeArrowheads="1"/>
          </p:cNvSpPr>
          <p:nvPr/>
        </p:nvSpPr>
        <p:spPr bwMode="auto">
          <a:xfrm>
            <a:off x="3008313" y="3763963"/>
            <a:ext cx="420687" cy="350837"/>
          </a:xfrm>
          <a:prstGeom prst="roundRect">
            <a:avLst>
              <a:gd name="adj" fmla="val 431"/>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P</a:t>
            </a:r>
            <a:r>
              <a:rPr lang="en-GB" sz="1800" baseline="-25000">
                <a:solidFill>
                  <a:schemeClr val="tx1"/>
                </a:solidFill>
                <a:latin typeface="Helvetica" pitchFamily="34" charset="0"/>
                <a:ea typeface="Lucida Sans Unicode" pitchFamily="34" charset="0"/>
              </a:rPr>
              <a:t>2</a:t>
            </a:r>
          </a:p>
        </p:txBody>
      </p:sp>
      <p:sp>
        <p:nvSpPr>
          <p:cNvPr id="21512" name="Line 8"/>
          <p:cNvSpPr>
            <a:spLocks noChangeShapeType="1"/>
          </p:cNvSpPr>
          <p:nvPr/>
        </p:nvSpPr>
        <p:spPr bwMode="auto">
          <a:xfrm>
            <a:off x="7453313" y="4300538"/>
            <a:ext cx="1587" cy="228600"/>
          </a:xfrm>
          <a:prstGeom prst="line">
            <a:avLst/>
          </a:prstGeom>
          <a:noFill/>
          <a:ln w="9360">
            <a:solidFill>
              <a:srgbClr val="000000"/>
            </a:solidFill>
            <a:round/>
            <a:headEnd/>
            <a:tailEnd/>
          </a:ln>
        </p:spPr>
        <p:txBody>
          <a:bodyPr/>
          <a:lstStyle/>
          <a:p>
            <a:endParaRPr lang="en-IN"/>
          </a:p>
        </p:txBody>
      </p:sp>
      <p:sp>
        <p:nvSpPr>
          <p:cNvPr id="21513" name="Line 9"/>
          <p:cNvSpPr>
            <a:spLocks noChangeShapeType="1"/>
          </p:cNvSpPr>
          <p:nvPr/>
        </p:nvSpPr>
        <p:spPr bwMode="auto">
          <a:xfrm>
            <a:off x="2195513" y="4300538"/>
            <a:ext cx="1587" cy="228600"/>
          </a:xfrm>
          <a:prstGeom prst="line">
            <a:avLst/>
          </a:prstGeom>
          <a:noFill/>
          <a:ln w="9360">
            <a:solidFill>
              <a:srgbClr val="000000"/>
            </a:solidFill>
            <a:round/>
            <a:headEnd/>
            <a:tailEnd/>
          </a:ln>
        </p:spPr>
        <p:txBody>
          <a:bodyPr/>
          <a:lstStyle/>
          <a:p>
            <a:endParaRPr lang="en-IN"/>
          </a:p>
        </p:txBody>
      </p:sp>
      <p:sp>
        <p:nvSpPr>
          <p:cNvPr id="21514" name="Line 10"/>
          <p:cNvSpPr>
            <a:spLocks noChangeShapeType="1"/>
          </p:cNvSpPr>
          <p:nvPr/>
        </p:nvSpPr>
        <p:spPr bwMode="auto">
          <a:xfrm>
            <a:off x="3816350" y="3690938"/>
            <a:ext cx="1588" cy="609600"/>
          </a:xfrm>
          <a:prstGeom prst="line">
            <a:avLst/>
          </a:prstGeom>
          <a:noFill/>
          <a:ln w="9360">
            <a:solidFill>
              <a:srgbClr val="000000"/>
            </a:solidFill>
            <a:round/>
            <a:headEnd/>
            <a:tailEnd/>
          </a:ln>
        </p:spPr>
        <p:txBody>
          <a:bodyPr/>
          <a:lstStyle/>
          <a:p>
            <a:endParaRPr lang="en-IN"/>
          </a:p>
        </p:txBody>
      </p:sp>
      <p:sp>
        <p:nvSpPr>
          <p:cNvPr id="21515" name="Line 11"/>
          <p:cNvSpPr>
            <a:spLocks noChangeShapeType="1"/>
          </p:cNvSpPr>
          <p:nvPr/>
        </p:nvSpPr>
        <p:spPr bwMode="auto">
          <a:xfrm>
            <a:off x="2514600" y="3690938"/>
            <a:ext cx="1588" cy="609600"/>
          </a:xfrm>
          <a:prstGeom prst="line">
            <a:avLst/>
          </a:prstGeom>
          <a:noFill/>
          <a:ln w="9360">
            <a:solidFill>
              <a:srgbClr val="000000"/>
            </a:solidFill>
            <a:round/>
            <a:headEnd/>
            <a:tailEnd/>
          </a:ln>
        </p:spPr>
        <p:txBody>
          <a:bodyPr/>
          <a:lstStyle/>
          <a:p>
            <a:endParaRPr lang="en-IN"/>
          </a:p>
        </p:txBody>
      </p:sp>
      <p:sp>
        <p:nvSpPr>
          <p:cNvPr id="21516" name="Line 12"/>
          <p:cNvSpPr>
            <a:spLocks noChangeShapeType="1"/>
          </p:cNvSpPr>
          <p:nvPr/>
        </p:nvSpPr>
        <p:spPr bwMode="auto">
          <a:xfrm>
            <a:off x="3816350" y="4300538"/>
            <a:ext cx="1588" cy="228600"/>
          </a:xfrm>
          <a:prstGeom prst="line">
            <a:avLst/>
          </a:prstGeom>
          <a:noFill/>
          <a:ln w="9360">
            <a:solidFill>
              <a:srgbClr val="000000"/>
            </a:solidFill>
            <a:round/>
            <a:headEnd/>
            <a:tailEnd/>
          </a:ln>
        </p:spPr>
        <p:txBody>
          <a:bodyPr/>
          <a:lstStyle/>
          <a:p>
            <a:endParaRPr lang="en-IN"/>
          </a:p>
        </p:txBody>
      </p:sp>
      <p:sp>
        <p:nvSpPr>
          <p:cNvPr id="21517" name="Line 13"/>
          <p:cNvSpPr>
            <a:spLocks noChangeShapeType="1"/>
          </p:cNvSpPr>
          <p:nvPr/>
        </p:nvSpPr>
        <p:spPr bwMode="auto">
          <a:xfrm>
            <a:off x="2819400" y="4187825"/>
            <a:ext cx="1588" cy="228600"/>
          </a:xfrm>
          <a:prstGeom prst="line">
            <a:avLst/>
          </a:prstGeom>
          <a:noFill/>
          <a:ln w="9360">
            <a:solidFill>
              <a:srgbClr val="000000"/>
            </a:solidFill>
            <a:round/>
            <a:headEnd/>
            <a:tailEnd/>
          </a:ln>
        </p:spPr>
        <p:txBody>
          <a:bodyPr/>
          <a:lstStyle/>
          <a:p>
            <a:endParaRPr lang="en-IN"/>
          </a:p>
        </p:txBody>
      </p:sp>
      <p:sp>
        <p:nvSpPr>
          <p:cNvPr id="21518" name="AutoShape 14"/>
          <p:cNvSpPr>
            <a:spLocks noChangeArrowheads="1"/>
          </p:cNvSpPr>
          <p:nvPr/>
        </p:nvSpPr>
        <p:spPr bwMode="auto">
          <a:xfrm>
            <a:off x="3657600" y="4525963"/>
            <a:ext cx="311150" cy="350837"/>
          </a:xfrm>
          <a:prstGeom prst="roundRect">
            <a:avLst>
              <a:gd name="adj" fmla="val 509"/>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5</a:t>
            </a:r>
          </a:p>
        </p:txBody>
      </p:sp>
      <p:sp>
        <p:nvSpPr>
          <p:cNvPr id="21519" name="AutoShape 15"/>
          <p:cNvSpPr>
            <a:spLocks noChangeArrowheads="1"/>
          </p:cNvSpPr>
          <p:nvPr/>
        </p:nvSpPr>
        <p:spPr bwMode="auto">
          <a:xfrm>
            <a:off x="2355850" y="4525963"/>
            <a:ext cx="311150" cy="350837"/>
          </a:xfrm>
          <a:prstGeom prst="roundRect">
            <a:avLst>
              <a:gd name="adj" fmla="val 509"/>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1</a:t>
            </a:r>
          </a:p>
        </p:txBody>
      </p:sp>
      <p:sp>
        <p:nvSpPr>
          <p:cNvPr id="21520" name="AutoShape 16"/>
          <p:cNvSpPr>
            <a:spLocks noChangeArrowheads="1"/>
          </p:cNvSpPr>
          <p:nvPr/>
        </p:nvSpPr>
        <p:spPr bwMode="auto">
          <a:xfrm>
            <a:off x="7180263" y="4525963"/>
            <a:ext cx="438150" cy="350837"/>
          </a:xfrm>
          <a:prstGeom prst="roundRect">
            <a:avLst>
              <a:gd name="adj" fmla="val 431"/>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16</a:t>
            </a:r>
          </a:p>
        </p:txBody>
      </p:sp>
      <p:sp>
        <p:nvSpPr>
          <p:cNvPr id="21521" name="AutoShape 17"/>
          <p:cNvSpPr>
            <a:spLocks noChangeArrowheads="1"/>
          </p:cNvSpPr>
          <p:nvPr/>
        </p:nvSpPr>
        <p:spPr bwMode="auto">
          <a:xfrm>
            <a:off x="2043113" y="4525963"/>
            <a:ext cx="311150" cy="350837"/>
          </a:xfrm>
          <a:prstGeom prst="roundRect">
            <a:avLst>
              <a:gd name="adj" fmla="val 509"/>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0</a:t>
            </a:r>
          </a:p>
        </p:txBody>
      </p:sp>
      <p:sp>
        <p:nvSpPr>
          <p:cNvPr id="21522" name="AutoShape 18"/>
          <p:cNvSpPr>
            <a:spLocks noChangeArrowheads="1"/>
          </p:cNvSpPr>
          <p:nvPr/>
        </p:nvSpPr>
        <p:spPr bwMode="auto">
          <a:xfrm>
            <a:off x="4303713" y="3763963"/>
            <a:ext cx="420687" cy="350837"/>
          </a:xfrm>
          <a:prstGeom prst="roundRect">
            <a:avLst>
              <a:gd name="adj" fmla="val 431"/>
            </a:avLst>
          </a:prstGeom>
          <a:noFill/>
          <a:ln w="9525">
            <a:noFill/>
            <a:round/>
            <a:headEnd/>
            <a:tailEnd/>
          </a:ln>
        </p:spPr>
        <p:txBody>
          <a:bodyPr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P</a:t>
            </a:r>
            <a:r>
              <a:rPr lang="en-GB" sz="1800" baseline="-25000">
                <a:solidFill>
                  <a:schemeClr val="tx1"/>
                </a:solidFill>
                <a:latin typeface="Helvetica" pitchFamily="34" charset="0"/>
                <a:ea typeface="Lucida Sans Unicode" pitchFamily="34" charset="0"/>
              </a:rPr>
              <a:t>4</a:t>
            </a:r>
          </a:p>
        </p:txBody>
      </p:sp>
      <p:sp>
        <p:nvSpPr>
          <p:cNvPr id="21523" name="Line 19"/>
          <p:cNvSpPr>
            <a:spLocks noChangeShapeType="1"/>
          </p:cNvSpPr>
          <p:nvPr/>
        </p:nvSpPr>
        <p:spPr bwMode="auto">
          <a:xfrm>
            <a:off x="5341938" y="3690938"/>
            <a:ext cx="1587" cy="609600"/>
          </a:xfrm>
          <a:prstGeom prst="line">
            <a:avLst/>
          </a:prstGeom>
          <a:noFill/>
          <a:ln w="9360">
            <a:solidFill>
              <a:srgbClr val="000000"/>
            </a:solidFill>
            <a:round/>
            <a:headEnd/>
            <a:tailEnd/>
          </a:ln>
        </p:spPr>
        <p:txBody>
          <a:bodyPr/>
          <a:lstStyle/>
          <a:p>
            <a:endParaRPr lang="en-IN"/>
          </a:p>
        </p:txBody>
      </p:sp>
      <p:sp>
        <p:nvSpPr>
          <p:cNvPr id="21524" name="Line 21"/>
          <p:cNvSpPr>
            <a:spLocks noChangeShapeType="1"/>
          </p:cNvSpPr>
          <p:nvPr/>
        </p:nvSpPr>
        <p:spPr bwMode="auto">
          <a:xfrm>
            <a:off x="3124200" y="4187825"/>
            <a:ext cx="1588" cy="228600"/>
          </a:xfrm>
          <a:prstGeom prst="line">
            <a:avLst/>
          </a:prstGeom>
          <a:noFill/>
          <a:ln w="9360">
            <a:solidFill>
              <a:srgbClr val="000000"/>
            </a:solidFill>
            <a:round/>
            <a:headEnd/>
            <a:tailEnd/>
          </a:ln>
        </p:spPr>
        <p:txBody>
          <a:bodyPr/>
          <a:lstStyle/>
          <a:p>
            <a:endParaRPr lang="en-IN"/>
          </a:p>
        </p:txBody>
      </p:sp>
      <p:sp>
        <p:nvSpPr>
          <p:cNvPr id="21525" name="Line 22"/>
          <p:cNvSpPr>
            <a:spLocks noChangeShapeType="1"/>
          </p:cNvSpPr>
          <p:nvPr/>
        </p:nvSpPr>
        <p:spPr bwMode="auto">
          <a:xfrm>
            <a:off x="3505200" y="4187825"/>
            <a:ext cx="1588" cy="228600"/>
          </a:xfrm>
          <a:prstGeom prst="line">
            <a:avLst/>
          </a:prstGeom>
          <a:noFill/>
          <a:ln w="9360">
            <a:solidFill>
              <a:srgbClr val="000000"/>
            </a:solidFill>
            <a:round/>
            <a:headEnd/>
            <a:tailEnd/>
          </a:ln>
        </p:spPr>
        <p:txBody>
          <a:bodyPr/>
          <a:lstStyle/>
          <a:p>
            <a:endParaRPr lang="en-IN"/>
          </a:p>
        </p:txBody>
      </p:sp>
      <p:sp>
        <p:nvSpPr>
          <p:cNvPr id="21526" name="Line 24"/>
          <p:cNvSpPr>
            <a:spLocks noChangeShapeType="1"/>
          </p:cNvSpPr>
          <p:nvPr/>
        </p:nvSpPr>
        <p:spPr bwMode="auto">
          <a:xfrm>
            <a:off x="4114800" y="4187825"/>
            <a:ext cx="1588" cy="228600"/>
          </a:xfrm>
          <a:prstGeom prst="line">
            <a:avLst/>
          </a:prstGeom>
          <a:noFill/>
          <a:ln w="9360">
            <a:solidFill>
              <a:srgbClr val="000000"/>
            </a:solidFill>
            <a:round/>
            <a:headEnd/>
            <a:tailEnd/>
          </a:ln>
        </p:spPr>
        <p:txBody>
          <a:bodyPr/>
          <a:lstStyle/>
          <a:p>
            <a:endParaRPr lang="en-IN"/>
          </a:p>
        </p:txBody>
      </p:sp>
      <p:sp>
        <p:nvSpPr>
          <p:cNvPr id="21527" name="Line 25"/>
          <p:cNvSpPr>
            <a:spLocks noChangeShapeType="1"/>
          </p:cNvSpPr>
          <p:nvPr/>
        </p:nvSpPr>
        <p:spPr bwMode="auto">
          <a:xfrm>
            <a:off x="5332413" y="4300538"/>
            <a:ext cx="1587" cy="228600"/>
          </a:xfrm>
          <a:prstGeom prst="line">
            <a:avLst/>
          </a:prstGeom>
          <a:noFill/>
          <a:ln w="9360">
            <a:solidFill>
              <a:srgbClr val="000000"/>
            </a:solidFill>
            <a:round/>
            <a:headEnd/>
            <a:tailEnd/>
          </a:ln>
        </p:spPr>
        <p:txBody>
          <a:bodyPr/>
          <a:lstStyle/>
          <a:p>
            <a:endParaRPr lang="en-IN"/>
          </a:p>
        </p:txBody>
      </p:sp>
      <p:sp>
        <p:nvSpPr>
          <p:cNvPr id="21528" name="AutoShape 26"/>
          <p:cNvSpPr>
            <a:spLocks noChangeArrowheads="1"/>
          </p:cNvSpPr>
          <p:nvPr/>
        </p:nvSpPr>
        <p:spPr bwMode="auto">
          <a:xfrm>
            <a:off x="5111750" y="4525963"/>
            <a:ext cx="438150" cy="350837"/>
          </a:xfrm>
          <a:prstGeom prst="roundRect">
            <a:avLst>
              <a:gd name="adj" fmla="val 509"/>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10</a:t>
            </a:r>
          </a:p>
        </p:txBody>
      </p:sp>
      <p:sp>
        <p:nvSpPr>
          <p:cNvPr id="21529" name="Line 27"/>
          <p:cNvSpPr>
            <a:spLocks noChangeShapeType="1"/>
          </p:cNvSpPr>
          <p:nvPr/>
        </p:nvSpPr>
        <p:spPr bwMode="auto">
          <a:xfrm>
            <a:off x="5029200" y="4187825"/>
            <a:ext cx="1588" cy="228600"/>
          </a:xfrm>
          <a:prstGeom prst="line">
            <a:avLst/>
          </a:prstGeom>
          <a:noFill/>
          <a:ln w="9360">
            <a:solidFill>
              <a:srgbClr val="000000"/>
            </a:solidFill>
            <a:round/>
            <a:headEnd/>
            <a:tailEnd/>
          </a:ln>
        </p:spPr>
        <p:txBody>
          <a:bodyPr/>
          <a:lstStyle/>
          <a:p>
            <a:endParaRPr lang="en-IN"/>
          </a:p>
        </p:txBody>
      </p:sp>
      <p:sp>
        <p:nvSpPr>
          <p:cNvPr id="21530" name="Line 28"/>
          <p:cNvSpPr>
            <a:spLocks noChangeShapeType="1"/>
          </p:cNvSpPr>
          <p:nvPr/>
        </p:nvSpPr>
        <p:spPr bwMode="auto">
          <a:xfrm>
            <a:off x="5624513" y="4187825"/>
            <a:ext cx="1587" cy="228600"/>
          </a:xfrm>
          <a:prstGeom prst="line">
            <a:avLst/>
          </a:prstGeom>
          <a:noFill/>
          <a:ln w="9360">
            <a:solidFill>
              <a:srgbClr val="000000"/>
            </a:solidFill>
            <a:round/>
            <a:headEnd/>
            <a:tailEnd/>
          </a:ln>
        </p:spPr>
        <p:txBody>
          <a:bodyPr/>
          <a:lstStyle/>
          <a:p>
            <a:endParaRPr lang="en-IN"/>
          </a:p>
        </p:txBody>
      </p:sp>
      <p:sp>
        <p:nvSpPr>
          <p:cNvPr id="21531" name="Line 29"/>
          <p:cNvSpPr>
            <a:spLocks noChangeShapeType="1"/>
          </p:cNvSpPr>
          <p:nvPr/>
        </p:nvSpPr>
        <p:spPr bwMode="auto">
          <a:xfrm>
            <a:off x="5929313" y="4187825"/>
            <a:ext cx="1587" cy="228600"/>
          </a:xfrm>
          <a:prstGeom prst="line">
            <a:avLst/>
          </a:prstGeom>
          <a:noFill/>
          <a:ln w="9360">
            <a:solidFill>
              <a:srgbClr val="000000"/>
            </a:solidFill>
            <a:round/>
            <a:headEnd/>
            <a:tailEnd/>
          </a:ln>
        </p:spPr>
        <p:txBody>
          <a:bodyPr/>
          <a:lstStyle/>
          <a:p>
            <a:endParaRPr lang="en-IN"/>
          </a:p>
        </p:txBody>
      </p:sp>
      <p:sp>
        <p:nvSpPr>
          <p:cNvPr id="21532" name="Line 30"/>
          <p:cNvSpPr>
            <a:spLocks noChangeShapeType="1"/>
          </p:cNvSpPr>
          <p:nvPr/>
        </p:nvSpPr>
        <p:spPr bwMode="auto">
          <a:xfrm>
            <a:off x="2514600" y="4300538"/>
            <a:ext cx="1588" cy="228600"/>
          </a:xfrm>
          <a:prstGeom prst="line">
            <a:avLst/>
          </a:prstGeom>
          <a:noFill/>
          <a:ln w="9360">
            <a:solidFill>
              <a:srgbClr val="000000"/>
            </a:solidFill>
            <a:round/>
            <a:headEnd/>
            <a:tailEnd/>
          </a:ln>
        </p:spPr>
        <p:txBody>
          <a:bodyPr/>
          <a:lstStyle/>
          <a:p>
            <a:endParaRPr lang="en-IN"/>
          </a:p>
        </p:txBody>
      </p:sp>
      <p:sp>
        <p:nvSpPr>
          <p:cNvPr id="21533" name="Line 32"/>
          <p:cNvSpPr>
            <a:spLocks noChangeShapeType="1"/>
          </p:cNvSpPr>
          <p:nvPr/>
        </p:nvSpPr>
        <p:spPr bwMode="auto">
          <a:xfrm>
            <a:off x="6538913" y="4187825"/>
            <a:ext cx="1587" cy="228600"/>
          </a:xfrm>
          <a:prstGeom prst="line">
            <a:avLst/>
          </a:prstGeom>
          <a:noFill/>
          <a:ln w="9360">
            <a:solidFill>
              <a:srgbClr val="000000"/>
            </a:solidFill>
            <a:round/>
            <a:headEnd/>
            <a:tailEnd/>
          </a:ln>
        </p:spPr>
        <p:txBody>
          <a:bodyPr/>
          <a:lstStyle/>
          <a:p>
            <a:endParaRPr lang="en-IN"/>
          </a:p>
        </p:txBody>
      </p:sp>
      <p:sp>
        <p:nvSpPr>
          <p:cNvPr id="21534" name="Line 33"/>
          <p:cNvSpPr>
            <a:spLocks noChangeShapeType="1"/>
          </p:cNvSpPr>
          <p:nvPr/>
        </p:nvSpPr>
        <p:spPr bwMode="auto">
          <a:xfrm>
            <a:off x="6843713" y="4187825"/>
            <a:ext cx="1587" cy="228600"/>
          </a:xfrm>
          <a:prstGeom prst="line">
            <a:avLst/>
          </a:prstGeom>
          <a:noFill/>
          <a:ln w="9360">
            <a:solidFill>
              <a:srgbClr val="000000"/>
            </a:solidFill>
            <a:round/>
            <a:headEnd/>
            <a:tailEnd/>
          </a:ln>
        </p:spPr>
        <p:txBody>
          <a:bodyPr/>
          <a:lstStyle/>
          <a:p>
            <a:endParaRPr lang="en-IN"/>
          </a:p>
        </p:txBody>
      </p:sp>
      <p:sp>
        <p:nvSpPr>
          <p:cNvPr id="21535" name="Line 34"/>
          <p:cNvSpPr>
            <a:spLocks noChangeShapeType="1"/>
          </p:cNvSpPr>
          <p:nvPr/>
        </p:nvSpPr>
        <p:spPr bwMode="auto">
          <a:xfrm>
            <a:off x="7148513" y="4187825"/>
            <a:ext cx="1587" cy="228600"/>
          </a:xfrm>
          <a:prstGeom prst="line">
            <a:avLst/>
          </a:prstGeom>
          <a:noFill/>
          <a:ln w="9360">
            <a:solidFill>
              <a:srgbClr val="000000"/>
            </a:solidFill>
            <a:round/>
            <a:headEnd/>
            <a:tailEnd/>
          </a:ln>
        </p:spPr>
        <p:txBody>
          <a:bodyPr/>
          <a:lstStyle/>
          <a:p>
            <a:endParaRPr lang="en-IN"/>
          </a:p>
        </p:txBody>
      </p:sp>
      <p:sp>
        <p:nvSpPr>
          <p:cNvPr id="21536" name="Line 36"/>
          <p:cNvSpPr>
            <a:spLocks noChangeShapeType="1"/>
          </p:cNvSpPr>
          <p:nvPr/>
        </p:nvSpPr>
        <p:spPr bwMode="auto">
          <a:xfrm>
            <a:off x="4724400" y="4191000"/>
            <a:ext cx="1588" cy="228600"/>
          </a:xfrm>
          <a:prstGeom prst="line">
            <a:avLst/>
          </a:prstGeom>
          <a:noFill/>
          <a:ln w="9360">
            <a:solidFill>
              <a:srgbClr val="000000"/>
            </a:solidFill>
            <a:round/>
            <a:headEnd/>
            <a:tailEnd/>
          </a:ln>
        </p:spPr>
        <p:txBody>
          <a:bodyPr/>
          <a:lstStyle/>
          <a:p>
            <a:endParaRPr lang="en-IN"/>
          </a:p>
        </p:txBody>
      </p:sp>
      <p:sp>
        <p:nvSpPr>
          <p:cNvPr id="21537" name="Line 38"/>
          <p:cNvSpPr>
            <a:spLocks noChangeShapeType="1"/>
          </p:cNvSpPr>
          <p:nvPr/>
        </p:nvSpPr>
        <p:spPr bwMode="auto">
          <a:xfrm>
            <a:off x="6248400" y="4191000"/>
            <a:ext cx="1588" cy="228600"/>
          </a:xfrm>
          <a:prstGeom prst="line">
            <a:avLst/>
          </a:prstGeom>
          <a:noFill/>
          <a:ln w="9360">
            <a:solidFill>
              <a:srgbClr val="000000"/>
            </a:solidFill>
            <a:round/>
            <a:headEnd/>
            <a:tailEnd/>
          </a:ln>
        </p:spPr>
        <p:txBody>
          <a:bodyPr/>
          <a:lstStyle/>
          <a:p>
            <a:endParaRPr lang="en-IN"/>
          </a:p>
        </p:txBody>
      </p:sp>
      <p:sp>
        <p:nvSpPr>
          <p:cNvPr id="21538" name="Line 39"/>
          <p:cNvSpPr>
            <a:spLocks noChangeShapeType="1"/>
          </p:cNvSpPr>
          <p:nvPr/>
        </p:nvSpPr>
        <p:spPr bwMode="auto">
          <a:xfrm>
            <a:off x="4419600" y="4191000"/>
            <a:ext cx="1588" cy="228600"/>
          </a:xfrm>
          <a:prstGeom prst="line">
            <a:avLst/>
          </a:prstGeom>
          <a:noFill/>
          <a:ln w="9360">
            <a:solidFill>
              <a:srgbClr val="000000"/>
            </a:solidFill>
            <a:round/>
            <a:headEnd/>
            <a:tailEnd/>
          </a:ln>
        </p:spPr>
        <p:txBody>
          <a:bodyPr/>
          <a:lstStyle/>
          <a:p>
            <a:endParaRPr lang="en-IN"/>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body" idx="4294967295"/>
          </p:nvPr>
        </p:nvSpPr>
        <p:spPr>
          <a:xfrm>
            <a:off x="467544" y="980728"/>
            <a:ext cx="8280920" cy="5616624"/>
          </a:xfrm>
        </p:spPr>
        <p:txBody>
          <a:bodyPr>
            <a:normAutofit fontScale="85000" lnSpcReduction="20000"/>
          </a:bodyPr>
          <a:lstStyle/>
          <a:p>
            <a:pPr>
              <a:lnSpc>
                <a:spcPct val="93000"/>
              </a:lnSpc>
              <a:buFont typeface="Monotype Sorts" charset="2"/>
              <a:buNone/>
              <a:tabLst>
                <a:tab pos="341313" algn="l"/>
                <a:tab pos="1600200" algn="ctr"/>
                <a:tab pos="3251200" algn="ctr"/>
                <a:tab pos="5141913" algn="ctr"/>
                <a:tab pos="5483225" algn="l"/>
                <a:tab pos="6397625" algn="l"/>
                <a:tab pos="7312025" algn="l"/>
                <a:tab pos="8226425" algn="l"/>
                <a:tab pos="9140825" algn="l"/>
                <a:tab pos="10055225" algn="l"/>
              </a:tabLst>
            </a:pPr>
            <a:r>
              <a:rPr lang="en-GB" u="sng" dirty="0">
                <a:latin typeface="Times New Roman" pitchFamily="18" charset="0"/>
                <a:cs typeface="Times New Roman" pitchFamily="18" charset="0"/>
              </a:rPr>
              <a:t>Process</a:t>
            </a:r>
            <a:r>
              <a:rPr lang="en-GB" dirty="0">
                <a:latin typeface="Times New Roman" pitchFamily="18" charset="0"/>
                <a:cs typeface="Times New Roman" pitchFamily="18" charset="0"/>
              </a:rPr>
              <a:t>	    </a:t>
            </a:r>
            <a:r>
              <a:rPr lang="en-GB" u="sng" dirty="0">
                <a:latin typeface="Times New Roman" pitchFamily="18" charset="0"/>
                <a:cs typeface="Times New Roman" pitchFamily="18" charset="0"/>
              </a:rPr>
              <a:t>Arrival Time	</a:t>
            </a:r>
            <a:r>
              <a:rPr lang="en-GB" dirty="0">
                <a:latin typeface="Times New Roman" pitchFamily="18" charset="0"/>
                <a:cs typeface="Times New Roman" pitchFamily="18" charset="0"/>
              </a:rPr>
              <a:t>  </a:t>
            </a:r>
            <a:r>
              <a:rPr lang="en-GB" u="sng" dirty="0">
                <a:latin typeface="Times New Roman" pitchFamily="18" charset="0"/>
                <a:cs typeface="Times New Roman" pitchFamily="18" charset="0"/>
              </a:rPr>
              <a:t>Burst Time</a:t>
            </a:r>
          </a:p>
          <a:p>
            <a:pPr>
              <a:buFont typeface="Monotype Sorts" charset="2"/>
              <a:buNone/>
              <a:tabLst>
                <a:tab pos="341313" algn="l"/>
                <a:tab pos="1600200" algn="ctr"/>
                <a:tab pos="3251200" algn="ctr"/>
                <a:tab pos="5141913" algn="ctr"/>
                <a:tab pos="5483225" algn="l"/>
                <a:tab pos="6397625" algn="l"/>
                <a:tab pos="7312025" algn="l"/>
                <a:tab pos="8226425" algn="l"/>
                <a:tab pos="9140825" algn="l"/>
                <a:tab pos="10055225" algn="l"/>
              </a:tabLst>
            </a:pP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P</a:t>
            </a:r>
            <a:r>
              <a:rPr lang="en-GB" i="1" baseline="-25000" dirty="0">
                <a:latin typeface="Times New Roman" pitchFamily="18" charset="0"/>
                <a:cs typeface="Times New Roman" pitchFamily="18" charset="0"/>
              </a:rPr>
              <a:t>1</a:t>
            </a:r>
            <a:r>
              <a:rPr lang="en-GB" dirty="0">
                <a:latin typeface="Times New Roman" pitchFamily="18" charset="0"/>
                <a:cs typeface="Times New Roman" pitchFamily="18" charset="0"/>
              </a:rPr>
              <a:t>	   0.0	7</a:t>
            </a:r>
          </a:p>
          <a:p>
            <a:pPr>
              <a:buFont typeface="Monotype Sorts" charset="2"/>
              <a:buNone/>
              <a:tabLst>
                <a:tab pos="341313" algn="l"/>
                <a:tab pos="1600200" algn="ctr"/>
                <a:tab pos="3251200" algn="ctr"/>
                <a:tab pos="5141913" algn="ctr"/>
                <a:tab pos="5483225" algn="l"/>
                <a:tab pos="6397625" algn="l"/>
                <a:tab pos="7312025" algn="l"/>
                <a:tab pos="8226425" algn="l"/>
                <a:tab pos="9140825" algn="l"/>
                <a:tab pos="10055225" algn="l"/>
              </a:tabLst>
            </a:pP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P</a:t>
            </a:r>
            <a:r>
              <a:rPr lang="en-GB" i="1" baseline="-25000" dirty="0">
                <a:latin typeface="Times New Roman" pitchFamily="18" charset="0"/>
                <a:cs typeface="Times New Roman" pitchFamily="18" charset="0"/>
              </a:rPr>
              <a:t>2	      </a:t>
            </a:r>
            <a:r>
              <a:rPr lang="en-GB" dirty="0">
                <a:latin typeface="Times New Roman" pitchFamily="18" charset="0"/>
                <a:cs typeface="Times New Roman" pitchFamily="18" charset="0"/>
              </a:rPr>
              <a:t>2.0	4</a:t>
            </a:r>
          </a:p>
          <a:p>
            <a:pPr>
              <a:buFont typeface="Monotype Sorts" charset="2"/>
              <a:buNone/>
              <a:tabLst>
                <a:tab pos="341313" algn="l"/>
                <a:tab pos="1600200" algn="ctr"/>
                <a:tab pos="3251200" algn="ctr"/>
                <a:tab pos="5141913" algn="ctr"/>
                <a:tab pos="5483225" algn="l"/>
                <a:tab pos="6397625" algn="l"/>
                <a:tab pos="7312025" algn="l"/>
                <a:tab pos="8226425" algn="l"/>
                <a:tab pos="9140825" algn="l"/>
                <a:tab pos="10055225" algn="l"/>
              </a:tabLst>
            </a:pP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P</a:t>
            </a:r>
            <a:r>
              <a:rPr lang="en-GB" i="1" baseline="-25000" dirty="0">
                <a:latin typeface="Times New Roman" pitchFamily="18" charset="0"/>
                <a:cs typeface="Times New Roman" pitchFamily="18" charset="0"/>
              </a:rPr>
              <a:t>3</a:t>
            </a:r>
            <a:r>
              <a:rPr lang="en-GB" dirty="0">
                <a:latin typeface="Times New Roman" pitchFamily="18" charset="0"/>
                <a:cs typeface="Times New Roman" pitchFamily="18" charset="0"/>
              </a:rPr>
              <a:t>	    4.0	1</a:t>
            </a:r>
          </a:p>
          <a:p>
            <a:pPr>
              <a:buFont typeface="Monotype Sorts" charset="2"/>
              <a:buNone/>
              <a:tabLst>
                <a:tab pos="341313" algn="l"/>
                <a:tab pos="1600200" algn="ctr"/>
                <a:tab pos="3251200" algn="ctr"/>
                <a:tab pos="5141913" algn="ctr"/>
                <a:tab pos="5483225" algn="l"/>
                <a:tab pos="6397625" algn="l"/>
                <a:tab pos="7312025" algn="l"/>
                <a:tab pos="8226425" algn="l"/>
                <a:tab pos="9140825" algn="l"/>
                <a:tab pos="10055225" algn="l"/>
              </a:tabLst>
            </a:pPr>
            <a:r>
              <a:rPr lang="en-GB" dirty="0">
                <a:latin typeface="Times New Roman" pitchFamily="18" charset="0"/>
                <a:cs typeface="Times New Roman" pitchFamily="18" charset="0"/>
              </a:rPr>
              <a:t>	</a:t>
            </a:r>
            <a:r>
              <a:rPr lang="en-GB" i="1" dirty="0">
                <a:latin typeface="Times New Roman" pitchFamily="18" charset="0"/>
                <a:cs typeface="Times New Roman" pitchFamily="18" charset="0"/>
              </a:rPr>
              <a:t>P</a:t>
            </a:r>
            <a:r>
              <a:rPr lang="en-GB" i="1" baseline="-25000" dirty="0">
                <a:latin typeface="Times New Roman" pitchFamily="18" charset="0"/>
                <a:cs typeface="Times New Roman" pitchFamily="18" charset="0"/>
              </a:rPr>
              <a:t>4</a:t>
            </a:r>
            <a:r>
              <a:rPr lang="en-GB" dirty="0">
                <a:latin typeface="Times New Roman" pitchFamily="18" charset="0"/>
                <a:cs typeface="Times New Roman" pitchFamily="18" charset="0"/>
              </a:rPr>
              <a:t>	   5.0	4</a:t>
            </a:r>
          </a:p>
          <a:p>
            <a:pPr>
              <a:tabLst>
                <a:tab pos="341313" algn="l"/>
                <a:tab pos="1600200" algn="ctr"/>
                <a:tab pos="3251200" algn="ctr"/>
                <a:tab pos="5141913" algn="ctr"/>
                <a:tab pos="5483225" algn="l"/>
                <a:tab pos="6397625" algn="l"/>
                <a:tab pos="7312025" algn="l"/>
                <a:tab pos="8226425" algn="l"/>
                <a:tab pos="9140825" algn="l"/>
                <a:tab pos="10055225" algn="l"/>
              </a:tabLst>
            </a:pPr>
            <a:r>
              <a:rPr lang="en-GB" dirty="0">
                <a:latin typeface="Times New Roman" pitchFamily="18" charset="0"/>
                <a:cs typeface="Times New Roman" pitchFamily="18" charset="0"/>
              </a:rPr>
              <a:t>SJF (non-</a:t>
            </a:r>
            <a:r>
              <a:rPr lang="en-GB" dirty="0" err="1">
                <a:latin typeface="Times New Roman" pitchFamily="18" charset="0"/>
                <a:cs typeface="Times New Roman" pitchFamily="18" charset="0"/>
              </a:rPr>
              <a:t>preemptive</a:t>
            </a:r>
            <a:r>
              <a:rPr lang="en-GB" dirty="0">
                <a:latin typeface="Times New Roman" pitchFamily="18" charset="0"/>
                <a:cs typeface="Times New Roman" pitchFamily="18" charset="0"/>
              </a:rPr>
              <a:t>, varied arrival times)</a:t>
            </a:r>
          </a:p>
          <a:p>
            <a:pPr>
              <a:buFont typeface="Monotype Sorts" charset="2"/>
              <a:buNone/>
              <a:tabLst>
                <a:tab pos="341313" algn="l"/>
                <a:tab pos="1600200" algn="ctr"/>
                <a:tab pos="3251200" algn="ctr"/>
                <a:tab pos="5141913" algn="ctr"/>
                <a:tab pos="5483225" algn="l"/>
                <a:tab pos="6397625" algn="l"/>
                <a:tab pos="7312025" algn="l"/>
                <a:tab pos="8226425" algn="l"/>
                <a:tab pos="9140825" algn="l"/>
                <a:tab pos="10055225" algn="l"/>
              </a:tabLst>
            </a:pPr>
            <a:endParaRPr lang="en-GB" dirty="0">
              <a:latin typeface="Times New Roman" pitchFamily="18" charset="0"/>
              <a:cs typeface="Times New Roman" pitchFamily="18" charset="0"/>
            </a:endParaRPr>
          </a:p>
          <a:p>
            <a:pPr>
              <a:buFont typeface="Monotype Sorts" charset="2"/>
              <a:buNone/>
              <a:tabLst>
                <a:tab pos="341313" algn="l"/>
                <a:tab pos="1600200" algn="ctr"/>
                <a:tab pos="3251200" algn="ctr"/>
                <a:tab pos="5141913" algn="ctr"/>
                <a:tab pos="5483225" algn="l"/>
                <a:tab pos="6397625" algn="l"/>
                <a:tab pos="7312025" algn="l"/>
                <a:tab pos="8226425" algn="l"/>
                <a:tab pos="9140825" algn="l"/>
                <a:tab pos="10055225" algn="l"/>
              </a:tabLst>
            </a:pPr>
            <a:endParaRPr lang="en-GB" dirty="0">
              <a:latin typeface="Times New Roman" pitchFamily="18" charset="0"/>
              <a:cs typeface="Times New Roman" pitchFamily="18" charset="0"/>
            </a:endParaRPr>
          </a:p>
          <a:p>
            <a:pPr>
              <a:buFont typeface="Monotype Sorts" charset="2"/>
              <a:buNone/>
              <a:tabLst>
                <a:tab pos="341313" algn="l"/>
                <a:tab pos="1600200" algn="ctr"/>
                <a:tab pos="3251200" algn="ctr"/>
                <a:tab pos="5141913" algn="ctr"/>
                <a:tab pos="5483225" algn="l"/>
                <a:tab pos="6397625" algn="l"/>
                <a:tab pos="7312025" algn="l"/>
                <a:tab pos="8226425" algn="l"/>
                <a:tab pos="9140825" algn="l"/>
                <a:tab pos="10055225" algn="l"/>
              </a:tabLst>
            </a:pPr>
            <a:endParaRPr lang="en-GB" dirty="0">
              <a:latin typeface="Times New Roman" pitchFamily="18" charset="0"/>
              <a:cs typeface="Times New Roman" pitchFamily="18" charset="0"/>
            </a:endParaRPr>
          </a:p>
          <a:p>
            <a:pPr>
              <a:tabLst>
                <a:tab pos="341313" algn="l"/>
                <a:tab pos="1600200" algn="ctr"/>
                <a:tab pos="3251200" algn="ctr"/>
                <a:tab pos="5141913" algn="ctr"/>
                <a:tab pos="5483225" algn="l"/>
                <a:tab pos="6397625" algn="l"/>
                <a:tab pos="7312025" algn="l"/>
                <a:tab pos="8226425" algn="l"/>
                <a:tab pos="9140825" algn="l"/>
                <a:tab pos="10055225" algn="l"/>
              </a:tabLst>
            </a:pPr>
            <a:endParaRPr lang="en-GB" dirty="0">
              <a:latin typeface="Times New Roman" pitchFamily="18" charset="0"/>
              <a:cs typeface="Times New Roman" pitchFamily="18" charset="0"/>
            </a:endParaRPr>
          </a:p>
          <a:p>
            <a:pPr>
              <a:tabLst>
                <a:tab pos="341313" algn="l"/>
                <a:tab pos="1600200" algn="ctr"/>
                <a:tab pos="3251200" algn="ctr"/>
                <a:tab pos="5141913" algn="ctr"/>
                <a:tab pos="5483225" algn="l"/>
                <a:tab pos="6397625" algn="l"/>
                <a:tab pos="7312025" algn="l"/>
                <a:tab pos="8226425" algn="l"/>
                <a:tab pos="9140825" algn="l"/>
                <a:tab pos="10055225" algn="l"/>
              </a:tabLst>
            </a:pPr>
            <a:endParaRPr lang="en-GB" dirty="0">
              <a:latin typeface="Times New Roman" pitchFamily="18" charset="0"/>
              <a:cs typeface="Times New Roman" pitchFamily="18" charset="0"/>
            </a:endParaRPr>
          </a:p>
          <a:p>
            <a:pPr>
              <a:tabLst>
                <a:tab pos="341313" algn="l"/>
                <a:tab pos="1600200" algn="ctr"/>
                <a:tab pos="3251200" algn="ctr"/>
                <a:tab pos="5141913" algn="ctr"/>
                <a:tab pos="5483225" algn="l"/>
                <a:tab pos="6397625" algn="l"/>
                <a:tab pos="7312025" algn="l"/>
                <a:tab pos="8226425" algn="l"/>
                <a:tab pos="9140825" algn="l"/>
                <a:tab pos="10055225" algn="l"/>
              </a:tabLst>
            </a:pPr>
            <a:r>
              <a:rPr lang="en-GB" dirty="0">
                <a:latin typeface="Times New Roman" pitchFamily="18" charset="0"/>
                <a:cs typeface="Times New Roman" pitchFamily="18" charset="0"/>
              </a:rPr>
              <a:t>Average waiting time </a:t>
            </a:r>
            <a:br>
              <a:rPr lang="en-GB" dirty="0">
                <a:latin typeface="Times New Roman" pitchFamily="18" charset="0"/>
                <a:cs typeface="Times New Roman" pitchFamily="18" charset="0"/>
              </a:rPr>
            </a:br>
            <a:r>
              <a:rPr lang="en-GB" dirty="0">
                <a:latin typeface="Times New Roman" pitchFamily="18" charset="0"/>
                <a:cs typeface="Times New Roman" pitchFamily="18" charset="0"/>
              </a:rPr>
              <a:t> 	                           = ( (0 – 0) + (8 – 2) + (7 – 4) + (12 – 5) )/4  </a:t>
            </a:r>
            <a:br>
              <a:rPr lang="en-GB" dirty="0">
                <a:latin typeface="Times New Roman" pitchFamily="18" charset="0"/>
                <a:cs typeface="Times New Roman" pitchFamily="18" charset="0"/>
              </a:rPr>
            </a:br>
            <a:r>
              <a:rPr lang="en-GB" dirty="0">
                <a:latin typeface="Times New Roman" pitchFamily="18" charset="0"/>
                <a:cs typeface="Times New Roman" pitchFamily="18" charset="0"/>
              </a:rPr>
              <a:t> 	                           = (0 + 6 + 3 + 7)/4 = 4                            </a:t>
            </a:r>
          </a:p>
          <a:p>
            <a:pPr>
              <a:tabLst>
                <a:tab pos="341313" algn="l"/>
                <a:tab pos="1600200" algn="ctr"/>
                <a:tab pos="3251200" algn="ctr"/>
                <a:tab pos="5141913" algn="ctr"/>
                <a:tab pos="5483225" algn="l"/>
                <a:tab pos="6397625" algn="l"/>
                <a:tab pos="7312025" algn="l"/>
                <a:tab pos="8226425" algn="l"/>
                <a:tab pos="9140825" algn="l"/>
                <a:tab pos="10055225" algn="l"/>
              </a:tabLst>
            </a:pPr>
            <a:r>
              <a:rPr lang="en-GB" dirty="0">
                <a:latin typeface="Times New Roman" pitchFamily="18" charset="0"/>
                <a:cs typeface="Times New Roman" pitchFamily="18" charset="0"/>
              </a:rPr>
              <a:t>Average turn-around time: </a:t>
            </a:r>
            <a:br>
              <a:rPr lang="en-GB" dirty="0">
                <a:latin typeface="Times New Roman" pitchFamily="18" charset="0"/>
                <a:cs typeface="Times New Roman" pitchFamily="18" charset="0"/>
              </a:rPr>
            </a:br>
            <a:r>
              <a:rPr lang="en-GB" dirty="0">
                <a:latin typeface="Times New Roman" pitchFamily="18" charset="0"/>
                <a:cs typeface="Times New Roman" pitchFamily="18" charset="0"/>
              </a:rPr>
              <a:t>                            = ( (7 – 0) + (12 – 2) + (8 - 4) + (16 – 5))/4 </a:t>
            </a:r>
            <a:br>
              <a:rPr lang="en-GB" dirty="0">
                <a:latin typeface="Times New Roman" pitchFamily="18" charset="0"/>
                <a:cs typeface="Times New Roman" pitchFamily="18" charset="0"/>
              </a:rPr>
            </a:br>
            <a:r>
              <a:rPr lang="en-GB" dirty="0">
                <a:latin typeface="Times New Roman" pitchFamily="18" charset="0"/>
                <a:cs typeface="Times New Roman" pitchFamily="18" charset="0"/>
              </a:rPr>
              <a:t>	                            = ( 7 + 10 + 4 + 11)/4  = 8</a:t>
            </a:r>
          </a:p>
        </p:txBody>
      </p:sp>
      <p:sp>
        <p:nvSpPr>
          <p:cNvPr id="153603" name="Rectangle 3"/>
          <p:cNvSpPr>
            <a:spLocks noGrp="1" noChangeArrowheads="1"/>
          </p:cNvSpPr>
          <p:nvPr>
            <p:ph type="title" idx="4294967295"/>
          </p:nvPr>
        </p:nvSpPr>
        <p:spPr>
          <a:xfrm>
            <a:off x="251520" y="228600"/>
            <a:ext cx="8892480" cy="609600"/>
          </a:xfrm>
        </p:spPr>
        <p:txBody>
          <a:bodyPr lIns="91440" tIns="45720" rIns="91440" bIns="45720" anchor="ctr">
            <a:noAutofit/>
          </a:bodyPr>
          <a:lstStyle/>
          <a:p>
            <a:pPr>
              <a:lnSpc>
                <a:spcPct val="93000"/>
              </a:lnSpc>
              <a:buFont typeface="Helvetica" pitchFamily="32"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3200" dirty="0">
                <a:latin typeface="Times New Roman" pitchFamily="18" charset="0"/>
                <a:cs typeface="Times New Roman" pitchFamily="18" charset="0"/>
              </a:rPr>
              <a:t>Example #3: Non-</a:t>
            </a:r>
            <a:r>
              <a:rPr lang="en-GB" sz="3200" dirty="0" err="1">
                <a:latin typeface="Times New Roman" pitchFamily="18" charset="0"/>
                <a:cs typeface="Times New Roman" pitchFamily="18" charset="0"/>
              </a:rPr>
              <a:t>Preemptive</a:t>
            </a:r>
            <a:r>
              <a:rPr lang="en-GB" sz="3200" dirty="0">
                <a:latin typeface="Times New Roman" pitchFamily="18" charset="0"/>
                <a:cs typeface="Times New Roman" pitchFamily="18" charset="0"/>
              </a:rPr>
              <a:t> SJF </a:t>
            </a:r>
            <a:br>
              <a:rPr lang="en-GB" sz="3200" dirty="0">
                <a:latin typeface="Times New Roman" pitchFamily="18" charset="0"/>
                <a:cs typeface="Times New Roman" pitchFamily="18" charset="0"/>
              </a:rPr>
            </a:br>
            <a:r>
              <a:rPr lang="en-GB" sz="3200" dirty="0">
                <a:latin typeface="Times New Roman" pitchFamily="18" charset="0"/>
                <a:cs typeface="Times New Roman" pitchFamily="18" charset="0"/>
              </a:rPr>
              <a:t>(varied arrival times)</a:t>
            </a:r>
          </a:p>
        </p:txBody>
      </p:sp>
      <p:grpSp>
        <p:nvGrpSpPr>
          <p:cNvPr id="2" name="Group 4"/>
          <p:cNvGrpSpPr>
            <a:grpSpLocks/>
          </p:cNvGrpSpPr>
          <p:nvPr/>
        </p:nvGrpSpPr>
        <p:grpSpPr bwMode="auto">
          <a:xfrm>
            <a:off x="755576" y="3284984"/>
            <a:ext cx="5573712" cy="1127125"/>
            <a:chOff x="1287" y="2325"/>
            <a:chExt cx="3511" cy="710"/>
          </a:xfrm>
        </p:grpSpPr>
        <p:sp>
          <p:nvSpPr>
            <p:cNvPr id="22534" name="AutoShape 5"/>
            <p:cNvSpPr>
              <a:spLocks noChangeArrowheads="1"/>
            </p:cNvSpPr>
            <p:nvPr/>
          </p:nvSpPr>
          <p:spPr bwMode="auto">
            <a:xfrm>
              <a:off x="1383" y="2325"/>
              <a:ext cx="3312" cy="384"/>
            </a:xfrm>
            <a:prstGeom prst="roundRect">
              <a:avLst>
                <a:gd name="adj" fmla="val 259"/>
              </a:avLst>
            </a:prstGeom>
            <a:solidFill>
              <a:srgbClr val="FFFF99"/>
            </a:solidFill>
            <a:ln w="9360">
              <a:solidFill>
                <a:srgbClr val="000000"/>
              </a:solidFill>
              <a:round/>
              <a:headEnd/>
              <a:tailEnd/>
            </a:ln>
          </p:spPr>
          <p:txBody>
            <a:bodyPr wrap="none" anchor="ctr"/>
            <a:lstStyle/>
            <a:p>
              <a:endParaRPr lang="en-US">
                <a:ea typeface="Lucida Sans Unicode" pitchFamily="34" charset="0"/>
              </a:endParaRPr>
            </a:p>
          </p:txBody>
        </p:sp>
        <p:sp>
          <p:nvSpPr>
            <p:cNvPr id="22535" name="AutoShape 6"/>
            <p:cNvSpPr>
              <a:spLocks noChangeArrowheads="1"/>
            </p:cNvSpPr>
            <p:nvPr/>
          </p:nvSpPr>
          <p:spPr bwMode="auto">
            <a:xfrm>
              <a:off x="1815" y="2373"/>
              <a:ext cx="265" cy="231"/>
            </a:xfrm>
            <a:prstGeom prst="roundRect">
              <a:avLst>
                <a:gd name="adj" fmla="val 431"/>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P</a:t>
              </a:r>
              <a:r>
                <a:rPr lang="en-GB" sz="1800" baseline="-25000">
                  <a:solidFill>
                    <a:schemeClr val="tx1"/>
                  </a:solidFill>
                  <a:latin typeface="Helvetica" pitchFamily="34" charset="0"/>
                  <a:ea typeface="Lucida Sans Unicode" pitchFamily="34" charset="0"/>
                </a:rPr>
                <a:t>1</a:t>
              </a:r>
            </a:p>
          </p:txBody>
        </p:sp>
        <p:sp>
          <p:nvSpPr>
            <p:cNvPr id="22536" name="AutoShape 7"/>
            <p:cNvSpPr>
              <a:spLocks noChangeArrowheads="1"/>
            </p:cNvSpPr>
            <p:nvPr/>
          </p:nvSpPr>
          <p:spPr bwMode="auto">
            <a:xfrm>
              <a:off x="2823" y="2373"/>
              <a:ext cx="265" cy="231"/>
            </a:xfrm>
            <a:prstGeom prst="roundRect">
              <a:avLst>
                <a:gd name="adj" fmla="val 431"/>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P</a:t>
              </a:r>
              <a:r>
                <a:rPr lang="en-GB" sz="1800" baseline="-25000">
                  <a:solidFill>
                    <a:schemeClr val="tx1"/>
                  </a:solidFill>
                  <a:latin typeface="Helvetica" pitchFamily="34" charset="0"/>
                  <a:ea typeface="Lucida Sans Unicode" pitchFamily="34" charset="0"/>
                </a:rPr>
                <a:t>3</a:t>
              </a:r>
            </a:p>
          </p:txBody>
        </p:sp>
        <p:sp>
          <p:nvSpPr>
            <p:cNvPr id="22537" name="AutoShape 8"/>
            <p:cNvSpPr>
              <a:spLocks noChangeArrowheads="1"/>
            </p:cNvSpPr>
            <p:nvPr/>
          </p:nvSpPr>
          <p:spPr bwMode="auto">
            <a:xfrm>
              <a:off x="3399" y="2373"/>
              <a:ext cx="265" cy="231"/>
            </a:xfrm>
            <a:prstGeom prst="roundRect">
              <a:avLst>
                <a:gd name="adj" fmla="val 431"/>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P</a:t>
              </a:r>
              <a:r>
                <a:rPr lang="en-GB" sz="1800" baseline="-25000">
                  <a:solidFill>
                    <a:schemeClr val="tx1"/>
                  </a:solidFill>
                  <a:latin typeface="Helvetica" pitchFamily="34" charset="0"/>
                  <a:ea typeface="Lucida Sans Unicode" pitchFamily="34" charset="0"/>
                </a:rPr>
                <a:t>2</a:t>
              </a:r>
            </a:p>
          </p:txBody>
        </p:sp>
        <p:sp>
          <p:nvSpPr>
            <p:cNvPr id="22538" name="Line 9"/>
            <p:cNvSpPr>
              <a:spLocks noChangeShapeType="1"/>
            </p:cNvSpPr>
            <p:nvPr/>
          </p:nvSpPr>
          <p:spPr bwMode="auto">
            <a:xfrm>
              <a:off x="4695" y="2709"/>
              <a:ext cx="1" cy="144"/>
            </a:xfrm>
            <a:prstGeom prst="line">
              <a:avLst/>
            </a:prstGeom>
            <a:noFill/>
            <a:ln w="9360">
              <a:solidFill>
                <a:srgbClr val="000000"/>
              </a:solidFill>
              <a:round/>
              <a:headEnd/>
              <a:tailEnd/>
            </a:ln>
          </p:spPr>
          <p:txBody>
            <a:bodyPr/>
            <a:lstStyle/>
            <a:p>
              <a:endParaRPr lang="en-IN"/>
            </a:p>
          </p:txBody>
        </p:sp>
        <p:sp>
          <p:nvSpPr>
            <p:cNvPr id="22539" name="Line 10"/>
            <p:cNvSpPr>
              <a:spLocks noChangeShapeType="1"/>
            </p:cNvSpPr>
            <p:nvPr/>
          </p:nvSpPr>
          <p:spPr bwMode="auto">
            <a:xfrm>
              <a:off x="1383" y="2709"/>
              <a:ext cx="1" cy="144"/>
            </a:xfrm>
            <a:prstGeom prst="line">
              <a:avLst/>
            </a:prstGeom>
            <a:noFill/>
            <a:ln w="9360">
              <a:solidFill>
                <a:srgbClr val="000000"/>
              </a:solidFill>
              <a:round/>
              <a:headEnd/>
              <a:tailEnd/>
            </a:ln>
          </p:spPr>
          <p:txBody>
            <a:bodyPr/>
            <a:lstStyle/>
            <a:p>
              <a:endParaRPr lang="en-IN"/>
            </a:p>
          </p:txBody>
        </p:sp>
        <p:sp>
          <p:nvSpPr>
            <p:cNvPr id="22540" name="Line 11"/>
            <p:cNvSpPr>
              <a:spLocks noChangeShapeType="1"/>
            </p:cNvSpPr>
            <p:nvPr/>
          </p:nvSpPr>
          <p:spPr bwMode="auto">
            <a:xfrm>
              <a:off x="3111" y="2325"/>
              <a:ext cx="1" cy="384"/>
            </a:xfrm>
            <a:prstGeom prst="line">
              <a:avLst/>
            </a:prstGeom>
            <a:noFill/>
            <a:ln w="9360">
              <a:solidFill>
                <a:srgbClr val="000000"/>
              </a:solidFill>
              <a:round/>
              <a:headEnd/>
              <a:tailEnd/>
            </a:ln>
          </p:spPr>
          <p:txBody>
            <a:bodyPr/>
            <a:lstStyle/>
            <a:p>
              <a:endParaRPr lang="en-IN"/>
            </a:p>
          </p:txBody>
        </p:sp>
        <p:sp>
          <p:nvSpPr>
            <p:cNvPr id="22541" name="Line 12"/>
            <p:cNvSpPr>
              <a:spLocks noChangeShapeType="1"/>
            </p:cNvSpPr>
            <p:nvPr/>
          </p:nvSpPr>
          <p:spPr bwMode="auto">
            <a:xfrm>
              <a:off x="2823" y="2325"/>
              <a:ext cx="1" cy="384"/>
            </a:xfrm>
            <a:prstGeom prst="line">
              <a:avLst/>
            </a:prstGeom>
            <a:noFill/>
            <a:ln w="9360">
              <a:solidFill>
                <a:srgbClr val="000000"/>
              </a:solidFill>
              <a:round/>
              <a:headEnd/>
              <a:tailEnd/>
            </a:ln>
          </p:spPr>
          <p:txBody>
            <a:bodyPr/>
            <a:lstStyle/>
            <a:p>
              <a:endParaRPr lang="en-IN"/>
            </a:p>
          </p:txBody>
        </p:sp>
        <p:sp>
          <p:nvSpPr>
            <p:cNvPr id="22542" name="Line 13"/>
            <p:cNvSpPr>
              <a:spLocks noChangeShapeType="1"/>
            </p:cNvSpPr>
            <p:nvPr/>
          </p:nvSpPr>
          <p:spPr bwMode="auto">
            <a:xfrm>
              <a:off x="2823" y="2709"/>
              <a:ext cx="1" cy="144"/>
            </a:xfrm>
            <a:prstGeom prst="line">
              <a:avLst/>
            </a:prstGeom>
            <a:noFill/>
            <a:ln w="9360">
              <a:solidFill>
                <a:srgbClr val="000000"/>
              </a:solidFill>
              <a:round/>
              <a:headEnd/>
              <a:tailEnd/>
            </a:ln>
          </p:spPr>
          <p:txBody>
            <a:bodyPr/>
            <a:lstStyle/>
            <a:p>
              <a:endParaRPr lang="en-IN"/>
            </a:p>
          </p:txBody>
        </p:sp>
        <p:sp>
          <p:nvSpPr>
            <p:cNvPr id="22543" name="Line 14"/>
            <p:cNvSpPr>
              <a:spLocks noChangeShapeType="1"/>
            </p:cNvSpPr>
            <p:nvPr/>
          </p:nvSpPr>
          <p:spPr bwMode="auto">
            <a:xfrm>
              <a:off x="1815" y="2638"/>
              <a:ext cx="1" cy="144"/>
            </a:xfrm>
            <a:prstGeom prst="line">
              <a:avLst/>
            </a:prstGeom>
            <a:noFill/>
            <a:ln w="9360">
              <a:solidFill>
                <a:srgbClr val="000000"/>
              </a:solidFill>
              <a:round/>
              <a:headEnd/>
              <a:tailEnd/>
            </a:ln>
          </p:spPr>
          <p:txBody>
            <a:bodyPr/>
            <a:lstStyle/>
            <a:p>
              <a:endParaRPr lang="en-IN"/>
            </a:p>
          </p:txBody>
        </p:sp>
        <p:sp>
          <p:nvSpPr>
            <p:cNvPr id="22544" name="AutoShape 15"/>
            <p:cNvSpPr>
              <a:spLocks noChangeArrowheads="1"/>
            </p:cNvSpPr>
            <p:nvPr/>
          </p:nvSpPr>
          <p:spPr bwMode="auto">
            <a:xfrm>
              <a:off x="2727" y="2805"/>
              <a:ext cx="196" cy="231"/>
            </a:xfrm>
            <a:prstGeom prst="roundRect">
              <a:avLst>
                <a:gd name="adj" fmla="val 509"/>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7</a:t>
              </a:r>
            </a:p>
          </p:txBody>
        </p:sp>
        <p:sp>
          <p:nvSpPr>
            <p:cNvPr id="22545" name="AutoShape 16"/>
            <p:cNvSpPr>
              <a:spLocks noChangeArrowheads="1"/>
            </p:cNvSpPr>
            <p:nvPr/>
          </p:nvSpPr>
          <p:spPr bwMode="auto">
            <a:xfrm>
              <a:off x="1915" y="2805"/>
              <a:ext cx="196" cy="231"/>
            </a:xfrm>
            <a:prstGeom prst="roundRect">
              <a:avLst>
                <a:gd name="adj" fmla="val 509"/>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3</a:t>
              </a:r>
            </a:p>
          </p:txBody>
        </p:sp>
        <p:sp>
          <p:nvSpPr>
            <p:cNvPr id="22546" name="AutoShape 17"/>
            <p:cNvSpPr>
              <a:spLocks noChangeArrowheads="1"/>
            </p:cNvSpPr>
            <p:nvPr/>
          </p:nvSpPr>
          <p:spPr bwMode="auto">
            <a:xfrm>
              <a:off x="4523" y="2805"/>
              <a:ext cx="276" cy="231"/>
            </a:xfrm>
            <a:prstGeom prst="roundRect">
              <a:avLst>
                <a:gd name="adj" fmla="val 431"/>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16</a:t>
              </a:r>
            </a:p>
          </p:txBody>
        </p:sp>
        <p:sp>
          <p:nvSpPr>
            <p:cNvPr id="22547" name="AutoShape 18"/>
            <p:cNvSpPr>
              <a:spLocks noChangeArrowheads="1"/>
            </p:cNvSpPr>
            <p:nvPr/>
          </p:nvSpPr>
          <p:spPr bwMode="auto">
            <a:xfrm>
              <a:off x="1287" y="2805"/>
              <a:ext cx="196" cy="231"/>
            </a:xfrm>
            <a:prstGeom prst="roundRect">
              <a:avLst>
                <a:gd name="adj" fmla="val 509"/>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0</a:t>
              </a:r>
            </a:p>
          </p:txBody>
        </p:sp>
        <p:sp>
          <p:nvSpPr>
            <p:cNvPr id="22548" name="AutoShape 19"/>
            <p:cNvSpPr>
              <a:spLocks noChangeArrowheads="1"/>
            </p:cNvSpPr>
            <p:nvPr/>
          </p:nvSpPr>
          <p:spPr bwMode="auto">
            <a:xfrm>
              <a:off x="4119" y="2373"/>
              <a:ext cx="265" cy="231"/>
            </a:xfrm>
            <a:prstGeom prst="roundRect">
              <a:avLst>
                <a:gd name="adj" fmla="val 431"/>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P</a:t>
              </a:r>
              <a:r>
                <a:rPr lang="en-GB" sz="1800" baseline="-25000">
                  <a:solidFill>
                    <a:schemeClr val="tx1"/>
                  </a:solidFill>
                  <a:latin typeface="Helvetica" pitchFamily="34" charset="0"/>
                  <a:ea typeface="Lucida Sans Unicode" pitchFamily="34" charset="0"/>
                </a:rPr>
                <a:t>4</a:t>
              </a:r>
            </a:p>
          </p:txBody>
        </p:sp>
        <p:sp>
          <p:nvSpPr>
            <p:cNvPr id="22549" name="Line 20"/>
            <p:cNvSpPr>
              <a:spLocks noChangeShapeType="1"/>
            </p:cNvSpPr>
            <p:nvPr/>
          </p:nvSpPr>
          <p:spPr bwMode="auto">
            <a:xfrm>
              <a:off x="3879" y="2325"/>
              <a:ext cx="1" cy="384"/>
            </a:xfrm>
            <a:prstGeom prst="line">
              <a:avLst/>
            </a:prstGeom>
            <a:noFill/>
            <a:ln w="9360">
              <a:solidFill>
                <a:srgbClr val="000000"/>
              </a:solidFill>
              <a:round/>
              <a:headEnd/>
              <a:tailEnd/>
            </a:ln>
          </p:spPr>
          <p:txBody>
            <a:bodyPr/>
            <a:lstStyle/>
            <a:p>
              <a:endParaRPr lang="en-IN"/>
            </a:p>
          </p:txBody>
        </p:sp>
        <p:sp>
          <p:nvSpPr>
            <p:cNvPr id="22550" name="Line 21"/>
            <p:cNvSpPr>
              <a:spLocks noChangeShapeType="1"/>
            </p:cNvSpPr>
            <p:nvPr/>
          </p:nvSpPr>
          <p:spPr bwMode="auto">
            <a:xfrm>
              <a:off x="1575" y="2638"/>
              <a:ext cx="1" cy="144"/>
            </a:xfrm>
            <a:prstGeom prst="line">
              <a:avLst/>
            </a:prstGeom>
            <a:noFill/>
            <a:ln w="9360">
              <a:solidFill>
                <a:srgbClr val="000000"/>
              </a:solidFill>
              <a:round/>
              <a:headEnd/>
              <a:tailEnd/>
            </a:ln>
          </p:spPr>
          <p:txBody>
            <a:bodyPr/>
            <a:lstStyle/>
            <a:p>
              <a:endParaRPr lang="en-IN"/>
            </a:p>
          </p:txBody>
        </p:sp>
        <p:sp>
          <p:nvSpPr>
            <p:cNvPr id="22551" name="Line 22"/>
            <p:cNvSpPr>
              <a:spLocks noChangeShapeType="1"/>
            </p:cNvSpPr>
            <p:nvPr/>
          </p:nvSpPr>
          <p:spPr bwMode="auto">
            <a:xfrm>
              <a:off x="2055" y="2638"/>
              <a:ext cx="1" cy="144"/>
            </a:xfrm>
            <a:prstGeom prst="line">
              <a:avLst/>
            </a:prstGeom>
            <a:noFill/>
            <a:ln w="9360">
              <a:solidFill>
                <a:srgbClr val="000000"/>
              </a:solidFill>
              <a:round/>
              <a:headEnd/>
              <a:tailEnd/>
            </a:ln>
          </p:spPr>
          <p:txBody>
            <a:bodyPr/>
            <a:lstStyle/>
            <a:p>
              <a:endParaRPr lang="en-IN"/>
            </a:p>
          </p:txBody>
        </p:sp>
        <p:sp>
          <p:nvSpPr>
            <p:cNvPr id="22552" name="Line 23"/>
            <p:cNvSpPr>
              <a:spLocks noChangeShapeType="1"/>
            </p:cNvSpPr>
            <p:nvPr/>
          </p:nvSpPr>
          <p:spPr bwMode="auto">
            <a:xfrm>
              <a:off x="2295" y="2638"/>
              <a:ext cx="1" cy="144"/>
            </a:xfrm>
            <a:prstGeom prst="line">
              <a:avLst/>
            </a:prstGeom>
            <a:noFill/>
            <a:ln w="9360">
              <a:solidFill>
                <a:srgbClr val="000000"/>
              </a:solidFill>
              <a:round/>
              <a:headEnd/>
              <a:tailEnd/>
            </a:ln>
          </p:spPr>
          <p:txBody>
            <a:bodyPr/>
            <a:lstStyle/>
            <a:p>
              <a:endParaRPr lang="en-IN"/>
            </a:p>
          </p:txBody>
        </p:sp>
        <p:sp>
          <p:nvSpPr>
            <p:cNvPr id="22553" name="Line 24"/>
            <p:cNvSpPr>
              <a:spLocks noChangeShapeType="1"/>
            </p:cNvSpPr>
            <p:nvPr/>
          </p:nvSpPr>
          <p:spPr bwMode="auto">
            <a:xfrm>
              <a:off x="2487" y="2638"/>
              <a:ext cx="1" cy="144"/>
            </a:xfrm>
            <a:prstGeom prst="line">
              <a:avLst/>
            </a:prstGeom>
            <a:noFill/>
            <a:ln w="9360">
              <a:solidFill>
                <a:srgbClr val="000000"/>
              </a:solidFill>
              <a:round/>
              <a:headEnd/>
              <a:tailEnd/>
            </a:ln>
          </p:spPr>
          <p:txBody>
            <a:bodyPr/>
            <a:lstStyle/>
            <a:p>
              <a:endParaRPr lang="en-IN"/>
            </a:p>
          </p:txBody>
        </p:sp>
        <p:sp>
          <p:nvSpPr>
            <p:cNvPr id="22554" name="Line 25"/>
            <p:cNvSpPr>
              <a:spLocks noChangeShapeType="1"/>
            </p:cNvSpPr>
            <p:nvPr/>
          </p:nvSpPr>
          <p:spPr bwMode="auto">
            <a:xfrm>
              <a:off x="2679" y="2638"/>
              <a:ext cx="1" cy="144"/>
            </a:xfrm>
            <a:prstGeom prst="line">
              <a:avLst/>
            </a:prstGeom>
            <a:noFill/>
            <a:ln w="9360">
              <a:solidFill>
                <a:srgbClr val="000000"/>
              </a:solidFill>
              <a:round/>
              <a:headEnd/>
              <a:tailEnd/>
            </a:ln>
          </p:spPr>
          <p:txBody>
            <a:bodyPr/>
            <a:lstStyle/>
            <a:p>
              <a:endParaRPr lang="en-IN"/>
            </a:p>
          </p:txBody>
        </p:sp>
        <p:sp>
          <p:nvSpPr>
            <p:cNvPr id="22555" name="Line 26"/>
            <p:cNvSpPr>
              <a:spLocks noChangeShapeType="1"/>
            </p:cNvSpPr>
            <p:nvPr/>
          </p:nvSpPr>
          <p:spPr bwMode="auto">
            <a:xfrm>
              <a:off x="3111" y="2709"/>
              <a:ext cx="1" cy="144"/>
            </a:xfrm>
            <a:prstGeom prst="line">
              <a:avLst/>
            </a:prstGeom>
            <a:noFill/>
            <a:ln w="9360">
              <a:solidFill>
                <a:srgbClr val="000000"/>
              </a:solidFill>
              <a:round/>
              <a:headEnd/>
              <a:tailEnd/>
            </a:ln>
          </p:spPr>
          <p:txBody>
            <a:bodyPr/>
            <a:lstStyle/>
            <a:p>
              <a:endParaRPr lang="en-IN"/>
            </a:p>
          </p:txBody>
        </p:sp>
        <p:sp>
          <p:nvSpPr>
            <p:cNvPr id="22556" name="AutoShape 27"/>
            <p:cNvSpPr>
              <a:spLocks noChangeArrowheads="1"/>
            </p:cNvSpPr>
            <p:nvPr/>
          </p:nvSpPr>
          <p:spPr bwMode="auto">
            <a:xfrm>
              <a:off x="3015" y="2805"/>
              <a:ext cx="196" cy="231"/>
            </a:xfrm>
            <a:prstGeom prst="roundRect">
              <a:avLst>
                <a:gd name="adj" fmla="val 509"/>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8</a:t>
              </a:r>
            </a:p>
          </p:txBody>
        </p:sp>
        <p:sp>
          <p:nvSpPr>
            <p:cNvPr id="22557" name="Line 28"/>
            <p:cNvSpPr>
              <a:spLocks noChangeShapeType="1"/>
            </p:cNvSpPr>
            <p:nvPr/>
          </p:nvSpPr>
          <p:spPr bwMode="auto">
            <a:xfrm>
              <a:off x="3351" y="2638"/>
              <a:ext cx="1" cy="144"/>
            </a:xfrm>
            <a:prstGeom prst="line">
              <a:avLst/>
            </a:prstGeom>
            <a:noFill/>
            <a:ln w="9360">
              <a:solidFill>
                <a:srgbClr val="000000"/>
              </a:solidFill>
              <a:round/>
              <a:headEnd/>
              <a:tailEnd/>
            </a:ln>
          </p:spPr>
          <p:txBody>
            <a:bodyPr/>
            <a:lstStyle/>
            <a:p>
              <a:endParaRPr lang="en-IN"/>
            </a:p>
          </p:txBody>
        </p:sp>
        <p:sp>
          <p:nvSpPr>
            <p:cNvPr id="22558" name="Line 29"/>
            <p:cNvSpPr>
              <a:spLocks noChangeShapeType="1"/>
            </p:cNvSpPr>
            <p:nvPr/>
          </p:nvSpPr>
          <p:spPr bwMode="auto">
            <a:xfrm>
              <a:off x="3543" y="2638"/>
              <a:ext cx="1" cy="144"/>
            </a:xfrm>
            <a:prstGeom prst="line">
              <a:avLst/>
            </a:prstGeom>
            <a:noFill/>
            <a:ln w="9360">
              <a:solidFill>
                <a:srgbClr val="000000"/>
              </a:solidFill>
              <a:round/>
              <a:headEnd/>
              <a:tailEnd/>
            </a:ln>
          </p:spPr>
          <p:txBody>
            <a:bodyPr/>
            <a:lstStyle/>
            <a:p>
              <a:endParaRPr lang="en-IN"/>
            </a:p>
          </p:txBody>
        </p:sp>
        <p:sp>
          <p:nvSpPr>
            <p:cNvPr id="22559" name="Line 30"/>
            <p:cNvSpPr>
              <a:spLocks noChangeShapeType="1"/>
            </p:cNvSpPr>
            <p:nvPr/>
          </p:nvSpPr>
          <p:spPr bwMode="auto">
            <a:xfrm>
              <a:off x="3735" y="2638"/>
              <a:ext cx="1" cy="144"/>
            </a:xfrm>
            <a:prstGeom prst="line">
              <a:avLst/>
            </a:prstGeom>
            <a:noFill/>
            <a:ln w="9360">
              <a:solidFill>
                <a:srgbClr val="000000"/>
              </a:solidFill>
              <a:round/>
              <a:headEnd/>
              <a:tailEnd/>
            </a:ln>
          </p:spPr>
          <p:txBody>
            <a:bodyPr/>
            <a:lstStyle/>
            <a:p>
              <a:endParaRPr lang="en-IN"/>
            </a:p>
          </p:txBody>
        </p:sp>
        <p:sp>
          <p:nvSpPr>
            <p:cNvPr id="22560" name="Line 31"/>
            <p:cNvSpPr>
              <a:spLocks noChangeShapeType="1"/>
            </p:cNvSpPr>
            <p:nvPr/>
          </p:nvSpPr>
          <p:spPr bwMode="auto">
            <a:xfrm>
              <a:off x="3879" y="2709"/>
              <a:ext cx="1" cy="144"/>
            </a:xfrm>
            <a:prstGeom prst="line">
              <a:avLst/>
            </a:prstGeom>
            <a:noFill/>
            <a:ln w="9360">
              <a:solidFill>
                <a:srgbClr val="000000"/>
              </a:solidFill>
              <a:round/>
              <a:headEnd/>
              <a:tailEnd/>
            </a:ln>
          </p:spPr>
          <p:txBody>
            <a:bodyPr/>
            <a:lstStyle/>
            <a:p>
              <a:endParaRPr lang="en-IN"/>
            </a:p>
          </p:txBody>
        </p:sp>
        <p:sp>
          <p:nvSpPr>
            <p:cNvPr id="22561" name="AutoShape 32"/>
            <p:cNvSpPr>
              <a:spLocks noChangeArrowheads="1"/>
            </p:cNvSpPr>
            <p:nvPr/>
          </p:nvSpPr>
          <p:spPr bwMode="auto">
            <a:xfrm>
              <a:off x="3735" y="2805"/>
              <a:ext cx="276" cy="231"/>
            </a:xfrm>
            <a:prstGeom prst="roundRect">
              <a:avLst>
                <a:gd name="adj" fmla="val 431"/>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12</a:t>
              </a:r>
            </a:p>
          </p:txBody>
        </p:sp>
        <p:sp>
          <p:nvSpPr>
            <p:cNvPr id="22562" name="Line 33"/>
            <p:cNvSpPr>
              <a:spLocks noChangeShapeType="1"/>
            </p:cNvSpPr>
            <p:nvPr/>
          </p:nvSpPr>
          <p:spPr bwMode="auto">
            <a:xfrm>
              <a:off x="4119" y="2638"/>
              <a:ext cx="1" cy="144"/>
            </a:xfrm>
            <a:prstGeom prst="line">
              <a:avLst/>
            </a:prstGeom>
            <a:noFill/>
            <a:ln w="9360">
              <a:solidFill>
                <a:srgbClr val="000000"/>
              </a:solidFill>
              <a:round/>
              <a:headEnd/>
              <a:tailEnd/>
            </a:ln>
          </p:spPr>
          <p:txBody>
            <a:bodyPr/>
            <a:lstStyle/>
            <a:p>
              <a:endParaRPr lang="en-IN"/>
            </a:p>
          </p:txBody>
        </p:sp>
        <p:sp>
          <p:nvSpPr>
            <p:cNvPr id="22563" name="Line 34"/>
            <p:cNvSpPr>
              <a:spLocks noChangeShapeType="1"/>
            </p:cNvSpPr>
            <p:nvPr/>
          </p:nvSpPr>
          <p:spPr bwMode="auto">
            <a:xfrm>
              <a:off x="4311" y="2638"/>
              <a:ext cx="1" cy="144"/>
            </a:xfrm>
            <a:prstGeom prst="line">
              <a:avLst/>
            </a:prstGeom>
            <a:noFill/>
            <a:ln w="9360">
              <a:solidFill>
                <a:srgbClr val="000000"/>
              </a:solidFill>
              <a:round/>
              <a:headEnd/>
              <a:tailEnd/>
            </a:ln>
          </p:spPr>
          <p:txBody>
            <a:bodyPr/>
            <a:lstStyle/>
            <a:p>
              <a:endParaRPr lang="en-IN"/>
            </a:p>
          </p:txBody>
        </p:sp>
        <p:sp>
          <p:nvSpPr>
            <p:cNvPr id="22564" name="Line 35"/>
            <p:cNvSpPr>
              <a:spLocks noChangeShapeType="1"/>
            </p:cNvSpPr>
            <p:nvPr/>
          </p:nvSpPr>
          <p:spPr bwMode="auto">
            <a:xfrm>
              <a:off x="4503" y="2638"/>
              <a:ext cx="1" cy="144"/>
            </a:xfrm>
            <a:prstGeom prst="line">
              <a:avLst/>
            </a:prstGeom>
            <a:noFill/>
            <a:ln w="9360">
              <a:solidFill>
                <a:srgbClr val="000000"/>
              </a:solidFill>
              <a:round/>
              <a:headEnd/>
              <a:tailEnd/>
            </a:ln>
          </p:spPr>
          <p:txBody>
            <a:bodyPr/>
            <a:lstStyle/>
            <a:p>
              <a:endParaRPr lang="en-IN"/>
            </a:p>
          </p:txBody>
        </p:sp>
      </p:gr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1"/>
          <p:cNvSpPr>
            <a:spLocks noGrp="1" noChangeArrowheads="1"/>
          </p:cNvSpPr>
          <p:nvPr>
            <p:ph type="title" idx="4294967295"/>
          </p:nvPr>
        </p:nvSpPr>
        <p:spPr>
          <a:xfrm>
            <a:off x="685800" y="381000"/>
            <a:ext cx="8077200" cy="609600"/>
          </a:xfrm>
        </p:spPr>
        <p:txBody>
          <a:bodyPr>
            <a:noAutofit/>
          </a:bodyPr>
          <a:lstStyle/>
          <a:p>
            <a:pPr>
              <a:lnSpc>
                <a:spcPct val="93000"/>
              </a:lnSpc>
              <a:buFont typeface="Helvetica" pitchFamily="32"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3600" dirty="0">
                <a:latin typeface="Times New Roman" pitchFamily="18" charset="0"/>
                <a:cs typeface="Times New Roman" pitchFamily="18" charset="0"/>
              </a:rPr>
              <a:t>Example #4: Pre-emptive SJF</a:t>
            </a:r>
            <a:br>
              <a:rPr lang="en-GB" sz="3600" dirty="0">
                <a:latin typeface="Times New Roman" pitchFamily="18" charset="0"/>
                <a:cs typeface="Times New Roman" pitchFamily="18" charset="0"/>
              </a:rPr>
            </a:br>
            <a:r>
              <a:rPr lang="en-GB" sz="3600" dirty="0">
                <a:latin typeface="Times New Roman" pitchFamily="18" charset="0"/>
                <a:cs typeface="Times New Roman" pitchFamily="18" charset="0"/>
              </a:rPr>
              <a:t>(Shortest-remaining-time-first)</a:t>
            </a:r>
          </a:p>
        </p:txBody>
      </p:sp>
      <p:sp>
        <p:nvSpPr>
          <p:cNvPr id="23555" name="Rectangle 2"/>
          <p:cNvSpPr>
            <a:spLocks noGrp="1" noChangeArrowheads="1"/>
          </p:cNvSpPr>
          <p:nvPr>
            <p:ph type="body" idx="4294967295"/>
          </p:nvPr>
        </p:nvSpPr>
        <p:spPr>
          <a:xfrm>
            <a:off x="395536" y="974724"/>
            <a:ext cx="8568952" cy="5622627"/>
          </a:xfrm>
        </p:spPr>
        <p:txBody>
          <a:bodyPr>
            <a:noAutofit/>
          </a:bodyPr>
          <a:lstStyle/>
          <a:p>
            <a:pPr>
              <a:lnSpc>
                <a:spcPct val="93000"/>
              </a:lnSpc>
              <a:buFont typeface="Monotype Sorts" charset="2"/>
              <a:buNone/>
              <a:tabLst>
                <a:tab pos="341313" algn="l"/>
                <a:tab pos="1600200" algn="ctr"/>
                <a:tab pos="3251200" algn="ctr"/>
                <a:tab pos="5141913" algn="ctr"/>
                <a:tab pos="5483225" algn="l"/>
                <a:tab pos="6397625" algn="l"/>
                <a:tab pos="7312025" algn="l"/>
                <a:tab pos="8226425" algn="l"/>
                <a:tab pos="9140825" algn="l"/>
                <a:tab pos="10055225" algn="l"/>
              </a:tabLst>
            </a:pPr>
            <a:r>
              <a:rPr lang="en-GB" sz="2200" dirty="0">
                <a:latin typeface="Times New Roman" pitchFamily="18" charset="0"/>
                <a:cs typeface="Times New Roman" pitchFamily="18" charset="0"/>
              </a:rPr>
              <a:t>	</a:t>
            </a:r>
            <a:r>
              <a:rPr lang="en-GB" sz="2200" u="sng" dirty="0">
                <a:latin typeface="Times New Roman" pitchFamily="18" charset="0"/>
                <a:cs typeface="Times New Roman" pitchFamily="18" charset="0"/>
              </a:rPr>
              <a:t>Process</a:t>
            </a:r>
            <a:r>
              <a:rPr lang="en-GB" sz="2200" dirty="0">
                <a:latin typeface="Times New Roman" pitchFamily="18" charset="0"/>
                <a:cs typeface="Times New Roman" pitchFamily="18" charset="0"/>
              </a:rPr>
              <a:t>    	</a:t>
            </a:r>
            <a:r>
              <a:rPr lang="en-GB" sz="2200" u="sng" dirty="0">
                <a:latin typeface="Times New Roman" pitchFamily="18" charset="0"/>
                <a:cs typeface="Times New Roman" pitchFamily="18" charset="0"/>
              </a:rPr>
              <a:t>Arrival Time</a:t>
            </a:r>
            <a:r>
              <a:rPr lang="en-GB" sz="2200" dirty="0">
                <a:latin typeface="Times New Roman" pitchFamily="18" charset="0"/>
                <a:cs typeface="Times New Roman" pitchFamily="18" charset="0"/>
              </a:rPr>
              <a:t>	   </a:t>
            </a:r>
            <a:r>
              <a:rPr lang="en-GB" sz="2200" u="sng" dirty="0">
                <a:latin typeface="Times New Roman" pitchFamily="18" charset="0"/>
                <a:cs typeface="Times New Roman" pitchFamily="18" charset="0"/>
              </a:rPr>
              <a:t>Burst Time</a:t>
            </a:r>
          </a:p>
          <a:p>
            <a:pPr>
              <a:buFont typeface="Monotype Sorts" charset="2"/>
              <a:buNone/>
              <a:tabLst>
                <a:tab pos="341313" algn="l"/>
                <a:tab pos="1600200" algn="ctr"/>
                <a:tab pos="3251200" algn="ctr"/>
                <a:tab pos="5141913" algn="ctr"/>
                <a:tab pos="5483225" algn="l"/>
                <a:tab pos="6397625" algn="l"/>
                <a:tab pos="7312025" algn="l"/>
                <a:tab pos="8226425" algn="l"/>
                <a:tab pos="9140825" algn="l"/>
                <a:tab pos="10055225" algn="l"/>
              </a:tabLst>
            </a:pPr>
            <a:r>
              <a:rPr lang="en-GB" sz="2200" dirty="0">
                <a:latin typeface="Times New Roman" pitchFamily="18" charset="0"/>
                <a:cs typeface="Times New Roman" pitchFamily="18" charset="0"/>
              </a:rPr>
              <a:t>		</a:t>
            </a:r>
            <a:r>
              <a:rPr lang="en-GB" sz="2200" i="1" dirty="0">
                <a:latin typeface="Times New Roman" pitchFamily="18" charset="0"/>
                <a:cs typeface="Times New Roman" pitchFamily="18" charset="0"/>
              </a:rPr>
              <a:t>P</a:t>
            </a:r>
            <a:r>
              <a:rPr lang="en-GB" sz="2200" i="1" baseline="-25000" dirty="0">
                <a:latin typeface="Times New Roman" pitchFamily="18" charset="0"/>
                <a:cs typeface="Times New Roman" pitchFamily="18" charset="0"/>
              </a:rPr>
              <a:t>1</a:t>
            </a:r>
            <a:r>
              <a:rPr lang="en-GB" sz="2200" dirty="0">
                <a:latin typeface="Times New Roman" pitchFamily="18" charset="0"/>
                <a:cs typeface="Times New Roman" pitchFamily="18" charset="0"/>
              </a:rPr>
              <a:t>	0.0	7</a:t>
            </a:r>
          </a:p>
          <a:p>
            <a:pPr>
              <a:buFont typeface="Monotype Sorts" charset="2"/>
              <a:buNone/>
              <a:tabLst>
                <a:tab pos="341313" algn="l"/>
                <a:tab pos="1600200" algn="ctr"/>
                <a:tab pos="3251200" algn="ctr"/>
                <a:tab pos="5141913" algn="ctr"/>
                <a:tab pos="5483225" algn="l"/>
                <a:tab pos="6397625" algn="l"/>
                <a:tab pos="7312025" algn="l"/>
                <a:tab pos="8226425" algn="l"/>
                <a:tab pos="9140825" algn="l"/>
                <a:tab pos="10055225" algn="l"/>
              </a:tabLst>
            </a:pPr>
            <a:r>
              <a:rPr lang="en-GB" sz="2200" dirty="0">
                <a:latin typeface="Times New Roman" pitchFamily="18" charset="0"/>
                <a:cs typeface="Times New Roman" pitchFamily="18" charset="0"/>
              </a:rPr>
              <a:t>		</a:t>
            </a:r>
            <a:r>
              <a:rPr lang="en-GB" sz="2200" i="1" dirty="0">
                <a:latin typeface="Times New Roman" pitchFamily="18" charset="0"/>
                <a:cs typeface="Times New Roman" pitchFamily="18" charset="0"/>
              </a:rPr>
              <a:t>P</a:t>
            </a:r>
            <a:r>
              <a:rPr lang="en-GB" sz="2200" i="1" baseline="-25000" dirty="0">
                <a:latin typeface="Times New Roman" pitchFamily="18" charset="0"/>
                <a:cs typeface="Times New Roman" pitchFamily="18" charset="0"/>
              </a:rPr>
              <a:t>2	</a:t>
            </a:r>
            <a:r>
              <a:rPr lang="en-GB" sz="2200" dirty="0">
                <a:latin typeface="Times New Roman" pitchFamily="18" charset="0"/>
                <a:cs typeface="Times New Roman" pitchFamily="18" charset="0"/>
              </a:rPr>
              <a:t>2.0	4</a:t>
            </a:r>
          </a:p>
          <a:p>
            <a:pPr>
              <a:buFont typeface="Monotype Sorts" charset="2"/>
              <a:buNone/>
              <a:tabLst>
                <a:tab pos="341313" algn="l"/>
                <a:tab pos="1600200" algn="ctr"/>
                <a:tab pos="3251200" algn="ctr"/>
                <a:tab pos="5141913" algn="ctr"/>
                <a:tab pos="5483225" algn="l"/>
                <a:tab pos="6397625" algn="l"/>
                <a:tab pos="7312025" algn="l"/>
                <a:tab pos="8226425" algn="l"/>
                <a:tab pos="9140825" algn="l"/>
                <a:tab pos="10055225" algn="l"/>
              </a:tabLst>
            </a:pPr>
            <a:r>
              <a:rPr lang="en-GB" sz="2200" dirty="0">
                <a:latin typeface="Times New Roman" pitchFamily="18" charset="0"/>
                <a:cs typeface="Times New Roman" pitchFamily="18" charset="0"/>
              </a:rPr>
              <a:t>		</a:t>
            </a:r>
            <a:r>
              <a:rPr lang="en-GB" sz="2200" i="1" dirty="0">
                <a:latin typeface="Times New Roman" pitchFamily="18" charset="0"/>
                <a:cs typeface="Times New Roman" pitchFamily="18" charset="0"/>
              </a:rPr>
              <a:t>P</a:t>
            </a:r>
            <a:r>
              <a:rPr lang="en-GB" sz="2200" i="1" baseline="-25000" dirty="0">
                <a:latin typeface="Times New Roman" pitchFamily="18" charset="0"/>
                <a:cs typeface="Times New Roman" pitchFamily="18" charset="0"/>
              </a:rPr>
              <a:t>3</a:t>
            </a:r>
            <a:r>
              <a:rPr lang="en-GB" sz="2200" dirty="0">
                <a:latin typeface="Times New Roman" pitchFamily="18" charset="0"/>
                <a:cs typeface="Times New Roman" pitchFamily="18" charset="0"/>
              </a:rPr>
              <a:t>	4.0	1</a:t>
            </a:r>
          </a:p>
          <a:p>
            <a:pPr>
              <a:buFont typeface="Monotype Sorts" charset="2"/>
              <a:buNone/>
              <a:tabLst>
                <a:tab pos="341313" algn="l"/>
                <a:tab pos="1600200" algn="ctr"/>
                <a:tab pos="3251200" algn="ctr"/>
                <a:tab pos="5141913" algn="ctr"/>
                <a:tab pos="5483225" algn="l"/>
                <a:tab pos="6397625" algn="l"/>
                <a:tab pos="7312025" algn="l"/>
                <a:tab pos="8226425" algn="l"/>
                <a:tab pos="9140825" algn="l"/>
                <a:tab pos="10055225" algn="l"/>
              </a:tabLst>
            </a:pPr>
            <a:r>
              <a:rPr lang="en-GB" sz="2200" dirty="0">
                <a:latin typeface="Times New Roman" pitchFamily="18" charset="0"/>
                <a:cs typeface="Times New Roman" pitchFamily="18" charset="0"/>
              </a:rPr>
              <a:t>		</a:t>
            </a:r>
            <a:r>
              <a:rPr lang="en-GB" sz="2200" i="1" dirty="0">
                <a:latin typeface="Times New Roman" pitchFamily="18" charset="0"/>
                <a:cs typeface="Times New Roman" pitchFamily="18" charset="0"/>
              </a:rPr>
              <a:t>P</a:t>
            </a:r>
            <a:r>
              <a:rPr lang="en-GB" sz="2200" i="1" baseline="-25000" dirty="0">
                <a:latin typeface="Times New Roman" pitchFamily="18" charset="0"/>
                <a:cs typeface="Times New Roman" pitchFamily="18" charset="0"/>
              </a:rPr>
              <a:t>4</a:t>
            </a:r>
            <a:r>
              <a:rPr lang="en-GB" sz="2200" dirty="0">
                <a:latin typeface="Times New Roman" pitchFamily="18" charset="0"/>
                <a:cs typeface="Times New Roman" pitchFamily="18" charset="0"/>
              </a:rPr>
              <a:t>	5.0	4</a:t>
            </a:r>
          </a:p>
          <a:p>
            <a:pPr>
              <a:tabLst>
                <a:tab pos="341313" algn="l"/>
                <a:tab pos="1600200" algn="ctr"/>
                <a:tab pos="3251200" algn="ctr"/>
                <a:tab pos="5141913" algn="ctr"/>
                <a:tab pos="5483225" algn="l"/>
                <a:tab pos="6397625" algn="l"/>
                <a:tab pos="7312025" algn="l"/>
                <a:tab pos="8226425" algn="l"/>
                <a:tab pos="9140825" algn="l"/>
                <a:tab pos="10055225" algn="l"/>
              </a:tabLst>
            </a:pPr>
            <a:r>
              <a:rPr lang="en-GB" sz="2200" dirty="0">
                <a:latin typeface="Times New Roman" pitchFamily="18" charset="0"/>
                <a:cs typeface="Times New Roman" pitchFamily="18" charset="0"/>
              </a:rPr>
              <a:t>SJF (</a:t>
            </a:r>
            <a:r>
              <a:rPr lang="en-GB" sz="2200" dirty="0" err="1">
                <a:latin typeface="Times New Roman" pitchFamily="18" charset="0"/>
                <a:cs typeface="Times New Roman" pitchFamily="18" charset="0"/>
              </a:rPr>
              <a:t>preemptive</a:t>
            </a:r>
            <a:r>
              <a:rPr lang="en-GB" sz="2200" dirty="0">
                <a:latin typeface="Times New Roman" pitchFamily="18" charset="0"/>
                <a:cs typeface="Times New Roman" pitchFamily="18" charset="0"/>
              </a:rPr>
              <a:t>, varied arrival times)</a:t>
            </a:r>
          </a:p>
          <a:p>
            <a:pPr>
              <a:buFont typeface="Monotype Sorts" charset="2"/>
              <a:buNone/>
              <a:tabLst>
                <a:tab pos="341313" algn="l"/>
                <a:tab pos="1600200" algn="ctr"/>
                <a:tab pos="3251200" algn="ctr"/>
                <a:tab pos="5141913" algn="ctr"/>
                <a:tab pos="5483225" algn="l"/>
                <a:tab pos="6397625" algn="l"/>
                <a:tab pos="7312025" algn="l"/>
                <a:tab pos="8226425" algn="l"/>
                <a:tab pos="9140825" algn="l"/>
                <a:tab pos="10055225" algn="l"/>
              </a:tabLst>
            </a:pPr>
            <a:endParaRPr lang="en-GB" sz="2200" dirty="0">
              <a:latin typeface="Times New Roman" pitchFamily="18" charset="0"/>
              <a:cs typeface="Times New Roman" pitchFamily="18" charset="0"/>
            </a:endParaRPr>
          </a:p>
          <a:p>
            <a:pPr>
              <a:buFont typeface="Monotype Sorts" charset="2"/>
              <a:buNone/>
              <a:tabLst>
                <a:tab pos="341313" algn="l"/>
                <a:tab pos="1600200" algn="ctr"/>
                <a:tab pos="3251200" algn="ctr"/>
                <a:tab pos="5141913" algn="ctr"/>
                <a:tab pos="5483225" algn="l"/>
                <a:tab pos="6397625" algn="l"/>
                <a:tab pos="7312025" algn="l"/>
                <a:tab pos="8226425" algn="l"/>
                <a:tab pos="9140825" algn="l"/>
                <a:tab pos="10055225" algn="l"/>
              </a:tabLst>
            </a:pPr>
            <a:endParaRPr lang="en-GB" sz="2200" dirty="0">
              <a:latin typeface="Times New Roman" pitchFamily="18" charset="0"/>
              <a:cs typeface="Times New Roman" pitchFamily="18" charset="0"/>
            </a:endParaRPr>
          </a:p>
          <a:p>
            <a:pPr>
              <a:buFont typeface="Monotype Sorts" charset="2"/>
              <a:buNone/>
              <a:tabLst>
                <a:tab pos="341313" algn="l"/>
                <a:tab pos="1600200" algn="ctr"/>
                <a:tab pos="3251200" algn="ctr"/>
                <a:tab pos="5141913" algn="ctr"/>
                <a:tab pos="5483225" algn="l"/>
                <a:tab pos="6397625" algn="l"/>
                <a:tab pos="7312025" algn="l"/>
                <a:tab pos="8226425" algn="l"/>
                <a:tab pos="9140825" algn="l"/>
                <a:tab pos="10055225" algn="l"/>
              </a:tabLst>
            </a:pPr>
            <a:endParaRPr lang="en-GB" sz="2200" dirty="0">
              <a:latin typeface="Times New Roman" pitchFamily="18" charset="0"/>
              <a:cs typeface="Times New Roman" pitchFamily="18" charset="0"/>
            </a:endParaRPr>
          </a:p>
          <a:p>
            <a:pPr>
              <a:tabLst>
                <a:tab pos="341313" algn="l"/>
                <a:tab pos="1600200" algn="ctr"/>
                <a:tab pos="3251200" algn="ctr"/>
                <a:tab pos="5141913" algn="ctr"/>
                <a:tab pos="5483225" algn="l"/>
                <a:tab pos="6397625" algn="l"/>
                <a:tab pos="7312025" algn="l"/>
                <a:tab pos="8226425" algn="l"/>
                <a:tab pos="9140825" algn="l"/>
                <a:tab pos="10055225" algn="l"/>
              </a:tabLst>
            </a:pPr>
            <a:r>
              <a:rPr lang="en-GB" sz="2200" dirty="0">
                <a:latin typeface="Times New Roman" pitchFamily="18" charset="0"/>
                <a:cs typeface="Times New Roman" pitchFamily="18" charset="0"/>
              </a:rPr>
              <a:t>Average waiting time </a:t>
            </a:r>
            <a:br>
              <a:rPr lang="en-GB" sz="2200" dirty="0">
                <a:latin typeface="Times New Roman" pitchFamily="18" charset="0"/>
                <a:cs typeface="Times New Roman" pitchFamily="18" charset="0"/>
              </a:rPr>
            </a:br>
            <a:r>
              <a:rPr lang="en-GB" sz="2200" dirty="0">
                <a:latin typeface="Times New Roman" pitchFamily="18" charset="0"/>
                <a:cs typeface="Times New Roman" pitchFamily="18" charset="0"/>
              </a:rPr>
              <a:t>		= ( [(0 – 0) + (11 - 2)] + [(2 – 2) + (5 – 4)] + (4 - 4) + (7 – 5) )/4 </a:t>
            </a:r>
            <a:br>
              <a:rPr lang="en-GB" sz="2200" dirty="0">
                <a:latin typeface="Times New Roman" pitchFamily="18" charset="0"/>
                <a:cs typeface="Times New Roman" pitchFamily="18" charset="0"/>
              </a:rPr>
            </a:br>
            <a:r>
              <a:rPr lang="en-GB" sz="2200" dirty="0">
                <a:latin typeface="Times New Roman" pitchFamily="18" charset="0"/>
                <a:cs typeface="Times New Roman" pitchFamily="18" charset="0"/>
              </a:rPr>
              <a:t>                    = 9 + 1 + 0 + 2)/4 </a:t>
            </a:r>
            <a:br>
              <a:rPr lang="en-GB" sz="2200" dirty="0">
                <a:latin typeface="Times New Roman" pitchFamily="18" charset="0"/>
                <a:cs typeface="Times New Roman" pitchFamily="18" charset="0"/>
              </a:rPr>
            </a:br>
            <a:r>
              <a:rPr lang="en-GB" sz="2200" dirty="0">
                <a:latin typeface="Times New Roman" pitchFamily="18" charset="0"/>
                <a:cs typeface="Times New Roman" pitchFamily="18" charset="0"/>
              </a:rPr>
              <a:t>                    = 3</a:t>
            </a:r>
          </a:p>
          <a:p>
            <a:pPr>
              <a:tabLst>
                <a:tab pos="341313" algn="l"/>
                <a:tab pos="1600200" algn="ctr"/>
                <a:tab pos="3251200" algn="ctr"/>
                <a:tab pos="5141913" algn="ctr"/>
                <a:tab pos="5483225" algn="l"/>
                <a:tab pos="6397625" algn="l"/>
                <a:tab pos="7312025" algn="l"/>
                <a:tab pos="8226425" algn="l"/>
                <a:tab pos="9140825" algn="l"/>
                <a:tab pos="10055225" algn="l"/>
              </a:tabLst>
            </a:pPr>
            <a:r>
              <a:rPr lang="en-GB" sz="2200" dirty="0">
                <a:latin typeface="Times New Roman" pitchFamily="18" charset="0"/>
                <a:cs typeface="Times New Roman" pitchFamily="18" charset="0"/>
              </a:rPr>
              <a:t>Average turn-around time 	= [(16 -0)+ (7-2) +( 5 -4)+ (11-5))/4 = 7</a:t>
            </a:r>
          </a:p>
        </p:txBody>
      </p:sp>
      <p:grpSp>
        <p:nvGrpSpPr>
          <p:cNvPr id="2" name="Group 3"/>
          <p:cNvGrpSpPr>
            <a:grpSpLocks/>
          </p:cNvGrpSpPr>
          <p:nvPr/>
        </p:nvGrpSpPr>
        <p:grpSpPr bwMode="auto">
          <a:xfrm>
            <a:off x="1043608" y="3645025"/>
            <a:ext cx="5924550" cy="1080120"/>
            <a:chOff x="864" y="2364"/>
            <a:chExt cx="3732" cy="759"/>
          </a:xfrm>
        </p:grpSpPr>
        <p:sp>
          <p:nvSpPr>
            <p:cNvPr id="23558" name="AutoShape 4"/>
            <p:cNvSpPr>
              <a:spLocks noChangeArrowheads="1"/>
            </p:cNvSpPr>
            <p:nvPr/>
          </p:nvSpPr>
          <p:spPr bwMode="auto">
            <a:xfrm>
              <a:off x="960" y="2373"/>
              <a:ext cx="3504" cy="384"/>
            </a:xfrm>
            <a:prstGeom prst="roundRect">
              <a:avLst>
                <a:gd name="adj" fmla="val 259"/>
              </a:avLst>
            </a:prstGeom>
            <a:solidFill>
              <a:srgbClr val="FFFF99"/>
            </a:solidFill>
            <a:ln w="9360">
              <a:solidFill>
                <a:srgbClr val="000000"/>
              </a:solidFill>
              <a:round/>
              <a:headEnd/>
              <a:tailEnd/>
            </a:ln>
          </p:spPr>
          <p:txBody>
            <a:bodyPr wrap="none" anchor="ctr"/>
            <a:lstStyle/>
            <a:p>
              <a:endParaRPr lang="en-US">
                <a:ea typeface="Lucida Sans Unicode" pitchFamily="34" charset="0"/>
              </a:endParaRPr>
            </a:p>
          </p:txBody>
        </p:sp>
        <p:sp>
          <p:nvSpPr>
            <p:cNvPr id="23559" name="AutoShape 5"/>
            <p:cNvSpPr>
              <a:spLocks noChangeArrowheads="1"/>
            </p:cNvSpPr>
            <p:nvPr/>
          </p:nvSpPr>
          <p:spPr bwMode="auto">
            <a:xfrm>
              <a:off x="1008" y="2412"/>
              <a:ext cx="265" cy="231"/>
            </a:xfrm>
            <a:prstGeom prst="roundRect">
              <a:avLst>
                <a:gd name="adj" fmla="val 431"/>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P</a:t>
              </a:r>
              <a:r>
                <a:rPr lang="en-GB" sz="1800" baseline="-25000">
                  <a:solidFill>
                    <a:schemeClr val="tx1"/>
                  </a:solidFill>
                  <a:latin typeface="Helvetica" pitchFamily="34" charset="0"/>
                  <a:ea typeface="Lucida Sans Unicode" pitchFamily="34" charset="0"/>
                </a:rPr>
                <a:t>1</a:t>
              </a:r>
            </a:p>
          </p:txBody>
        </p:sp>
        <p:sp>
          <p:nvSpPr>
            <p:cNvPr id="23560" name="AutoShape 6"/>
            <p:cNvSpPr>
              <a:spLocks noChangeArrowheads="1"/>
            </p:cNvSpPr>
            <p:nvPr/>
          </p:nvSpPr>
          <p:spPr bwMode="auto">
            <a:xfrm>
              <a:off x="1824" y="2412"/>
              <a:ext cx="265" cy="231"/>
            </a:xfrm>
            <a:prstGeom prst="roundRect">
              <a:avLst>
                <a:gd name="adj" fmla="val 431"/>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P</a:t>
              </a:r>
              <a:r>
                <a:rPr lang="en-GB" sz="1800" baseline="-25000">
                  <a:solidFill>
                    <a:schemeClr val="tx1"/>
                  </a:solidFill>
                  <a:latin typeface="Helvetica" pitchFamily="34" charset="0"/>
                  <a:ea typeface="Lucida Sans Unicode" pitchFamily="34" charset="0"/>
                </a:rPr>
                <a:t>3</a:t>
              </a:r>
            </a:p>
          </p:txBody>
        </p:sp>
        <p:sp>
          <p:nvSpPr>
            <p:cNvPr id="23561" name="AutoShape 7"/>
            <p:cNvSpPr>
              <a:spLocks noChangeArrowheads="1"/>
            </p:cNvSpPr>
            <p:nvPr/>
          </p:nvSpPr>
          <p:spPr bwMode="auto">
            <a:xfrm>
              <a:off x="1488" y="2412"/>
              <a:ext cx="265" cy="231"/>
            </a:xfrm>
            <a:prstGeom prst="roundRect">
              <a:avLst>
                <a:gd name="adj" fmla="val 431"/>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P</a:t>
              </a:r>
              <a:r>
                <a:rPr lang="en-GB" sz="1800" baseline="-25000">
                  <a:solidFill>
                    <a:schemeClr val="tx1"/>
                  </a:solidFill>
                  <a:latin typeface="Helvetica" pitchFamily="34" charset="0"/>
                  <a:ea typeface="Lucida Sans Unicode" pitchFamily="34" charset="0"/>
                </a:rPr>
                <a:t>2</a:t>
              </a:r>
            </a:p>
          </p:txBody>
        </p:sp>
        <p:sp>
          <p:nvSpPr>
            <p:cNvPr id="23562" name="Line 8"/>
            <p:cNvSpPr>
              <a:spLocks noChangeShapeType="1"/>
            </p:cNvSpPr>
            <p:nvPr/>
          </p:nvSpPr>
          <p:spPr bwMode="auto">
            <a:xfrm>
              <a:off x="4452" y="2748"/>
              <a:ext cx="1" cy="144"/>
            </a:xfrm>
            <a:prstGeom prst="line">
              <a:avLst/>
            </a:prstGeom>
            <a:noFill/>
            <a:ln w="9360">
              <a:solidFill>
                <a:srgbClr val="000000"/>
              </a:solidFill>
              <a:round/>
              <a:headEnd/>
              <a:tailEnd/>
            </a:ln>
          </p:spPr>
          <p:txBody>
            <a:bodyPr/>
            <a:lstStyle/>
            <a:p>
              <a:endParaRPr lang="en-IN"/>
            </a:p>
          </p:txBody>
        </p:sp>
        <p:sp>
          <p:nvSpPr>
            <p:cNvPr id="23563" name="Line 9"/>
            <p:cNvSpPr>
              <a:spLocks noChangeShapeType="1"/>
            </p:cNvSpPr>
            <p:nvPr/>
          </p:nvSpPr>
          <p:spPr bwMode="auto">
            <a:xfrm>
              <a:off x="960" y="2757"/>
              <a:ext cx="1" cy="144"/>
            </a:xfrm>
            <a:prstGeom prst="line">
              <a:avLst/>
            </a:prstGeom>
            <a:noFill/>
            <a:ln w="9360">
              <a:solidFill>
                <a:srgbClr val="000000"/>
              </a:solidFill>
              <a:round/>
              <a:headEnd/>
              <a:tailEnd/>
            </a:ln>
          </p:spPr>
          <p:txBody>
            <a:bodyPr/>
            <a:lstStyle/>
            <a:p>
              <a:endParaRPr lang="en-IN"/>
            </a:p>
          </p:txBody>
        </p:sp>
        <p:sp>
          <p:nvSpPr>
            <p:cNvPr id="23564" name="Line 10"/>
            <p:cNvSpPr>
              <a:spLocks noChangeShapeType="1"/>
            </p:cNvSpPr>
            <p:nvPr/>
          </p:nvSpPr>
          <p:spPr bwMode="auto">
            <a:xfrm>
              <a:off x="2688" y="2373"/>
              <a:ext cx="1" cy="384"/>
            </a:xfrm>
            <a:prstGeom prst="line">
              <a:avLst/>
            </a:prstGeom>
            <a:noFill/>
            <a:ln w="9360">
              <a:solidFill>
                <a:srgbClr val="000000"/>
              </a:solidFill>
              <a:round/>
              <a:headEnd/>
              <a:tailEnd/>
            </a:ln>
          </p:spPr>
          <p:txBody>
            <a:bodyPr/>
            <a:lstStyle/>
            <a:p>
              <a:endParaRPr lang="en-IN"/>
            </a:p>
          </p:txBody>
        </p:sp>
        <p:sp>
          <p:nvSpPr>
            <p:cNvPr id="23565" name="Line 11"/>
            <p:cNvSpPr>
              <a:spLocks noChangeShapeType="1"/>
            </p:cNvSpPr>
            <p:nvPr/>
          </p:nvSpPr>
          <p:spPr bwMode="auto">
            <a:xfrm>
              <a:off x="1344" y="2364"/>
              <a:ext cx="1" cy="576"/>
            </a:xfrm>
            <a:prstGeom prst="line">
              <a:avLst/>
            </a:prstGeom>
            <a:noFill/>
            <a:ln w="9360">
              <a:solidFill>
                <a:srgbClr val="000000"/>
              </a:solidFill>
              <a:round/>
              <a:headEnd/>
              <a:tailEnd/>
            </a:ln>
          </p:spPr>
          <p:txBody>
            <a:bodyPr/>
            <a:lstStyle/>
            <a:p>
              <a:endParaRPr lang="en-IN"/>
            </a:p>
          </p:txBody>
        </p:sp>
        <p:sp>
          <p:nvSpPr>
            <p:cNvPr id="23566" name="Line 12"/>
            <p:cNvSpPr>
              <a:spLocks noChangeShapeType="1"/>
            </p:cNvSpPr>
            <p:nvPr/>
          </p:nvSpPr>
          <p:spPr bwMode="auto">
            <a:xfrm>
              <a:off x="2400" y="2757"/>
              <a:ext cx="1" cy="144"/>
            </a:xfrm>
            <a:prstGeom prst="line">
              <a:avLst/>
            </a:prstGeom>
            <a:noFill/>
            <a:ln w="9360">
              <a:solidFill>
                <a:srgbClr val="000000"/>
              </a:solidFill>
              <a:round/>
              <a:headEnd/>
              <a:tailEnd/>
            </a:ln>
          </p:spPr>
          <p:txBody>
            <a:bodyPr/>
            <a:lstStyle/>
            <a:p>
              <a:endParaRPr lang="en-IN"/>
            </a:p>
          </p:txBody>
        </p:sp>
        <p:sp>
          <p:nvSpPr>
            <p:cNvPr id="23567" name="AutoShape 13"/>
            <p:cNvSpPr>
              <a:spLocks noChangeArrowheads="1"/>
            </p:cNvSpPr>
            <p:nvPr/>
          </p:nvSpPr>
          <p:spPr bwMode="auto">
            <a:xfrm>
              <a:off x="1728" y="2892"/>
              <a:ext cx="196" cy="231"/>
            </a:xfrm>
            <a:prstGeom prst="roundRect">
              <a:avLst>
                <a:gd name="adj" fmla="val 509"/>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4</a:t>
              </a:r>
            </a:p>
          </p:txBody>
        </p:sp>
        <p:sp>
          <p:nvSpPr>
            <p:cNvPr id="23568" name="AutoShape 14"/>
            <p:cNvSpPr>
              <a:spLocks noChangeArrowheads="1"/>
            </p:cNvSpPr>
            <p:nvPr/>
          </p:nvSpPr>
          <p:spPr bwMode="auto">
            <a:xfrm>
              <a:off x="1248" y="2892"/>
              <a:ext cx="196" cy="231"/>
            </a:xfrm>
            <a:prstGeom prst="roundRect">
              <a:avLst>
                <a:gd name="adj" fmla="val 509"/>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2</a:t>
              </a:r>
            </a:p>
          </p:txBody>
        </p:sp>
        <p:sp>
          <p:nvSpPr>
            <p:cNvPr id="23569" name="AutoShape 15"/>
            <p:cNvSpPr>
              <a:spLocks noChangeArrowheads="1"/>
            </p:cNvSpPr>
            <p:nvPr/>
          </p:nvSpPr>
          <p:spPr bwMode="auto">
            <a:xfrm>
              <a:off x="3312" y="2880"/>
              <a:ext cx="276" cy="231"/>
            </a:xfrm>
            <a:prstGeom prst="roundRect">
              <a:avLst>
                <a:gd name="adj" fmla="val 431"/>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11</a:t>
              </a:r>
            </a:p>
          </p:txBody>
        </p:sp>
        <p:sp>
          <p:nvSpPr>
            <p:cNvPr id="23570" name="AutoShape 16"/>
            <p:cNvSpPr>
              <a:spLocks noChangeArrowheads="1"/>
            </p:cNvSpPr>
            <p:nvPr/>
          </p:nvSpPr>
          <p:spPr bwMode="auto">
            <a:xfrm>
              <a:off x="864" y="2880"/>
              <a:ext cx="196" cy="231"/>
            </a:xfrm>
            <a:prstGeom prst="roundRect">
              <a:avLst>
                <a:gd name="adj" fmla="val 509"/>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0</a:t>
              </a:r>
            </a:p>
          </p:txBody>
        </p:sp>
        <p:sp>
          <p:nvSpPr>
            <p:cNvPr id="23571" name="AutoShape 17"/>
            <p:cNvSpPr>
              <a:spLocks noChangeArrowheads="1"/>
            </p:cNvSpPr>
            <p:nvPr/>
          </p:nvSpPr>
          <p:spPr bwMode="auto">
            <a:xfrm>
              <a:off x="2976" y="2412"/>
              <a:ext cx="265" cy="231"/>
            </a:xfrm>
            <a:prstGeom prst="roundRect">
              <a:avLst>
                <a:gd name="adj" fmla="val 431"/>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dirty="0">
                  <a:solidFill>
                    <a:schemeClr val="tx1"/>
                  </a:solidFill>
                  <a:latin typeface="Helvetica" pitchFamily="34" charset="0"/>
                  <a:ea typeface="Lucida Sans Unicode" pitchFamily="34" charset="0"/>
                </a:rPr>
                <a:t>P</a:t>
              </a:r>
              <a:r>
                <a:rPr lang="en-GB" sz="1800" baseline="-25000" dirty="0">
                  <a:solidFill>
                    <a:schemeClr val="tx1"/>
                  </a:solidFill>
                  <a:latin typeface="Helvetica" pitchFamily="34" charset="0"/>
                  <a:ea typeface="Lucida Sans Unicode" pitchFamily="34" charset="0"/>
                </a:rPr>
                <a:t>4</a:t>
              </a:r>
            </a:p>
          </p:txBody>
        </p:sp>
        <p:sp>
          <p:nvSpPr>
            <p:cNvPr id="23572" name="Line 18"/>
            <p:cNvSpPr>
              <a:spLocks noChangeShapeType="1"/>
            </p:cNvSpPr>
            <p:nvPr/>
          </p:nvSpPr>
          <p:spPr bwMode="auto">
            <a:xfrm>
              <a:off x="3456" y="2373"/>
              <a:ext cx="1" cy="384"/>
            </a:xfrm>
            <a:prstGeom prst="line">
              <a:avLst/>
            </a:prstGeom>
            <a:noFill/>
            <a:ln w="9360">
              <a:solidFill>
                <a:srgbClr val="000000"/>
              </a:solidFill>
              <a:round/>
              <a:headEnd/>
              <a:tailEnd/>
            </a:ln>
          </p:spPr>
          <p:txBody>
            <a:bodyPr/>
            <a:lstStyle/>
            <a:p>
              <a:endParaRPr lang="en-IN"/>
            </a:p>
          </p:txBody>
        </p:sp>
        <p:sp>
          <p:nvSpPr>
            <p:cNvPr id="23573" name="Line 19"/>
            <p:cNvSpPr>
              <a:spLocks noChangeShapeType="1"/>
            </p:cNvSpPr>
            <p:nvPr/>
          </p:nvSpPr>
          <p:spPr bwMode="auto">
            <a:xfrm>
              <a:off x="1152" y="2686"/>
              <a:ext cx="1" cy="144"/>
            </a:xfrm>
            <a:prstGeom prst="line">
              <a:avLst/>
            </a:prstGeom>
            <a:noFill/>
            <a:ln w="9360">
              <a:solidFill>
                <a:srgbClr val="000000"/>
              </a:solidFill>
              <a:round/>
              <a:headEnd/>
              <a:tailEnd/>
            </a:ln>
          </p:spPr>
          <p:txBody>
            <a:bodyPr/>
            <a:lstStyle/>
            <a:p>
              <a:endParaRPr lang="en-IN"/>
            </a:p>
          </p:txBody>
        </p:sp>
        <p:sp>
          <p:nvSpPr>
            <p:cNvPr id="23574" name="Line 20"/>
            <p:cNvSpPr>
              <a:spLocks noChangeShapeType="1"/>
            </p:cNvSpPr>
            <p:nvPr/>
          </p:nvSpPr>
          <p:spPr bwMode="auto">
            <a:xfrm>
              <a:off x="1632" y="2686"/>
              <a:ext cx="1" cy="144"/>
            </a:xfrm>
            <a:prstGeom prst="line">
              <a:avLst/>
            </a:prstGeom>
            <a:noFill/>
            <a:ln w="9360">
              <a:solidFill>
                <a:srgbClr val="000000"/>
              </a:solidFill>
              <a:round/>
              <a:headEnd/>
              <a:tailEnd/>
            </a:ln>
          </p:spPr>
          <p:txBody>
            <a:bodyPr/>
            <a:lstStyle/>
            <a:p>
              <a:endParaRPr lang="en-IN"/>
            </a:p>
          </p:txBody>
        </p:sp>
        <p:sp>
          <p:nvSpPr>
            <p:cNvPr id="23575" name="Line 21"/>
            <p:cNvSpPr>
              <a:spLocks noChangeShapeType="1"/>
            </p:cNvSpPr>
            <p:nvPr/>
          </p:nvSpPr>
          <p:spPr bwMode="auto">
            <a:xfrm>
              <a:off x="2688" y="2757"/>
              <a:ext cx="1" cy="144"/>
            </a:xfrm>
            <a:prstGeom prst="line">
              <a:avLst/>
            </a:prstGeom>
            <a:noFill/>
            <a:ln w="9360">
              <a:solidFill>
                <a:srgbClr val="000000"/>
              </a:solidFill>
              <a:round/>
              <a:headEnd/>
              <a:tailEnd/>
            </a:ln>
          </p:spPr>
          <p:txBody>
            <a:bodyPr/>
            <a:lstStyle/>
            <a:p>
              <a:endParaRPr lang="en-IN"/>
            </a:p>
          </p:txBody>
        </p:sp>
        <p:sp>
          <p:nvSpPr>
            <p:cNvPr id="23576" name="AutoShape 22"/>
            <p:cNvSpPr>
              <a:spLocks noChangeArrowheads="1"/>
            </p:cNvSpPr>
            <p:nvPr/>
          </p:nvSpPr>
          <p:spPr bwMode="auto">
            <a:xfrm>
              <a:off x="2064" y="2892"/>
              <a:ext cx="196" cy="231"/>
            </a:xfrm>
            <a:prstGeom prst="roundRect">
              <a:avLst>
                <a:gd name="adj" fmla="val 509"/>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5</a:t>
              </a:r>
            </a:p>
          </p:txBody>
        </p:sp>
        <p:sp>
          <p:nvSpPr>
            <p:cNvPr id="23577" name="Line 23"/>
            <p:cNvSpPr>
              <a:spLocks noChangeShapeType="1"/>
            </p:cNvSpPr>
            <p:nvPr/>
          </p:nvSpPr>
          <p:spPr bwMode="auto">
            <a:xfrm>
              <a:off x="2928" y="2686"/>
              <a:ext cx="1" cy="144"/>
            </a:xfrm>
            <a:prstGeom prst="line">
              <a:avLst/>
            </a:prstGeom>
            <a:noFill/>
            <a:ln w="9360">
              <a:solidFill>
                <a:srgbClr val="000000"/>
              </a:solidFill>
              <a:round/>
              <a:headEnd/>
              <a:tailEnd/>
            </a:ln>
          </p:spPr>
          <p:txBody>
            <a:bodyPr/>
            <a:lstStyle/>
            <a:p>
              <a:endParaRPr lang="en-IN"/>
            </a:p>
          </p:txBody>
        </p:sp>
        <p:sp>
          <p:nvSpPr>
            <p:cNvPr id="23578" name="Line 24"/>
            <p:cNvSpPr>
              <a:spLocks noChangeShapeType="1"/>
            </p:cNvSpPr>
            <p:nvPr/>
          </p:nvSpPr>
          <p:spPr bwMode="auto">
            <a:xfrm>
              <a:off x="3120" y="2686"/>
              <a:ext cx="1" cy="144"/>
            </a:xfrm>
            <a:prstGeom prst="line">
              <a:avLst/>
            </a:prstGeom>
            <a:noFill/>
            <a:ln w="9360">
              <a:solidFill>
                <a:srgbClr val="000000"/>
              </a:solidFill>
              <a:round/>
              <a:headEnd/>
              <a:tailEnd/>
            </a:ln>
          </p:spPr>
          <p:txBody>
            <a:bodyPr/>
            <a:lstStyle/>
            <a:p>
              <a:endParaRPr lang="en-IN"/>
            </a:p>
          </p:txBody>
        </p:sp>
        <p:sp>
          <p:nvSpPr>
            <p:cNvPr id="23579" name="Line 25"/>
            <p:cNvSpPr>
              <a:spLocks noChangeShapeType="1"/>
            </p:cNvSpPr>
            <p:nvPr/>
          </p:nvSpPr>
          <p:spPr bwMode="auto">
            <a:xfrm>
              <a:off x="3312" y="2686"/>
              <a:ext cx="1" cy="144"/>
            </a:xfrm>
            <a:prstGeom prst="line">
              <a:avLst/>
            </a:prstGeom>
            <a:noFill/>
            <a:ln w="9360">
              <a:solidFill>
                <a:srgbClr val="000000"/>
              </a:solidFill>
              <a:round/>
              <a:headEnd/>
              <a:tailEnd/>
            </a:ln>
          </p:spPr>
          <p:txBody>
            <a:bodyPr/>
            <a:lstStyle/>
            <a:p>
              <a:endParaRPr lang="en-IN"/>
            </a:p>
          </p:txBody>
        </p:sp>
        <p:sp>
          <p:nvSpPr>
            <p:cNvPr id="23580" name="Line 26"/>
            <p:cNvSpPr>
              <a:spLocks noChangeShapeType="1"/>
            </p:cNvSpPr>
            <p:nvPr/>
          </p:nvSpPr>
          <p:spPr bwMode="auto">
            <a:xfrm>
              <a:off x="3456" y="2757"/>
              <a:ext cx="1" cy="144"/>
            </a:xfrm>
            <a:prstGeom prst="line">
              <a:avLst/>
            </a:prstGeom>
            <a:noFill/>
            <a:ln w="9360">
              <a:solidFill>
                <a:srgbClr val="000000"/>
              </a:solidFill>
              <a:round/>
              <a:headEnd/>
              <a:tailEnd/>
            </a:ln>
          </p:spPr>
          <p:txBody>
            <a:bodyPr/>
            <a:lstStyle/>
            <a:p>
              <a:endParaRPr lang="en-IN"/>
            </a:p>
          </p:txBody>
        </p:sp>
        <p:sp>
          <p:nvSpPr>
            <p:cNvPr id="23581" name="AutoShape 27"/>
            <p:cNvSpPr>
              <a:spLocks noChangeArrowheads="1"/>
            </p:cNvSpPr>
            <p:nvPr/>
          </p:nvSpPr>
          <p:spPr bwMode="auto">
            <a:xfrm>
              <a:off x="2592" y="2892"/>
              <a:ext cx="196" cy="231"/>
            </a:xfrm>
            <a:prstGeom prst="roundRect">
              <a:avLst>
                <a:gd name="adj" fmla="val 509"/>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7</a:t>
              </a:r>
            </a:p>
          </p:txBody>
        </p:sp>
        <p:sp>
          <p:nvSpPr>
            <p:cNvPr id="23582" name="Line 28"/>
            <p:cNvSpPr>
              <a:spLocks noChangeShapeType="1"/>
            </p:cNvSpPr>
            <p:nvPr/>
          </p:nvSpPr>
          <p:spPr bwMode="auto">
            <a:xfrm>
              <a:off x="3696" y="2686"/>
              <a:ext cx="1" cy="144"/>
            </a:xfrm>
            <a:prstGeom prst="line">
              <a:avLst/>
            </a:prstGeom>
            <a:noFill/>
            <a:ln w="9360">
              <a:solidFill>
                <a:srgbClr val="000000"/>
              </a:solidFill>
              <a:round/>
              <a:headEnd/>
              <a:tailEnd/>
            </a:ln>
          </p:spPr>
          <p:txBody>
            <a:bodyPr/>
            <a:lstStyle/>
            <a:p>
              <a:endParaRPr lang="en-IN"/>
            </a:p>
          </p:txBody>
        </p:sp>
        <p:sp>
          <p:nvSpPr>
            <p:cNvPr id="23583" name="Line 29"/>
            <p:cNvSpPr>
              <a:spLocks noChangeShapeType="1"/>
            </p:cNvSpPr>
            <p:nvPr/>
          </p:nvSpPr>
          <p:spPr bwMode="auto">
            <a:xfrm>
              <a:off x="3888" y="2686"/>
              <a:ext cx="1" cy="144"/>
            </a:xfrm>
            <a:prstGeom prst="line">
              <a:avLst/>
            </a:prstGeom>
            <a:noFill/>
            <a:ln w="9360">
              <a:solidFill>
                <a:srgbClr val="000000"/>
              </a:solidFill>
              <a:round/>
              <a:headEnd/>
              <a:tailEnd/>
            </a:ln>
          </p:spPr>
          <p:txBody>
            <a:bodyPr/>
            <a:lstStyle/>
            <a:p>
              <a:endParaRPr lang="en-IN"/>
            </a:p>
          </p:txBody>
        </p:sp>
        <p:sp>
          <p:nvSpPr>
            <p:cNvPr id="23584" name="Line 30"/>
            <p:cNvSpPr>
              <a:spLocks noChangeShapeType="1"/>
            </p:cNvSpPr>
            <p:nvPr/>
          </p:nvSpPr>
          <p:spPr bwMode="auto">
            <a:xfrm>
              <a:off x="4080" y="2686"/>
              <a:ext cx="1" cy="144"/>
            </a:xfrm>
            <a:prstGeom prst="line">
              <a:avLst/>
            </a:prstGeom>
            <a:noFill/>
            <a:ln w="9360">
              <a:solidFill>
                <a:srgbClr val="000000"/>
              </a:solidFill>
              <a:round/>
              <a:headEnd/>
              <a:tailEnd/>
            </a:ln>
          </p:spPr>
          <p:txBody>
            <a:bodyPr/>
            <a:lstStyle/>
            <a:p>
              <a:endParaRPr lang="en-IN"/>
            </a:p>
          </p:txBody>
        </p:sp>
        <p:sp>
          <p:nvSpPr>
            <p:cNvPr id="23585" name="Line 31"/>
            <p:cNvSpPr>
              <a:spLocks noChangeShapeType="1"/>
            </p:cNvSpPr>
            <p:nvPr/>
          </p:nvSpPr>
          <p:spPr bwMode="auto">
            <a:xfrm>
              <a:off x="1824" y="2364"/>
              <a:ext cx="1" cy="576"/>
            </a:xfrm>
            <a:prstGeom prst="line">
              <a:avLst/>
            </a:prstGeom>
            <a:noFill/>
            <a:ln w="9360">
              <a:solidFill>
                <a:srgbClr val="000000"/>
              </a:solidFill>
              <a:round/>
              <a:headEnd/>
              <a:tailEnd/>
            </a:ln>
          </p:spPr>
          <p:txBody>
            <a:bodyPr/>
            <a:lstStyle/>
            <a:p>
              <a:endParaRPr lang="en-IN"/>
            </a:p>
          </p:txBody>
        </p:sp>
        <p:sp>
          <p:nvSpPr>
            <p:cNvPr id="23586" name="Line 32"/>
            <p:cNvSpPr>
              <a:spLocks noChangeShapeType="1"/>
            </p:cNvSpPr>
            <p:nvPr/>
          </p:nvSpPr>
          <p:spPr bwMode="auto">
            <a:xfrm>
              <a:off x="2160" y="2364"/>
              <a:ext cx="1" cy="576"/>
            </a:xfrm>
            <a:prstGeom prst="line">
              <a:avLst/>
            </a:prstGeom>
            <a:noFill/>
            <a:ln w="9360">
              <a:solidFill>
                <a:srgbClr val="000000"/>
              </a:solidFill>
              <a:round/>
              <a:headEnd/>
              <a:tailEnd/>
            </a:ln>
          </p:spPr>
          <p:txBody>
            <a:bodyPr/>
            <a:lstStyle/>
            <a:p>
              <a:endParaRPr lang="en-IN"/>
            </a:p>
          </p:txBody>
        </p:sp>
        <p:sp>
          <p:nvSpPr>
            <p:cNvPr id="23587" name="AutoShape 33"/>
            <p:cNvSpPr>
              <a:spLocks noChangeArrowheads="1"/>
            </p:cNvSpPr>
            <p:nvPr/>
          </p:nvSpPr>
          <p:spPr bwMode="auto">
            <a:xfrm>
              <a:off x="2256" y="2412"/>
              <a:ext cx="265" cy="231"/>
            </a:xfrm>
            <a:prstGeom prst="roundRect">
              <a:avLst>
                <a:gd name="adj" fmla="val 431"/>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P</a:t>
              </a:r>
              <a:r>
                <a:rPr lang="en-GB" sz="1800" baseline="-25000">
                  <a:solidFill>
                    <a:schemeClr val="tx1"/>
                  </a:solidFill>
                  <a:latin typeface="Helvetica" pitchFamily="34" charset="0"/>
                  <a:ea typeface="Lucida Sans Unicode" pitchFamily="34" charset="0"/>
                </a:rPr>
                <a:t>2</a:t>
              </a:r>
            </a:p>
          </p:txBody>
        </p:sp>
        <p:sp>
          <p:nvSpPr>
            <p:cNvPr id="23588" name="AutoShape 34"/>
            <p:cNvSpPr>
              <a:spLocks noChangeArrowheads="1"/>
            </p:cNvSpPr>
            <p:nvPr/>
          </p:nvSpPr>
          <p:spPr bwMode="auto">
            <a:xfrm>
              <a:off x="3840" y="2412"/>
              <a:ext cx="265" cy="231"/>
            </a:xfrm>
            <a:prstGeom prst="roundRect">
              <a:avLst>
                <a:gd name="adj" fmla="val 431"/>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P</a:t>
              </a:r>
              <a:r>
                <a:rPr lang="en-GB" sz="1800" baseline="-25000">
                  <a:solidFill>
                    <a:schemeClr val="tx1"/>
                  </a:solidFill>
                  <a:latin typeface="Helvetica" pitchFamily="34" charset="0"/>
                  <a:ea typeface="Lucida Sans Unicode" pitchFamily="34" charset="0"/>
                </a:rPr>
                <a:t>1</a:t>
              </a:r>
            </a:p>
          </p:txBody>
        </p:sp>
        <p:sp>
          <p:nvSpPr>
            <p:cNvPr id="23589" name="Line 35"/>
            <p:cNvSpPr>
              <a:spLocks noChangeShapeType="1"/>
            </p:cNvSpPr>
            <p:nvPr/>
          </p:nvSpPr>
          <p:spPr bwMode="auto">
            <a:xfrm>
              <a:off x="4272" y="2686"/>
              <a:ext cx="1" cy="144"/>
            </a:xfrm>
            <a:prstGeom prst="line">
              <a:avLst/>
            </a:prstGeom>
            <a:noFill/>
            <a:ln w="9360">
              <a:solidFill>
                <a:srgbClr val="000000"/>
              </a:solidFill>
              <a:round/>
              <a:headEnd/>
              <a:tailEnd/>
            </a:ln>
          </p:spPr>
          <p:txBody>
            <a:bodyPr/>
            <a:lstStyle/>
            <a:p>
              <a:endParaRPr lang="en-IN"/>
            </a:p>
          </p:txBody>
        </p:sp>
        <p:sp>
          <p:nvSpPr>
            <p:cNvPr id="23590" name="AutoShape 36"/>
            <p:cNvSpPr>
              <a:spLocks noChangeArrowheads="1"/>
            </p:cNvSpPr>
            <p:nvPr/>
          </p:nvSpPr>
          <p:spPr bwMode="auto">
            <a:xfrm>
              <a:off x="4320" y="2844"/>
              <a:ext cx="276" cy="231"/>
            </a:xfrm>
            <a:prstGeom prst="roundRect">
              <a:avLst>
                <a:gd name="adj" fmla="val 431"/>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16</a:t>
              </a:r>
            </a:p>
          </p:txBody>
        </p:sp>
      </p:gr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p:cNvSpPr txBox="1">
            <a:spLocks noChangeArrowheads="1"/>
          </p:cNvSpPr>
          <p:nvPr/>
        </p:nvSpPr>
        <p:spPr>
          <a:xfrm>
            <a:off x="539552" y="908720"/>
            <a:ext cx="8223448" cy="5688632"/>
          </a:xfrm>
          <a:prstGeom prst="rect">
            <a:avLst/>
          </a:prstGeom>
          <a:noFill/>
          <a:ln/>
        </p:spPr>
        <p:txBody>
          <a:bodyPr>
            <a:noAutofit/>
          </a:bodyPr>
          <a:lstStyle/>
          <a:p>
            <a:pPr marL="365760" indent="-283464" algn="just" fontAlgn="auto">
              <a:spcBef>
                <a:spcPts val="600"/>
              </a:spcBef>
              <a:spcAft>
                <a:spcPts val="0"/>
              </a:spcAft>
              <a:buClr>
                <a:schemeClr val="accent1"/>
              </a:buClr>
              <a:buSzPct val="80000"/>
              <a:buFont typeface="Wingdings 2"/>
              <a:buChar char=""/>
              <a:defRPr/>
            </a:pPr>
            <a:endParaRPr lang="en-US" sz="2400" dirty="0">
              <a:latin typeface="Times New Roman" pitchFamily="18" charset="0"/>
              <a:cs typeface="Times New Roman" pitchFamily="18" charset="0"/>
            </a:endParaRPr>
          </a:p>
          <a:p>
            <a:pPr marL="365760" indent="-283464" algn="just" fontAlgn="auto">
              <a:spcBef>
                <a:spcPts val="600"/>
              </a:spcBef>
              <a:spcAft>
                <a:spcPts val="0"/>
              </a:spcAft>
              <a:buClr>
                <a:schemeClr val="accent1"/>
              </a:buClr>
              <a:buSzPct val="80000"/>
              <a:buFont typeface="Wingdings 2"/>
              <a:buChar char=""/>
              <a:defRPr/>
            </a:pPr>
            <a:r>
              <a:rPr lang="en-US" sz="2400" dirty="0">
                <a:latin typeface="Times New Roman" pitchFamily="18" charset="0"/>
                <a:cs typeface="Times New Roman" pitchFamily="18" charset="0"/>
              </a:rPr>
              <a:t>A priority number (integer) is associated with each process.</a:t>
            </a:r>
          </a:p>
          <a:p>
            <a:pPr marL="365760" indent="-283464" algn="just" fontAlgn="auto">
              <a:spcBef>
                <a:spcPts val="600"/>
              </a:spcBef>
              <a:spcAft>
                <a:spcPts val="0"/>
              </a:spcAft>
              <a:buClr>
                <a:schemeClr val="accent1"/>
              </a:buClr>
              <a:buSzPct val="80000"/>
              <a:buFont typeface="Wingdings 2"/>
              <a:buChar char=""/>
              <a:defRPr/>
            </a:pPr>
            <a:r>
              <a:rPr lang="en-US" sz="2400" dirty="0">
                <a:latin typeface="Times New Roman" pitchFamily="18" charset="0"/>
                <a:cs typeface="Times New Roman" pitchFamily="18" charset="0"/>
              </a:rPr>
              <a:t>Lager the CPU burst ,lower the priority.</a:t>
            </a:r>
          </a:p>
          <a:p>
            <a:pPr marL="365760" indent="-283464" algn="just" fontAlgn="auto">
              <a:spcBef>
                <a:spcPts val="600"/>
              </a:spcBef>
              <a:spcAft>
                <a:spcPts val="0"/>
              </a:spcAft>
              <a:buClr>
                <a:schemeClr val="accent1"/>
              </a:buClr>
              <a:buSzPct val="80000"/>
              <a:buFont typeface="Wingdings 2"/>
              <a:buChar char=""/>
              <a:defRPr/>
            </a:pPr>
            <a:r>
              <a:rPr lang="en-US" sz="2400" dirty="0">
                <a:latin typeface="Times New Roman" pitchFamily="18" charset="0"/>
                <a:cs typeface="Times New Roman" pitchFamily="18" charset="0"/>
              </a:rPr>
              <a:t>The CPU is allocated to the process with the highest priority (smallest integer </a:t>
            </a:r>
            <a:r>
              <a:rPr lang="en-US" sz="2400" dirty="0">
                <a:latin typeface="Times New Roman" pitchFamily="18" charset="0"/>
                <a:cs typeface="Times New Roman" pitchFamily="18" charset="0"/>
                <a:sym typeface="Symbol" pitchFamily="18" charset="2"/>
              </a:rPr>
              <a:t> highest priority)</a:t>
            </a:r>
          </a:p>
          <a:p>
            <a:pPr marL="365760" indent="-283464" algn="just" fontAlgn="auto">
              <a:spcBef>
                <a:spcPts val="600"/>
              </a:spcBef>
              <a:spcAft>
                <a:spcPts val="0"/>
              </a:spcAft>
              <a:buClr>
                <a:schemeClr val="accent1"/>
              </a:buClr>
              <a:buSzPct val="80000"/>
              <a:buFont typeface="Wingdings 2"/>
              <a:buChar char=""/>
              <a:defRPr/>
            </a:pPr>
            <a:r>
              <a:rPr lang="en-IN" sz="2400" b="1" dirty="0">
                <a:latin typeface="Times New Roman" pitchFamily="18" charset="0"/>
                <a:cs typeface="Times New Roman" pitchFamily="18" charset="0"/>
                <a:sym typeface="Symbol" pitchFamily="18" charset="2"/>
              </a:rPr>
              <a:t>Equal priority processes are scheduled in FCFS</a:t>
            </a:r>
          </a:p>
          <a:p>
            <a:pPr marL="365760" indent="-283464" algn="just" fontAlgn="auto">
              <a:spcBef>
                <a:spcPts val="600"/>
              </a:spcBef>
              <a:spcAft>
                <a:spcPts val="0"/>
              </a:spcAft>
              <a:buClr>
                <a:schemeClr val="accent1"/>
              </a:buClr>
              <a:buSzPct val="80000"/>
              <a:buFont typeface="Wingdings 2"/>
              <a:buChar char=""/>
              <a:defRPr/>
            </a:pPr>
            <a:r>
              <a:rPr lang="en-IN" sz="2400" dirty="0">
                <a:latin typeface="Times New Roman" pitchFamily="18" charset="0"/>
                <a:cs typeface="Times New Roman" pitchFamily="18" charset="0"/>
              </a:rPr>
              <a:t>Priorities can be defined either internally or externally.</a:t>
            </a:r>
          </a:p>
          <a:p>
            <a:pPr marL="365760" indent="-283464" algn="just" fontAlgn="auto">
              <a:spcBef>
                <a:spcPts val="600"/>
              </a:spcBef>
              <a:spcAft>
                <a:spcPts val="0"/>
              </a:spcAft>
              <a:buClr>
                <a:schemeClr val="accent1"/>
              </a:buClr>
              <a:buSzPct val="80000"/>
              <a:buFont typeface="Wingdings 2"/>
              <a:buChar char=""/>
              <a:defRPr/>
            </a:pPr>
            <a:r>
              <a:rPr lang="en-IN" sz="2400" dirty="0">
                <a:latin typeface="Times New Roman" pitchFamily="18" charset="0"/>
                <a:cs typeface="Times New Roman" pitchFamily="18" charset="0"/>
              </a:rPr>
              <a:t>Internally defined priorities  use some measurable quantity or quantities to compute the priority of a process. For example, memory requirements, number of open files , ratio of average I/O burst to  average CPU burst have been used in computing priorities.</a:t>
            </a:r>
          </a:p>
          <a:p>
            <a:pPr marL="365760" indent="-283464" algn="just" fontAlgn="auto">
              <a:spcBef>
                <a:spcPts val="600"/>
              </a:spcBef>
              <a:spcAft>
                <a:spcPts val="0"/>
              </a:spcAft>
              <a:buClr>
                <a:schemeClr val="accent1"/>
              </a:buClr>
              <a:buSzPct val="80000"/>
              <a:buFont typeface="Wingdings 2"/>
              <a:buChar char=""/>
              <a:defRPr/>
            </a:pPr>
            <a:r>
              <a:rPr lang="en-IN" sz="2400" dirty="0">
                <a:latin typeface="Times New Roman" pitchFamily="18" charset="0"/>
                <a:cs typeface="Times New Roman" pitchFamily="18" charset="0"/>
              </a:rPr>
              <a:t>Externally priority is set by criteria that is external to the O.S.; such as importance of the process.</a:t>
            </a:r>
          </a:p>
          <a:p>
            <a:pPr marL="365760" indent="-283464" algn="just" fontAlgn="auto">
              <a:spcBef>
                <a:spcPts val="600"/>
              </a:spcBef>
              <a:spcAft>
                <a:spcPts val="0"/>
              </a:spcAft>
              <a:buClr>
                <a:schemeClr val="accent1"/>
              </a:buClr>
              <a:buSzPct val="80000"/>
              <a:buFont typeface="Wingdings 2"/>
              <a:buChar char=""/>
              <a:defRPr/>
            </a:pPr>
            <a:endParaRPr lang="en-IN" sz="2400" dirty="0">
              <a:latin typeface="Times New Roman" pitchFamily="18" charset="0"/>
              <a:cs typeface="Times New Roman" pitchFamily="18" charset="0"/>
            </a:endParaRPr>
          </a:p>
          <a:p>
            <a:pPr marL="365760" indent="-283464" algn="just" fontAlgn="auto">
              <a:spcBef>
                <a:spcPts val="600"/>
              </a:spcBef>
              <a:spcAft>
                <a:spcPts val="0"/>
              </a:spcAft>
              <a:buClr>
                <a:schemeClr val="accent1"/>
              </a:buClr>
              <a:buSzPct val="80000"/>
              <a:buFont typeface="Wingdings 2"/>
              <a:buChar char=""/>
              <a:defRPr/>
            </a:pPr>
            <a:endParaRPr lang="en-IN" sz="2400" b="1" dirty="0">
              <a:latin typeface="Times New Roman" pitchFamily="18" charset="0"/>
              <a:cs typeface="Times New Roman" pitchFamily="18" charset="0"/>
              <a:sym typeface="Symbol" pitchFamily="18" charset="2"/>
            </a:endParaRPr>
          </a:p>
        </p:txBody>
      </p:sp>
      <p:sp>
        <p:nvSpPr>
          <p:cNvPr id="23555" name="Rectangle 2"/>
          <p:cNvSpPr>
            <a:spLocks noGrp="1" noChangeArrowheads="1"/>
          </p:cNvSpPr>
          <p:nvPr>
            <p:ph type="title"/>
          </p:nvPr>
        </p:nvSpPr>
        <p:spPr bwMode="auto">
          <a:xfrm>
            <a:off x="1130300" y="152400"/>
            <a:ext cx="6718300" cy="756320"/>
          </a:xfrm>
        </p:spPr>
        <p:txBody>
          <a:bodyPr vert="horz" wrap="square" lIns="91440" tIns="45720" rIns="91440" bIns="45720" numCol="1" anchorCtr="0" compatLnSpc="1">
            <a:prstTxWarp prst="textNoShape">
              <a:avLst/>
            </a:prstTxWarp>
          </a:bodyPr>
          <a:lstStyle/>
          <a:p>
            <a:pPr eaLnBrk="1" hangingPunct="1"/>
            <a:r>
              <a:rPr lang="en-US" b="1" dirty="0">
                <a:effectLst/>
              </a:rPr>
              <a:t>Priority Scheduling</a:t>
            </a:r>
          </a:p>
        </p:txBody>
      </p:sp>
      <p:sp>
        <p:nvSpPr>
          <p:cNvPr id="25604" name="Text Box 4"/>
          <p:cNvSpPr txBox="1">
            <a:spLocks noChangeArrowheads="1"/>
          </p:cNvSpPr>
          <p:nvPr/>
        </p:nvSpPr>
        <p:spPr bwMode="auto">
          <a:xfrm>
            <a:off x="7648575" y="319088"/>
            <a:ext cx="1100138" cy="366712"/>
          </a:xfrm>
          <a:prstGeom prst="rect">
            <a:avLst/>
          </a:prstGeom>
          <a:noFill/>
          <a:ln w="9525">
            <a:noFill/>
            <a:miter lim="800000"/>
            <a:headEnd/>
            <a:tailEnd/>
          </a:ln>
        </p:spPr>
        <p:txBody>
          <a:bodyPr wrap="none">
            <a:spAutoFit/>
          </a:bodyPr>
          <a:lstStyle/>
          <a:p>
            <a:pPr eaLnBrk="0" hangingPunct="0"/>
            <a:r>
              <a:rPr lang="en-US" b="1">
                <a:solidFill>
                  <a:srgbClr val="7F7F7F"/>
                </a:solidFill>
                <a:latin typeface="Gill Sans MT" pitchFamily="34" charset="0"/>
              </a:rPr>
              <a:t>CONT…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3555"/>
                                        </p:tgtEl>
                                        <p:attrNameLst>
                                          <p:attrName>style.visibility</p:attrName>
                                        </p:attrNameLst>
                                      </p:cBhvr>
                                      <p:to>
                                        <p:strVal val="visible"/>
                                      </p:to>
                                    </p:set>
                                    <p:animEffect transition="in" filter="wipe(left)">
                                      <p:cBhvr>
                                        <p:cTn id="7" dur="1000"/>
                                        <p:tgtEl>
                                          <p:spTgt spid="23555"/>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355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Priority Scheduling</a:t>
            </a:r>
          </a:p>
        </p:txBody>
      </p:sp>
      <p:sp>
        <p:nvSpPr>
          <p:cNvPr id="3" name="Content Placeholder 2"/>
          <p:cNvSpPr>
            <a:spLocks noGrp="1"/>
          </p:cNvSpPr>
          <p:nvPr>
            <p:ph idx="1"/>
          </p:nvPr>
        </p:nvSpPr>
        <p:spPr>
          <a:xfrm>
            <a:off x="457200" y="1124744"/>
            <a:ext cx="8229600" cy="5472608"/>
          </a:xfrm>
        </p:spPr>
        <p:txBody>
          <a:bodyPr>
            <a:normAutofit/>
          </a:bodyPr>
          <a:lstStyle/>
          <a:p>
            <a:pPr algn="just"/>
            <a:r>
              <a:rPr lang="en-IN" dirty="0"/>
              <a:t>Priority can be either </a:t>
            </a:r>
            <a:r>
              <a:rPr lang="en-IN" dirty="0" err="1"/>
              <a:t>preemptive</a:t>
            </a:r>
            <a:r>
              <a:rPr lang="en-IN" dirty="0"/>
              <a:t> or </a:t>
            </a:r>
            <a:r>
              <a:rPr lang="en-IN" dirty="0" err="1"/>
              <a:t>nonpreemptive</a:t>
            </a:r>
            <a:r>
              <a:rPr lang="en-IN" dirty="0"/>
              <a:t>.</a:t>
            </a:r>
          </a:p>
          <a:p>
            <a:pPr algn="just"/>
            <a:r>
              <a:rPr lang="en-IN" dirty="0"/>
              <a:t>A </a:t>
            </a:r>
            <a:r>
              <a:rPr lang="en-IN" dirty="0" err="1"/>
              <a:t>preemptive</a:t>
            </a:r>
            <a:r>
              <a:rPr lang="en-IN" dirty="0"/>
              <a:t> priority will </a:t>
            </a:r>
            <a:r>
              <a:rPr lang="en-IN" dirty="0" err="1"/>
              <a:t>preempt</a:t>
            </a:r>
            <a:r>
              <a:rPr lang="en-IN" dirty="0"/>
              <a:t> the CPU if the newly arrived process priority is higher than the priority of the currently running process.</a:t>
            </a:r>
          </a:p>
          <a:p>
            <a:pPr algn="just"/>
            <a:r>
              <a:rPr lang="en-IN" dirty="0"/>
              <a:t>A non </a:t>
            </a:r>
            <a:r>
              <a:rPr lang="en-IN" dirty="0" err="1"/>
              <a:t>preemptive</a:t>
            </a:r>
            <a:r>
              <a:rPr lang="en-IN" dirty="0"/>
              <a:t> priority will simply put the new highest priority process at the head of the ready queue.</a:t>
            </a:r>
          </a:p>
          <a:p>
            <a:pPr algn="just"/>
            <a:r>
              <a:rPr lang="en-IN" dirty="0"/>
              <a:t>Problem :</a:t>
            </a:r>
            <a:r>
              <a:rPr lang="en-IN" b="1" i="1" dirty="0"/>
              <a:t>Starvation</a:t>
            </a:r>
            <a:r>
              <a:rPr lang="en-IN" i="1" dirty="0"/>
              <a:t> – low priority processes may never  get the chance to </a:t>
            </a:r>
            <a:r>
              <a:rPr lang="en-IN" dirty="0"/>
              <a:t>execute.</a:t>
            </a:r>
          </a:p>
          <a:p>
            <a:pPr algn="just">
              <a:buNone/>
            </a:pPr>
            <a:r>
              <a:rPr lang="en-IN" dirty="0"/>
              <a:t>Solution : </a:t>
            </a:r>
            <a:r>
              <a:rPr lang="en-IN" b="1" i="1" dirty="0"/>
              <a:t>Aging </a:t>
            </a:r>
            <a:r>
              <a:rPr lang="en-IN" i="1" dirty="0"/>
              <a:t>– is a technique of gradually, increasing  the priority </a:t>
            </a:r>
            <a:r>
              <a:rPr lang="en-IN" dirty="0"/>
              <a:t>of the processes that wait in the system for a long time. so eventually the process will become the highest priority and will gain the CPU (i.e., the more time is spending a process in ready queue waiting, its priority becomes higher and higher).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2"/>
          <p:cNvSpPr>
            <a:spLocks noGrp="1" noChangeArrowheads="1"/>
          </p:cNvSpPr>
          <p:nvPr>
            <p:ph type="title"/>
          </p:nvPr>
        </p:nvSpPr>
        <p:spPr bwMode="auto">
          <a:xfrm>
            <a:off x="1130300" y="152400"/>
            <a:ext cx="6718300" cy="1143000"/>
          </a:xfrm>
        </p:spPr>
        <p:txBody>
          <a:bodyPr vert="horz" wrap="square" lIns="91440" tIns="45720" rIns="91440" bIns="45720" numCol="1" anchorCtr="0" compatLnSpc="1">
            <a:prstTxWarp prst="textNoShape">
              <a:avLst/>
            </a:prstTxWarp>
            <a:normAutofit fontScale="90000"/>
          </a:bodyPr>
          <a:lstStyle/>
          <a:p>
            <a:pPr eaLnBrk="1" hangingPunct="1"/>
            <a:r>
              <a:rPr lang="en-US" b="1" dirty="0">
                <a:effectLst/>
              </a:rPr>
              <a:t>Priority Scheduling Example:</a:t>
            </a:r>
            <a:br>
              <a:rPr lang="en-US" b="1" dirty="0">
                <a:effectLst/>
              </a:rPr>
            </a:br>
            <a:r>
              <a:rPr lang="en-US" dirty="0"/>
              <a:t>Non preemptive</a:t>
            </a:r>
            <a:endParaRPr lang="en-US" b="1" dirty="0">
              <a:effectLst/>
            </a:endParaRPr>
          </a:p>
        </p:txBody>
      </p:sp>
      <p:sp>
        <p:nvSpPr>
          <p:cNvPr id="11" name="Rectangle 7"/>
          <p:cNvSpPr txBox="1">
            <a:spLocks noChangeArrowheads="1"/>
          </p:cNvSpPr>
          <p:nvPr/>
        </p:nvSpPr>
        <p:spPr>
          <a:xfrm>
            <a:off x="1066800" y="1447800"/>
            <a:ext cx="7848600" cy="4953000"/>
          </a:xfrm>
          <a:prstGeom prst="rect">
            <a:avLst/>
          </a:prstGeom>
          <a:noFill/>
          <a:ln/>
        </p:spPr>
        <p:txBody>
          <a:bodyPr>
            <a:normAutofit lnSpcReduction="10000"/>
          </a:bodyPr>
          <a:lstStyle/>
          <a:p>
            <a:pPr marL="365760" indent="-283464" algn="ctr" fontAlgn="auto">
              <a:lnSpc>
                <a:spcPct val="90000"/>
              </a:lnSpc>
              <a:spcBef>
                <a:spcPts val="600"/>
              </a:spcBef>
              <a:spcAft>
                <a:spcPts val="0"/>
              </a:spcAft>
              <a:buClr>
                <a:schemeClr val="accent1"/>
              </a:buClr>
              <a:buSzPct val="80000"/>
              <a:buFont typeface="Wingdings" pitchFamily="2" charset="2"/>
              <a:buNone/>
              <a:tabLst>
                <a:tab pos="1603375" algn="ctr"/>
                <a:tab pos="3254375" algn="ctr"/>
                <a:tab pos="5143500" algn="ctr"/>
              </a:tabLst>
              <a:defRPr/>
            </a:pPr>
            <a:r>
              <a:rPr lang="en-US" sz="2400" b="1" u="sng" dirty="0">
                <a:latin typeface="Garamond" pitchFamily="18" charset="0"/>
                <a:cs typeface="+mn-cs"/>
              </a:rPr>
              <a:t>Process</a:t>
            </a:r>
            <a:r>
              <a:rPr lang="en-US" sz="2400" b="1" dirty="0">
                <a:latin typeface="Garamond" pitchFamily="18" charset="0"/>
                <a:cs typeface="+mn-cs"/>
              </a:rPr>
              <a:t>		</a:t>
            </a:r>
            <a:r>
              <a:rPr lang="en-US" sz="2400" b="1" u="sng" dirty="0">
                <a:latin typeface="Garamond" pitchFamily="18" charset="0"/>
                <a:cs typeface="+mn-cs"/>
              </a:rPr>
              <a:t>Burst Time</a:t>
            </a:r>
            <a:r>
              <a:rPr lang="en-US" sz="2400" b="1" dirty="0">
                <a:latin typeface="Garamond" pitchFamily="18" charset="0"/>
                <a:cs typeface="+mn-cs"/>
              </a:rPr>
              <a:t>		</a:t>
            </a:r>
            <a:r>
              <a:rPr lang="en-US" sz="2400" b="1" u="sng" dirty="0">
                <a:latin typeface="Garamond" pitchFamily="18" charset="0"/>
                <a:cs typeface="+mn-cs"/>
              </a:rPr>
              <a:t>Priority</a:t>
            </a:r>
          </a:p>
          <a:p>
            <a:pPr marL="365760" indent="-283464" fontAlgn="auto">
              <a:lnSpc>
                <a:spcPct val="90000"/>
              </a:lnSpc>
              <a:spcBef>
                <a:spcPts val="600"/>
              </a:spcBef>
              <a:spcAft>
                <a:spcPts val="0"/>
              </a:spcAft>
              <a:buClr>
                <a:schemeClr val="accent1"/>
              </a:buClr>
              <a:buSzPct val="80000"/>
              <a:buFont typeface="Wingdings" pitchFamily="2" charset="2"/>
              <a:buNone/>
              <a:tabLst>
                <a:tab pos="1603375" algn="ctr"/>
                <a:tab pos="3254375" algn="ctr"/>
                <a:tab pos="5143500" algn="ctr"/>
              </a:tabLst>
              <a:defRPr/>
            </a:pPr>
            <a:r>
              <a:rPr lang="en-US" sz="2400" b="1" dirty="0">
                <a:latin typeface="Garamond" pitchFamily="18" charset="0"/>
                <a:cs typeface="+mn-cs"/>
              </a:rPr>
              <a:t>	       </a:t>
            </a:r>
            <a:r>
              <a:rPr lang="en-US" sz="2400" b="1" i="1" dirty="0">
                <a:latin typeface="Garamond" pitchFamily="18" charset="0"/>
                <a:cs typeface="+mn-cs"/>
              </a:rPr>
              <a:t>P1</a:t>
            </a:r>
            <a:r>
              <a:rPr lang="en-US" sz="2400" b="1" dirty="0">
                <a:latin typeface="Garamond" pitchFamily="18" charset="0"/>
                <a:cs typeface="+mn-cs"/>
              </a:rPr>
              <a:t>	          	            10			3</a:t>
            </a:r>
          </a:p>
          <a:p>
            <a:pPr marL="365760" indent="-283464" fontAlgn="auto">
              <a:lnSpc>
                <a:spcPct val="90000"/>
              </a:lnSpc>
              <a:spcBef>
                <a:spcPts val="600"/>
              </a:spcBef>
              <a:spcAft>
                <a:spcPts val="0"/>
              </a:spcAft>
              <a:buClr>
                <a:schemeClr val="accent1"/>
              </a:buClr>
              <a:buSzPct val="80000"/>
              <a:buFont typeface="Wingdings" pitchFamily="2" charset="2"/>
              <a:buNone/>
              <a:tabLst>
                <a:tab pos="1603375" algn="ctr"/>
                <a:tab pos="3254375" algn="ctr"/>
                <a:tab pos="5143500" algn="ctr"/>
              </a:tabLst>
              <a:defRPr/>
            </a:pPr>
            <a:r>
              <a:rPr lang="en-US" sz="2400" b="1" dirty="0">
                <a:latin typeface="Garamond" pitchFamily="18" charset="0"/>
                <a:cs typeface="+mn-cs"/>
              </a:rPr>
              <a:t>	       </a:t>
            </a:r>
            <a:r>
              <a:rPr lang="en-US" sz="2400" b="1" i="1" dirty="0">
                <a:latin typeface="Garamond" pitchFamily="18" charset="0"/>
                <a:cs typeface="+mn-cs"/>
              </a:rPr>
              <a:t>P2	          	            </a:t>
            </a:r>
            <a:r>
              <a:rPr lang="en-US" sz="2400" b="1" dirty="0">
                <a:latin typeface="Garamond" pitchFamily="18" charset="0"/>
                <a:cs typeface="+mn-cs"/>
              </a:rPr>
              <a:t>1			1	</a:t>
            </a:r>
          </a:p>
          <a:p>
            <a:pPr marL="365760" indent="-283464" fontAlgn="auto">
              <a:lnSpc>
                <a:spcPct val="90000"/>
              </a:lnSpc>
              <a:spcBef>
                <a:spcPts val="600"/>
              </a:spcBef>
              <a:spcAft>
                <a:spcPts val="0"/>
              </a:spcAft>
              <a:buClr>
                <a:schemeClr val="accent1"/>
              </a:buClr>
              <a:buSzPct val="80000"/>
              <a:buFont typeface="Wingdings" pitchFamily="2" charset="2"/>
              <a:buNone/>
              <a:tabLst>
                <a:tab pos="1603375" algn="ctr"/>
                <a:tab pos="3254375" algn="ctr"/>
                <a:tab pos="5143500" algn="ctr"/>
              </a:tabLst>
              <a:defRPr/>
            </a:pPr>
            <a:r>
              <a:rPr lang="en-US" sz="2400" b="1" dirty="0">
                <a:latin typeface="Garamond" pitchFamily="18" charset="0"/>
                <a:cs typeface="+mn-cs"/>
              </a:rPr>
              <a:t>	       </a:t>
            </a:r>
            <a:r>
              <a:rPr lang="en-US" sz="2400" b="1" i="1" dirty="0">
                <a:latin typeface="Garamond" pitchFamily="18" charset="0"/>
                <a:cs typeface="+mn-cs"/>
              </a:rPr>
              <a:t>P3</a:t>
            </a:r>
            <a:r>
              <a:rPr lang="en-US" sz="2400" b="1" dirty="0">
                <a:latin typeface="Garamond" pitchFamily="18" charset="0"/>
                <a:cs typeface="+mn-cs"/>
              </a:rPr>
              <a:t>	         	            2			4	</a:t>
            </a:r>
          </a:p>
          <a:p>
            <a:pPr marL="365760" indent="-283464" fontAlgn="auto">
              <a:lnSpc>
                <a:spcPct val="90000"/>
              </a:lnSpc>
              <a:spcBef>
                <a:spcPts val="600"/>
              </a:spcBef>
              <a:spcAft>
                <a:spcPts val="0"/>
              </a:spcAft>
              <a:buClr>
                <a:schemeClr val="accent1"/>
              </a:buClr>
              <a:buSzPct val="80000"/>
              <a:buFont typeface="Wingdings" pitchFamily="2" charset="2"/>
              <a:buNone/>
              <a:tabLst>
                <a:tab pos="1603375" algn="ctr"/>
                <a:tab pos="3254375" algn="ctr"/>
                <a:tab pos="5143500" algn="ctr"/>
              </a:tabLst>
              <a:defRPr/>
            </a:pPr>
            <a:r>
              <a:rPr lang="en-US" sz="2400" b="1" dirty="0">
                <a:latin typeface="Garamond" pitchFamily="18" charset="0"/>
                <a:cs typeface="+mn-cs"/>
              </a:rPr>
              <a:t>	       </a:t>
            </a:r>
            <a:r>
              <a:rPr lang="en-US" sz="2400" b="1" i="1" dirty="0">
                <a:latin typeface="Garamond" pitchFamily="18" charset="0"/>
                <a:cs typeface="+mn-cs"/>
              </a:rPr>
              <a:t>P4</a:t>
            </a:r>
            <a:r>
              <a:rPr lang="en-US" sz="2400" b="1" dirty="0">
                <a:latin typeface="Garamond" pitchFamily="18" charset="0"/>
                <a:cs typeface="+mn-cs"/>
              </a:rPr>
              <a:t>	          	            1			5</a:t>
            </a:r>
          </a:p>
          <a:p>
            <a:pPr marL="365760" indent="-283464" fontAlgn="auto">
              <a:lnSpc>
                <a:spcPct val="90000"/>
              </a:lnSpc>
              <a:spcBef>
                <a:spcPts val="600"/>
              </a:spcBef>
              <a:spcAft>
                <a:spcPts val="0"/>
              </a:spcAft>
              <a:buClr>
                <a:schemeClr val="accent1"/>
              </a:buClr>
              <a:buSzPct val="80000"/>
              <a:buFont typeface="Wingdings" pitchFamily="2" charset="2"/>
              <a:buNone/>
              <a:tabLst>
                <a:tab pos="1603375" algn="ctr"/>
                <a:tab pos="3254375" algn="ctr"/>
                <a:tab pos="5143500" algn="ctr"/>
              </a:tabLst>
              <a:defRPr/>
            </a:pPr>
            <a:r>
              <a:rPr lang="en-US" sz="2400" b="1" dirty="0">
                <a:latin typeface="Garamond" pitchFamily="18" charset="0"/>
                <a:cs typeface="+mn-cs"/>
              </a:rPr>
              <a:t>	       </a:t>
            </a:r>
            <a:r>
              <a:rPr lang="en-US" sz="2400" b="1" i="1" dirty="0">
                <a:latin typeface="Garamond" pitchFamily="18" charset="0"/>
                <a:cs typeface="+mn-cs"/>
              </a:rPr>
              <a:t>P5		            </a:t>
            </a:r>
            <a:r>
              <a:rPr lang="en-US" sz="2400" b="1" dirty="0">
                <a:latin typeface="Garamond" pitchFamily="18" charset="0"/>
                <a:cs typeface="+mn-cs"/>
              </a:rPr>
              <a:t>5			2</a:t>
            </a:r>
          </a:p>
          <a:p>
            <a:pPr marL="365760" indent="-283464" fontAlgn="auto">
              <a:lnSpc>
                <a:spcPct val="90000"/>
              </a:lnSpc>
              <a:spcBef>
                <a:spcPts val="600"/>
              </a:spcBef>
              <a:spcAft>
                <a:spcPts val="0"/>
              </a:spcAft>
              <a:buClr>
                <a:schemeClr val="accent1"/>
              </a:buClr>
              <a:buSzPct val="80000"/>
              <a:buFont typeface="Wingdings 2"/>
              <a:buChar char=""/>
              <a:tabLst>
                <a:tab pos="1603375" algn="ctr"/>
                <a:tab pos="3254375" algn="ctr"/>
                <a:tab pos="5143500" algn="ctr"/>
              </a:tabLst>
              <a:defRPr/>
            </a:pPr>
            <a:endParaRPr lang="en-US" sz="2400" b="1" dirty="0">
              <a:latin typeface="Garamond" pitchFamily="18" charset="0"/>
              <a:cs typeface="+mn-cs"/>
            </a:endParaRPr>
          </a:p>
          <a:p>
            <a:pPr marL="365760" indent="-283464" fontAlgn="auto">
              <a:lnSpc>
                <a:spcPct val="90000"/>
              </a:lnSpc>
              <a:spcBef>
                <a:spcPts val="600"/>
              </a:spcBef>
              <a:spcAft>
                <a:spcPts val="0"/>
              </a:spcAft>
              <a:buClr>
                <a:schemeClr val="accent1"/>
              </a:buClr>
              <a:buSzPct val="80000"/>
              <a:buFont typeface="Wingdings" pitchFamily="2" charset="2"/>
              <a:buChar char="§"/>
              <a:tabLst>
                <a:tab pos="1603375" algn="ctr"/>
                <a:tab pos="3254375" algn="ctr"/>
                <a:tab pos="5143500" algn="ctr"/>
              </a:tabLst>
              <a:defRPr/>
            </a:pPr>
            <a:r>
              <a:rPr lang="en-US" sz="2400" b="1" dirty="0">
                <a:latin typeface="Garamond" pitchFamily="18" charset="0"/>
                <a:cs typeface="+mn-cs"/>
              </a:rPr>
              <a:t>Gantt Chart</a:t>
            </a:r>
          </a:p>
          <a:p>
            <a:pPr marL="365760" indent="-283464" fontAlgn="auto">
              <a:lnSpc>
                <a:spcPct val="90000"/>
              </a:lnSpc>
              <a:spcBef>
                <a:spcPts val="600"/>
              </a:spcBef>
              <a:spcAft>
                <a:spcPts val="0"/>
              </a:spcAft>
              <a:buClr>
                <a:schemeClr val="accent1"/>
              </a:buClr>
              <a:buSzPct val="80000"/>
              <a:buFont typeface="Wingdings 2"/>
              <a:buChar char=""/>
              <a:tabLst>
                <a:tab pos="1603375" algn="ctr"/>
                <a:tab pos="3254375" algn="ctr"/>
                <a:tab pos="5143500" algn="ctr"/>
              </a:tabLst>
              <a:defRPr/>
            </a:pPr>
            <a:endParaRPr lang="en-US" sz="2400" b="1" dirty="0">
              <a:latin typeface="Garamond" pitchFamily="18" charset="0"/>
              <a:cs typeface="+mn-cs"/>
            </a:endParaRPr>
          </a:p>
          <a:p>
            <a:pPr marL="365760" indent="-283464" fontAlgn="auto">
              <a:lnSpc>
                <a:spcPct val="90000"/>
              </a:lnSpc>
              <a:spcBef>
                <a:spcPts val="600"/>
              </a:spcBef>
              <a:spcAft>
                <a:spcPts val="0"/>
              </a:spcAft>
              <a:buClr>
                <a:schemeClr val="accent1"/>
              </a:buClr>
              <a:buSzPct val="80000"/>
              <a:buFont typeface="Wingdings 2"/>
              <a:buChar char=""/>
              <a:tabLst>
                <a:tab pos="1603375" algn="ctr"/>
                <a:tab pos="3254375" algn="ctr"/>
                <a:tab pos="5143500" algn="ctr"/>
              </a:tabLst>
              <a:defRPr/>
            </a:pPr>
            <a:endParaRPr lang="en-US" sz="2400" b="1" dirty="0">
              <a:latin typeface="Garamond" pitchFamily="18" charset="0"/>
              <a:cs typeface="+mn-cs"/>
            </a:endParaRPr>
          </a:p>
          <a:p>
            <a:pPr marL="365760" indent="-283464" fontAlgn="auto">
              <a:lnSpc>
                <a:spcPct val="90000"/>
              </a:lnSpc>
              <a:spcBef>
                <a:spcPts val="600"/>
              </a:spcBef>
              <a:spcAft>
                <a:spcPts val="0"/>
              </a:spcAft>
              <a:buClr>
                <a:schemeClr val="accent1"/>
              </a:buClr>
              <a:buSzPct val="80000"/>
              <a:buFont typeface="Wingdings 2"/>
              <a:buChar char=""/>
              <a:tabLst>
                <a:tab pos="1603375" algn="ctr"/>
                <a:tab pos="3254375" algn="ctr"/>
                <a:tab pos="5143500" algn="ctr"/>
              </a:tabLst>
              <a:defRPr/>
            </a:pPr>
            <a:endParaRPr lang="en-US" sz="2400" b="1" dirty="0">
              <a:latin typeface="Garamond" pitchFamily="18" charset="0"/>
              <a:cs typeface="+mn-cs"/>
            </a:endParaRPr>
          </a:p>
          <a:p>
            <a:pPr marL="365760" indent="-283464" fontAlgn="auto">
              <a:lnSpc>
                <a:spcPct val="90000"/>
              </a:lnSpc>
              <a:spcBef>
                <a:spcPts val="600"/>
              </a:spcBef>
              <a:spcAft>
                <a:spcPts val="0"/>
              </a:spcAft>
              <a:buClr>
                <a:schemeClr val="accent1"/>
              </a:buClr>
              <a:buSzPct val="80000"/>
              <a:buFont typeface="Wingdings 2"/>
              <a:buChar char=""/>
              <a:tabLst>
                <a:tab pos="1603375" algn="ctr"/>
                <a:tab pos="3254375" algn="ctr"/>
                <a:tab pos="5143500" algn="ctr"/>
              </a:tabLst>
              <a:defRPr/>
            </a:pPr>
            <a:endParaRPr lang="en-US" sz="2400" b="1" dirty="0">
              <a:latin typeface="Garamond" pitchFamily="18" charset="0"/>
              <a:cs typeface="+mn-cs"/>
            </a:endParaRPr>
          </a:p>
          <a:p>
            <a:pPr marL="365760" indent="-283464" fontAlgn="auto">
              <a:lnSpc>
                <a:spcPct val="90000"/>
              </a:lnSpc>
              <a:spcBef>
                <a:spcPts val="600"/>
              </a:spcBef>
              <a:spcAft>
                <a:spcPts val="0"/>
              </a:spcAft>
              <a:buClr>
                <a:schemeClr val="accent1"/>
              </a:buClr>
              <a:buSzPct val="80000"/>
              <a:buFont typeface="Wingdings" pitchFamily="2" charset="2"/>
              <a:buChar char="§"/>
              <a:tabLst>
                <a:tab pos="1603375" algn="ctr"/>
                <a:tab pos="3254375" algn="ctr"/>
                <a:tab pos="5143500" algn="ctr"/>
              </a:tabLst>
              <a:defRPr/>
            </a:pPr>
            <a:r>
              <a:rPr lang="en-US" sz="2400" b="1" dirty="0">
                <a:latin typeface="Garamond" pitchFamily="18" charset="0"/>
                <a:cs typeface="+mn-cs"/>
              </a:rPr>
              <a:t>Average waiting time = (6 + 0 + 16 + 18 + 1)/5 = 8.2</a:t>
            </a:r>
          </a:p>
        </p:txBody>
      </p:sp>
      <p:sp>
        <p:nvSpPr>
          <p:cNvPr id="22535" name="Rectangle 74"/>
          <p:cNvSpPr>
            <a:spLocks noChangeArrowheads="1"/>
          </p:cNvSpPr>
          <p:nvPr/>
        </p:nvSpPr>
        <p:spPr bwMode="auto">
          <a:xfrm>
            <a:off x="1676400" y="1371600"/>
            <a:ext cx="6705600" cy="2362200"/>
          </a:xfrm>
          <a:prstGeom prst="rect">
            <a:avLst/>
          </a:prstGeom>
          <a:noFill/>
          <a:ln w="9525">
            <a:solidFill>
              <a:schemeClr val="tx1"/>
            </a:solidFill>
            <a:miter lim="800000"/>
            <a:headEnd/>
            <a:tailEnd/>
          </a:ln>
        </p:spPr>
        <p:txBody>
          <a:bodyPr wrap="none" anchor="ctr"/>
          <a:lstStyle/>
          <a:p>
            <a:endParaRPr lang="en-US">
              <a:latin typeface="Garamond" pitchFamily="18" charset="0"/>
            </a:endParaRPr>
          </a:p>
        </p:txBody>
      </p:sp>
      <p:grpSp>
        <p:nvGrpSpPr>
          <p:cNvPr id="2" name="Group 28"/>
          <p:cNvGrpSpPr>
            <a:grpSpLocks/>
          </p:cNvGrpSpPr>
          <p:nvPr/>
        </p:nvGrpSpPr>
        <p:grpSpPr bwMode="auto">
          <a:xfrm>
            <a:off x="1981200" y="4572000"/>
            <a:ext cx="5943600" cy="1208088"/>
            <a:chOff x="1981200" y="4572000"/>
            <a:chExt cx="5943600" cy="1208088"/>
          </a:xfrm>
        </p:grpSpPr>
        <p:grpSp>
          <p:nvGrpSpPr>
            <p:cNvPr id="3" name="Group 40"/>
            <p:cNvGrpSpPr>
              <a:grpSpLocks/>
            </p:cNvGrpSpPr>
            <p:nvPr/>
          </p:nvGrpSpPr>
          <p:grpSpPr bwMode="auto">
            <a:xfrm>
              <a:off x="1981200" y="4572000"/>
              <a:ext cx="5715000" cy="1208088"/>
              <a:chOff x="816" y="2364"/>
              <a:chExt cx="3600" cy="761"/>
            </a:xfrm>
          </p:grpSpPr>
          <p:sp>
            <p:nvSpPr>
              <p:cNvPr id="24591" name="Rectangle 41"/>
              <p:cNvSpPr>
                <a:spLocks noChangeArrowheads="1"/>
              </p:cNvSpPr>
              <p:nvPr/>
            </p:nvSpPr>
            <p:spPr bwMode="auto">
              <a:xfrm flipH="1">
                <a:off x="912" y="2373"/>
                <a:ext cx="3504" cy="384"/>
              </a:xfrm>
              <a:prstGeom prst="rect">
                <a:avLst/>
              </a:prstGeom>
              <a:solidFill>
                <a:schemeClr val="bg1"/>
              </a:solidFill>
              <a:ln w="9525">
                <a:solidFill>
                  <a:schemeClr val="tx1"/>
                </a:solidFill>
                <a:miter lim="800000"/>
                <a:headEnd/>
                <a:tailEnd/>
              </a:ln>
            </p:spPr>
            <p:txBody>
              <a:bodyPr wrap="none" anchor="ctr"/>
              <a:lstStyle/>
              <a:p>
                <a:endParaRPr lang="en-US">
                  <a:latin typeface="Tahoma" pitchFamily="34" charset="0"/>
                  <a:cs typeface="Tahoma" pitchFamily="34" charset="0"/>
                </a:endParaRPr>
              </a:p>
            </p:txBody>
          </p:sp>
          <p:sp>
            <p:nvSpPr>
              <p:cNvPr id="24592" name="Text Box 42"/>
              <p:cNvSpPr txBox="1">
                <a:spLocks noChangeArrowheads="1"/>
              </p:cNvSpPr>
              <p:nvPr/>
            </p:nvSpPr>
            <p:spPr bwMode="auto">
              <a:xfrm flipH="1">
                <a:off x="912" y="2412"/>
                <a:ext cx="249"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Tahoma" pitchFamily="34" charset="0"/>
                    <a:cs typeface="Tahoma" pitchFamily="34" charset="0"/>
                  </a:rPr>
                  <a:t>P</a:t>
                </a:r>
                <a:r>
                  <a:rPr lang="en-US" baseline="-25000">
                    <a:latin typeface="Tahoma" pitchFamily="34" charset="0"/>
                    <a:cs typeface="Tahoma" pitchFamily="34" charset="0"/>
                  </a:rPr>
                  <a:t>2</a:t>
                </a:r>
                <a:endParaRPr lang="en-US">
                  <a:latin typeface="Tahoma" pitchFamily="34" charset="0"/>
                  <a:cs typeface="Tahoma" pitchFamily="34" charset="0"/>
                </a:endParaRPr>
              </a:p>
            </p:txBody>
          </p:sp>
          <p:sp>
            <p:nvSpPr>
              <p:cNvPr id="24593" name="Text Box 43"/>
              <p:cNvSpPr txBox="1">
                <a:spLocks noChangeArrowheads="1"/>
              </p:cNvSpPr>
              <p:nvPr/>
            </p:nvSpPr>
            <p:spPr bwMode="auto">
              <a:xfrm flipH="1">
                <a:off x="2544" y="2412"/>
                <a:ext cx="249"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Tahoma" pitchFamily="34" charset="0"/>
                    <a:cs typeface="Tahoma" pitchFamily="34" charset="0"/>
                  </a:rPr>
                  <a:t>P</a:t>
                </a:r>
                <a:r>
                  <a:rPr lang="en-US" baseline="-25000">
                    <a:latin typeface="Tahoma" pitchFamily="34" charset="0"/>
                    <a:cs typeface="Tahoma" pitchFamily="34" charset="0"/>
                  </a:rPr>
                  <a:t>1</a:t>
                </a:r>
                <a:endParaRPr lang="en-US">
                  <a:latin typeface="Tahoma" pitchFamily="34" charset="0"/>
                  <a:cs typeface="Tahoma" pitchFamily="34" charset="0"/>
                </a:endParaRPr>
              </a:p>
            </p:txBody>
          </p:sp>
          <p:sp>
            <p:nvSpPr>
              <p:cNvPr id="24594" name="Text Box 44"/>
              <p:cNvSpPr txBox="1">
                <a:spLocks noChangeArrowheads="1"/>
              </p:cNvSpPr>
              <p:nvPr/>
            </p:nvSpPr>
            <p:spPr bwMode="auto">
              <a:xfrm flipH="1">
                <a:off x="1488" y="2412"/>
                <a:ext cx="249"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Tahoma" pitchFamily="34" charset="0"/>
                    <a:cs typeface="Tahoma" pitchFamily="34" charset="0"/>
                  </a:rPr>
                  <a:t>P</a:t>
                </a:r>
                <a:r>
                  <a:rPr lang="en-US" baseline="-25000">
                    <a:latin typeface="Tahoma" pitchFamily="34" charset="0"/>
                    <a:cs typeface="Tahoma" pitchFamily="34" charset="0"/>
                  </a:rPr>
                  <a:t>5</a:t>
                </a:r>
              </a:p>
            </p:txBody>
          </p:sp>
          <p:sp>
            <p:nvSpPr>
              <p:cNvPr id="24595" name="Line 46"/>
              <p:cNvSpPr>
                <a:spLocks noChangeShapeType="1"/>
              </p:cNvSpPr>
              <p:nvPr/>
            </p:nvSpPr>
            <p:spPr bwMode="auto">
              <a:xfrm flipH="1">
                <a:off x="912" y="2757"/>
                <a:ext cx="0" cy="144"/>
              </a:xfrm>
              <a:prstGeom prst="line">
                <a:avLst/>
              </a:prstGeom>
              <a:noFill/>
              <a:ln w="9525">
                <a:solidFill>
                  <a:schemeClr val="tx1"/>
                </a:solidFill>
                <a:round/>
                <a:headEnd/>
                <a:tailEnd/>
              </a:ln>
            </p:spPr>
            <p:txBody>
              <a:bodyPr wrap="none" anchor="ctr"/>
              <a:lstStyle/>
              <a:p>
                <a:endParaRPr lang="en-IN"/>
              </a:p>
            </p:txBody>
          </p:sp>
          <p:sp>
            <p:nvSpPr>
              <p:cNvPr id="24596" name="Text Box 50"/>
              <p:cNvSpPr txBox="1">
                <a:spLocks noChangeArrowheads="1"/>
              </p:cNvSpPr>
              <p:nvPr/>
            </p:nvSpPr>
            <p:spPr bwMode="auto">
              <a:xfrm flipH="1">
                <a:off x="1728" y="2892"/>
                <a:ext cx="196"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Tahoma" pitchFamily="34" charset="0"/>
                    <a:cs typeface="Tahoma" pitchFamily="34" charset="0"/>
                  </a:rPr>
                  <a:t>6</a:t>
                </a:r>
              </a:p>
            </p:txBody>
          </p:sp>
          <p:sp>
            <p:nvSpPr>
              <p:cNvPr id="24597" name="Text Box 51"/>
              <p:cNvSpPr txBox="1">
                <a:spLocks noChangeArrowheads="1"/>
              </p:cNvSpPr>
              <p:nvPr/>
            </p:nvSpPr>
            <p:spPr bwMode="auto">
              <a:xfrm flipH="1">
                <a:off x="1100" y="2892"/>
                <a:ext cx="196"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Tahoma" pitchFamily="34" charset="0"/>
                    <a:cs typeface="Tahoma" pitchFamily="34" charset="0"/>
                  </a:rPr>
                  <a:t>1</a:t>
                </a:r>
              </a:p>
            </p:txBody>
          </p:sp>
          <p:sp>
            <p:nvSpPr>
              <p:cNvPr id="24598" name="Text Box 52"/>
              <p:cNvSpPr txBox="1">
                <a:spLocks noChangeArrowheads="1"/>
              </p:cNvSpPr>
              <p:nvPr/>
            </p:nvSpPr>
            <p:spPr bwMode="auto">
              <a:xfrm flipH="1">
                <a:off x="3312" y="2844"/>
                <a:ext cx="276"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Tahoma" pitchFamily="34" charset="0"/>
                    <a:cs typeface="Tahoma" pitchFamily="34" charset="0"/>
                  </a:rPr>
                  <a:t>16</a:t>
                </a:r>
              </a:p>
            </p:txBody>
          </p:sp>
          <p:sp>
            <p:nvSpPr>
              <p:cNvPr id="24599" name="Text Box 53"/>
              <p:cNvSpPr txBox="1">
                <a:spLocks noChangeArrowheads="1"/>
              </p:cNvSpPr>
              <p:nvPr/>
            </p:nvSpPr>
            <p:spPr bwMode="auto">
              <a:xfrm flipH="1">
                <a:off x="816" y="2892"/>
                <a:ext cx="196"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Tahoma" pitchFamily="34" charset="0"/>
                    <a:cs typeface="Tahoma" pitchFamily="34" charset="0"/>
                  </a:rPr>
                  <a:t>0</a:t>
                </a:r>
              </a:p>
            </p:txBody>
          </p:sp>
          <p:sp>
            <p:nvSpPr>
              <p:cNvPr id="24600" name="Line 55"/>
              <p:cNvSpPr>
                <a:spLocks noChangeShapeType="1"/>
              </p:cNvSpPr>
              <p:nvPr/>
            </p:nvSpPr>
            <p:spPr bwMode="auto">
              <a:xfrm flipH="1">
                <a:off x="3456" y="2373"/>
                <a:ext cx="0" cy="384"/>
              </a:xfrm>
              <a:prstGeom prst="line">
                <a:avLst/>
              </a:prstGeom>
              <a:noFill/>
              <a:ln w="9525">
                <a:solidFill>
                  <a:schemeClr val="tx1"/>
                </a:solidFill>
                <a:round/>
                <a:headEnd/>
                <a:tailEnd/>
              </a:ln>
            </p:spPr>
            <p:txBody>
              <a:bodyPr wrap="none" anchor="ctr"/>
              <a:lstStyle/>
              <a:p>
                <a:endParaRPr lang="en-IN"/>
              </a:p>
            </p:txBody>
          </p:sp>
          <p:sp>
            <p:nvSpPr>
              <p:cNvPr id="24601" name="Line 56"/>
              <p:cNvSpPr>
                <a:spLocks noChangeShapeType="1"/>
              </p:cNvSpPr>
              <p:nvPr/>
            </p:nvSpPr>
            <p:spPr bwMode="auto">
              <a:xfrm flipH="1">
                <a:off x="1200" y="2686"/>
                <a:ext cx="0" cy="144"/>
              </a:xfrm>
              <a:prstGeom prst="line">
                <a:avLst/>
              </a:prstGeom>
              <a:noFill/>
              <a:ln w="9525">
                <a:solidFill>
                  <a:schemeClr val="tx1"/>
                </a:solidFill>
                <a:round/>
                <a:headEnd/>
                <a:tailEnd/>
              </a:ln>
            </p:spPr>
            <p:txBody>
              <a:bodyPr wrap="none" anchor="ctr"/>
              <a:lstStyle/>
              <a:p>
                <a:endParaRPr lang="en-IN"/>
              </a:p>
            </p:txBody>
          </p:sp>
          <p:sp>
            <p:nvSpPr>
              <p:cNvPr id="24602" name="Line 63"/>
              <p:cNvSpPr>
                <a:spLocks noChangeShapeType="1"/>
              </p:cNvSpPr>
              <p:nvPr/>
            </p:nvSpPr>
            <p:spPr bwMode="auto">
              <a:xfrm flipH="1">
                <a:off x="3456" y="2757"/>
                <a:ext cx="0" cy="144"/>
              </a:xfrm>
              <a:prstGeom prst="line">
                <a:avLst/>
              </a:prstGeom>
              <a:noFill/>
              <a:ln w="9525">
                <a:solidFill>
                  <a:schemeClr val="tx1"/>
                </a:solidFill>
                <a:round/>
                <a:headEnd/>
                <a:tailEnd/>
              </a:ln>
            </p:spPr>
            <p:txBody>
              <a:bodyPr wrap="none" anchor="ctr"/>
              <a:lstStyle/>
              <a:p>
                <a:endParaRPr lang="en-IN"/>
              </a:p>
            </p:txBody>
          </p:sp>
          <p:sp>
            <p:nvSpPr>
              <p:cNvPr id="24603" name="Line 68"/>
              <p:cNvSpPr>
                <a:spLocks noChangeShapeType="1"/>
              </p:cNvSpPr>
              <p:nvPr/>
            </p:nvSpPr>
            <p:spPr bwMode="auto">
              <a:xfrm flipH="1">
                <a:off x="1824" y="2364"/>
                <a:ext cx="0" cy="576"/>
              </a:xfrm>
              <a:prstGeom prst="line">
                <a:avLst/>
              </a:prstGeom>
              <a:noFill/>
              <a:ln w="9525">
                <a:solidFill>
                  <a:schemeClr val="tx1"/>
                </a:solidFill>
                <a:round/>
                <a:headEnd/>
                <a:tailEnd/>
              </a:ln>
            </p:spPr>
            <p:txBody>
              <a:bodyPr wrap="none" anchor="ctr"/>
              <a:lstStyle/>
              <a:p>
                <a:endParaRPr lang="en-IN"/>
              </a:p>
            </p:txBody>
          </p:sp>
          <p:sp>
            <p:nvSpPr>
              <p:cNvPr id="24604" name="Text Box 71"/>
              <p:cNvSpPr txBox="1">
                <a:spLocks noChangeArrowheads="1"/>
              </p:cNvSpPr>
              <p:nvPr/>
            </p:nvSpPr>
            <p:spPr bwMode="auto">
              <a:xfrm flipH="1">
                <a:off x="3600" y="2412"/>
                <a:ext cx="249"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Tahoma" pitchFamily="34" charset="0"/>
                    <a:cs typeface="Tahoma" pitchFamily="34" charset="0"/>
                  </a:rPr>
                  <a:t>P</a:t>
                </a:r>
                <a:r>
                  <a:rPr lang="en-US" baseline="-25000">
                    <a:latin typeface="Tahoma" pitchFamily="34" charset="0"/>
                    <a:cs typeface="Tahoma" pitchFamily="34" charset="0"/>
                  </a:rPr>
                  <a:t>3</a:t>
                </a:r>
                <a:endParaRPr lang="en-US">
                  <a:latin typeface="Tahoma" pitchFamily="34" charset="0"/>
                  <a:cs typeface="Tahoma" pitchFamily="34" charset="0"/>
                </a:endParaRPr>
              </a:p>
            </p:txBody>
          </p:sp>
          <p:sp>
            <p:nvSpPr>
              <p:cNvPr id="24605" name="Text Box 73"/>
              <p:cNvSpPr txBox="1">
                <a:spLocks noChangeArrowheads="1"/>
              </p:cNvSpPr>
              <p:nvPr/>
            </p:nvSpPr>
            <p:spPr bwMode="auto">
              <a:xfrm flipH="1">
                <a:off x="3852" y="2844"/>
                <a:ext cx="276" cy="233"/>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Tahoma" pitchFamily="34" charset="0"/>
                    <a:cs typeface="Tahoma" pitchFamily="34" charset="0"/>
                  </a:rPr>
                  <a:t>18</a:t>
                </a:r>
              </a:p>
            </p:txBody>
          </p:sp>
        </p:grpSp>
        <p:sp>
          <p:nvSpPr>
            <p:cNvPr id="24585" name="Line 68"/>
            <p:cNvSpPr>
              <a:spLocks noChangeShapeType="1"/>
            </p:cNvSpPr>
            <p:nvPr/>
          </p:nvSpPr>
          <p:spPr bwMode="auto">
            <a:xfrm flipH="1">
              <a:off x="2590800" y="4572000"/>
              <a:ext cx="0" cy="914400"/>
            </a:xfrm>
            <a:prstGeom prst="line">
              <a:avLst/>
            </a:prstGeom>
            <a:noFill/>
            <a:ln w="9525">
              <a:solidFill>
                <a:schemeClr val="tx1"/>
              </a:solidFill>
              <a:round/>
              <a:headEnd/>
              <a:tailEnd/>
            </a:ln>
          </p:spPr>
          <p:txBody>
            <a:bodyPr wrap="none" anchor="ctr"/>
            <a:lstStyle/>
            <a:p>
              <a:endParaRPr lang="en-IN"/>
            </a:p>
          </p:txBody>
        </p:sp>
        <p:sp>
          <p:nvSpPr>
            <p:cNvPr id="24586" name="Line 55"/>
            <p:cNvSpPr>
              <a:spLocks noChangeShapeType="1"/>
            </p:cNvSpPr>
            <p:nvPr/>
          </p:nvSpPr>
          <p:spPr bwMode="auto">
            <a:xfrm flipH="1">
              <a:off x="7010400" y="4572000"/>
              <a:ext cx="0" cy="609600"/>
            </a:xfrm>
            <a:prstGeom prst="line">
              <a:avLst/>
            </a:prstGeom>
            <a:noFill/>
            <a:ln w="9525">
              <a:solidFill>
                <a:schemeClr val="tx1"/>
              </a:solidFill>
              <a:round/>
              <a:headEnd/>
              <a:tailEnd/>
            </a:ln>
          </p:spPr>
          <p:txBody>
            <a:bodyPr wrap="none" anchor="ctr"/>
            <a:lstStyle/>
            <a:p>
              <a:endParaRPr lang="en-IN"/>
            </a:p>
          </p:txBody>
        </p:sp>
        <p:sp>
          <p:nvSpPr>
            <p:cNvPr id="24587" name="Line 63"/>
            <p:cNvSpPr>
              <a:spLocks noChangeShapeType="1"/>
            </p:cNvSpPr>
            <p:nvPr/>
          </p:nvSpPr>
          <p:spPr bwMode="auto">
            <a:xfrm flipH="1">
              <a:off x="7010400" y="5181600"/>
              <a:ext cx="0" cy="228600"/>
            </a:xfrm>
            <a:prstGeom prst="line">
              <a:avLst/>
            </a:prstGeom>
            <a:noFill/>
            <a:ln w="9525">
              <a:solidFill>
                <a:schemeClr val="tx1"/>
              </a:solidFill>
              <a:round/>
              <a:headEnd/>
              <a:tailEnd/>
            </a:ln>
          </p:spPr>
          <p:txBody>
            <a:bodyPr wrap="none" anchor="ctr"/>
            <a:lstStyle/>
            <a:p>
              <a:endParaRPr lang="en-IN"/>
            </a:p>
          </p:txBody>
        </p:sp>
        <p:sp>
          <p:nvSpPr>
            <p:cNvPr id="24588" name="Text Box 71"/>
            <p:cNvSpPr txBox="1">
              <a:spLocks noChangeArrowheads="1"/>
            </p:cNvSpPr>
            <p:nvPr/>
          </p:nvSpPr>
          <p:spPr bwMode="auto">
            <a:xfrm flipH="1">
              <a:off x="7162800" y="4659313"/>
              <a:ext cx="395288" cy="369887"/>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Tahoma" pitchFamily="34" charset="0"/>
                  <a:cs typeface="Tahoma" pitchFamily="34" charset="0"/>
                </a:rPr>
                <a:t>P</a:t>
              </a:r>
              <a:r>
                <a:rPr lang="en-US" baseline="-25000">
                  <a:latin typeface="Tahoma" pitchFamily="34" charset="0"/>
                  <a:cs typeface="Tahoma" pitchFamily="34" charset="0"/>
                </a:rPr>
                <a:t>4</a:t>
              </a:r>
              <a:endParaRPr lang="en-US">
                <a:latin typeface="Tahoma" pitchFamily="34" charset="0"/>
                <a:cs typeface="Tahoma" pitchFamily="34" charset="0"/>
              </a:endParaRPr>
            </a:p>
          </p:txBody>
        </p:sp>
        <p:sp>
          <p:nvSpPr>
            <p:cNvPr id="24589" name="Text Box 73"/>
            <p:cNvSpPr txBox="1">
              <a:spLocks noChangeArrowheads="1"/>
            </p:cNvSpPr>
            <p:nvPr/>
          </p:nvSpPr>
          <p:spPr bwMode="auto">
            <a:xfrm flipH="1">
              <a:off x="7486650" y="5334000"/>
              <a:ext cx="438150" cy="369888"/>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Tahoma" pitchFamily="34" charset="0"/>
                  <a:cs typeface="Tahoma" pitchFamily="34" charset="0"/>
                </a:rPr>
                <a:t>19</a:t>
              </a:r>
            </a:p>
          </p:txBody>
        </p:sp>
        <p:sp>
          <p:nvSpPr>
            <p:cNvPr id="24590" name="Line 63"/>
            <p:cNvSpPr>
              <a:spLocks noChangeShapeType="1"/>
            </p:cNvSpPr>
            <p:nvPr/>
          </p:nvSpPr>
          <p:spPr bwMode="auto">
            <a:xfrm flipH="1">
              <a:off x="7696200" y="5181600"/>
              <a:ext cx="0" cy="228600"/>
            </a:xfrm>
            <a:prstGeom prst="line">
              <a:avLst/>
            </a:prstGeom>
            <a:noFill/>
            <a:ln w="9525">
              <a:solidFill>
                <a:schemeClr val="tx1"/>
              </a:solidFill>
              <a:round/>
              <a:headEnd/>
              <a:tailEnd/>
            </a:ln>
          </p:spPr>
          <p:txBody>
            <a:bodyPr wrap="none" anchor="ctr"/>
            <a:lstStyle/>
            <a:p>
              <a:endParaRPr lang="en-IN"/>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2532"/>
                                        </p:tgtEl>
                                        <p:attrNameLst>
                                          <p:attrName>style.visibility</p:attrName>
                                        </p:attrNameLst>
                                      </p:cBhvr>
                                      <p:to>
                                        <p:strVal val="visible"/>
                                      </p:to>
                                    </p:set>
                                    <p:animEffect transition="in" filter="wipe(left)">
                                      <p:cBhvr>
                                        <p:cTn id="7" dur="1000"/>
                                        <p:tgtEl>
                                          <p:spTgt spid="22532"/>
                                        </p:tgtEl>
                                      </p:cBhvr>
                                    </p:animEffect>
                                  </p:childTnLst>
                                </p:cTn>
                              </p:par>
                            </p:childTnLst>
                          </p:cTn>
                        </p:par>
                        <p:par>
                          <p:cTn id="8" fill="hold">
                            <p:stCondLst>
                              <p:cond delay="1000"/>
                            </p:stCondLst>
                            <p:childTnLst>
                              <p:par>
                                <p:cTn id="9" presetID="13" presetClass="entr" presetSubtype="16" fill="hold" grpId="0" nodeType="afterEffect">
                                  <p:stCondLst>
                                    <p:cond delay="0"/>
                                  </p:stCondLst>
                                  <p:childTnLst>
                                    <p:set>
                                      <p:cBhvr>
                                        <p:cTn id="10" dur="1" fill="hold">
                                          <p:stCondLst>
                                            <p:cond delay="0"/>
                                          </p:stCondLst>
                                        </p:cTn>
                                        <p:tgtEl>
                                          <p:spTgt spid="22535"/>
                                        </p:tgtEl>
                                        <p:attrNameLst>
                                          <p:attrName>style.visibility</p:attrName>
                                        </p:attrNameLst>
                                      </p:cBhvr>
                                      <p:to>
                                        <p:strVal val="visible"/>
                                      </p:to>
                                    </p:set>
                                    <p:animEffect transition="in" filter="plus(in)">
                                      <p:cBhvr>
                                        <p:cTn id="11" dur="1000"/>
                                        <p:tgtEl>
                                          <p:spTgt spid="22535"/>
                                        </p:tgtEl>
                                      </p:cBhvr>
                                    </p:animEffect>
                                  </p:childTnLst>
                                </p:cTn>
                              </p:par>
                            </p:childTnLst>
                          </p:cTn>
                        </p:par>
                        <p:par>
                          <p:cTn id="12" fill="hold">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1000"/>
                                        <p:tgtEl>
                                          <p:spTgt spid="11"/>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2" grpId="0"/>
      <p:bldP spid="11" grpId="0" animBg="1"/>
      <p:bldP spid="2253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Round Robin Scheduling</a:t>
            </a:r>
            <a:endParaRPr lang="en-IN" dirty="0"/>
          </a:p>
        </p:txBody>
      </p:sp>
      <p:sp>
        <p:nvSpPr>
          <p:cNvPr id="3" name="Content Placeholder 2"/>
          <p:cNvSpPr>
            <a:spLocks noGrp="1"/>
          </p:cNvSpPr>
          <p:nvPr>
            <p:ph idx="1"/>
          </p:nvPr>
        </p:nvSpPr>
        <p:spPr>
          <a:xfrm>
            <a:off x="457200" y="1124744"/>
            <a:ext cx="8229600" cy="5472608"/>
          </a:xfrm>
        </p:spPr>
        <p:txBody>
          <a:bodyPr/>
          <a:lstStyle/>
          <a:p>
            <a:r>
              <a:rPr lang="en-IN" dirty="0"/>
              <a:t>The Round Robin is designed for time sharing systems.</a:t>
            </a:r>
          </a:p>
          <a:p>
            <a:r>
              <a:rPr lang="en-IN" dirty="0"/>
              <a:t> The RR is similar to FCFS, but </a:t>
            </a:r>
            <a:r>
              <a:rPr lang="en-IN" dirty="0" err="1"/>
              <a:t>preemption</a:t>
            </a:r>
            <a:r>
              <a:rPr lang="en-IN" dirty="0"/>
              <a:t> is added to switch between processes.</a:t>
            </a:r>
          </a:p>
          <a:p>
            <a:r>
              <a:rPr lang="en-IN" dirty="0"/>
              <a:t>Each process gets a small unit of CPU time (</a:t>
            </a:r>
            <a:r>
              <a:rPr lang="en-IN" i="1" dirty="0"/>
              <a:t>time quantum or time slice ), usually 10-100 milliseconds. After this time has elapsed, </a:t>
            </a:r>
            <a:r>
              <a:rPr lang="en-IN" dirty="0"/>
              <a:t>the process is </a:t>
            </a:r>
            <a:r>
              <a:rPr lang="en-IN" dirty="0" err="1"/>
              <a:t>preempted</a:t>
            </a:r>
            <a:r>
              <a:rPr lang="en-IN" dirty="0"/>
              <a:t> and added to the end of the ready queue.</a:t>
            </a:r>
          </a:p>
          <a:p>
            <a:r>
              <a:rPr lang="en-IN" dirty="0"/>
              <a:t>That is, after the time slice is expired an interrupt will occur and a context switch.</a:t>
            </a:r>
          </a:p>
        </p:txBody>
      </p:sp>
      <p:pic>
        <p:nvPicPr>
          <p:cNvPr id="1026" name="Picture 2"/>
          <p:cNvPicPr>
            <a:picLocks noChangeAspect="1" noChangeArrowheads="1"/>
          </p:cNvPicPr>
          <p:nvPr/>
        </p:nvPicPr>
        <p:blipFill>
          <a:blip r:embed="rId2" cstate="print"/>
          <a:srcRect/>
          <a:stretch>
            <a:fillRect/>
          </a:stretch>
        </p:blipFill>
        <p:spPr bwMode="auto">
          <a:xfrm>
            <a:off x="1403648" y="4725144"/>
            <a:ext cx="5172075" cy="1931665"/>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Round Robin Scheduling</a:t>
            </a:r>
            <a:endParaRPr lang="en-IN" dirty="0"/>
          </a:p>
        </p:txBody>
      </p:sp>
      <p:sp>
        <p:nvSpPr>
          <p:cNvPr id="3" name="Content Placeholder 2"/>
          <p:cNvSpPr>
            <a:spLocks noGrp="1"/>
          </p:cNvSpPr>
          <p:nvPr>
            <p:ph idx="1"/>
          </p:nvPr>
        </p:nvSpPr>
        <p:spPr/>
        <p:txBody>
          <a:bodyPr/>
          <a:lstStyle/>
          <a:p>
            <a:pPr algn="just"/>
            <a:r>
              <a:rPr lang="en-IN" dirty="0"/>
              <a:t>If there are n processes in the ready queue and the time quantum is q, then each process gets 1/n of the CPU time in chunks of at most q time units at once. No process waits more than (n-1)q time units.</a:t>
            </a:r>
          </a:p>
          <a:p>
            <a:pPr algn="just"/>
            <a:r>
              <a:rPr lang="en-IN" dirty="0"/>
              <a:t>The performance of RR depends on the size of the time slice q :</a:t>
            </a:r>
          </a:p>
          <a:p>
            <a:pPr lvl="1" algn="just"/>
            <a:r>
              <a:rPr lang="en-IN" dirty="0"/>
              <a:t> If q very large (infinite) ⇒ FIFO</a:t>
            </a:r>
          </a:p>
          <a:p>
            <a:pPr lvl="1" algn="just"/>
            <a:r>
              <a:rPr lang="en-IN" dirty="0"/>
              <a:t> If q very small ⇒ RR is called processor sharing, and context switch increases. So, q must be large with respect to context switch time, otherwise overhead is too high.</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2"/>
          <p:cNvSpPr>
            <a:spLocks noGrp="1" noChangeArrowheads="1"/>
          </p:cNvSpPr>
          <p:nvPr>
            <p:ph type="title"/>
          </p:nvPr>
        </p:nvSpPr>
        <p:spPr bwMode="auto">
          <a:xfrm>
            <a:off x="611560" y="152400"/>
            <a:ext cx="7237040" cy="1143000"/>
          </a:xfrm>
        </p:spPr>
        <p:txBody>
          <a:bodyPr vert="horz" wrap="square" lIns="91440" tIns="45720" rIns="91440" bIns="45720" numCol="1" anchorCtr="0" compatLnSpc="1">
            <a:prstTxWarp prst="textNoShape">
              <a:avLst/>
            </a:prstTxWarp>
            <a:normAutofit fontScale="90000"/>
          </a:bodyPr>
          <a:lstStyle/>
          <a:p>
            <a:r>
              <a:rPr lang="en-US" b="1" dirty="0">
                <a:effectLst/>
              </a:rPr>
              <a:t>Round Robin </a:t>
            </a:r>
            <a:r>
              <a:rPr lang="en-US" dirty="0"/>
              <a:t>Scheduling: Example </a:t>
            </a:r>
            <a:r>
              <a:rPr lang="en-US" dirty="0">
                <a:latin typeface="Garamond" pitchFamily="18" charset="0"/>
              </a:rPr>
              <a:t>time Quantum = 4 milliseconds</a:t>
            </a:r>
            <a:endParaRPr lang="en-US" b="1" dirty="0">
              <a:effectLst/>
            </a:endParaRPr>
          </a:p>
        </p:txBody>
      </p:sp>
      <p:sp>
        <p:nvSpPr>
          <p:cNvPr id="24581" name="Rectangle 6"/>
          <p:cNvSpPr txBox="1">
            <a:spLocks noChangeArrowheads="1"/>
          </p:cNvSpPr>
          <p:nvPr/>
        </p:nvSpPr>
        <p:spPr bwMode="auto">
          <a:xfrm>
            <a:off x="1143000" y="1295400"/>
            <a:ext cx="7620000" cy="5105400"/>
          </a:xfrm>
          <a:prstGeom prst="rect">
            <a:avLst/>
          </a:prstGeom>
          <a:noFill/>
          <a:ln w="9525">
            <a:noFill/>
            <a:miter lim="800000"/>
            <a:headEnd/>
            <a:tailEnd/>
          </a:ln>
        </p:spPr>
        <p:txBody>
          <a:bodyPr/>
          <a:lstStyle/>
          <a:p>
            <a:pPr marL="365125" indent="-282575" algn="ctr">
              <a:lnSpc>
                <a:spcPct val="90000"/>
              </a:lnSpc>
              <a:spcBef>
                <a:spcPts val="600"/>
              </a:spcBef>
              <a:buClr>
                <a:schemeClr val="accent1"/>
              </a:buClr>
              <a:buSzPct val="80000"/>
              <a:buFont typeface="Wingdings" pitchFamily="2" charset="2"/>
              <a:buNone/>
              <a:tabLst>
                <a:tab pos="2222500" algn="ctr"/>
                <a:tab pos="3997325" algn="ctr"/>
              </a:tabLst>
            </a:pPr>
            <a:r>
              <a:rPr lang="en-US" sz="2400" b="1" dirty="0">
                <a:latin typeface="Garamond" pitchFamily="18" charset="0"/>
              </a:rPr>
              <a:t>	</a:t>
            </a:r>
            <a:r>
              <a:rPr lang="en-US" sz="2400" b="1" u="sng" dirty="0">
                <a:latin typeface="Garamond" pitchFamily="18" charset="0"/>
              </a:rPr>
              <a:t>Process</a:t>
            </a:r>
            <a:r>
              <a:rPr lang="en-US" sz="2400" b="1" dirty="0">
                <a:latin typeface="Garamond" pitchFamily="18" charset="0"/>
              </a:rPr>
              <a:t>         </a:t>
            </a:r>
            <a:r>
              <a:rPr lang="en-US" sz="2400" b="1" u="sng" dirty="0">
                <a:latin typeface="Garamond" pitchFamily="18" charset="0"/>
              </a:rPr>
              <a:t>Burst Time</a:t>
            </a:r>
          </a:p>
          <a:p>
            <a:pPr marL="365125" indent="-282575" algn="ctr">
              <a:lnSpc>
                <a:spcPct val="90000"/>
              </a:lnSpc>
              <a:spcBef>
                <a:spcPts val="600"/>
              </a:spcBef>
              <a:buClr>
                <a:schemeClr val="accent1"/>
              </a:buClr>
              <a:buSzPct val="80000"/>
              <a:buFont typeface="Wingdings" pitchFamily="2" charset="2"/>
              <a:buNone/>
              <a:tabLst>
                <a:tab pos="2222500" algn="ctr"/>
                <a:tab pos="3997325" algn="ctr"/>
              </a:tabLst>
            </a:pPr>
            <a:r>
              <a:rPr lang="en-US" sz="2400" b="1" i="1" dirty="0">
                <a:latin typeface="Garamond" pitchFamily="18" charset="0"/>
              </a:rPr>
              <a:t> P1	</a:t>
            </a:r>
            <a:r>
              <a:rPr lang="en-US" sz="2400" b="1" dirty="0">
                <a:latin typeface="Garamond" pitchFamily="18" charset="0"/>
              </a:rPr>
              <a:t>24</a:t>
            </a:r>
          </a:p>
          <a:p>
            <a:pPr marL="365125" indent="-282575" algn="ctr">
              <a:lnSpc>
                <a:spcPct val="90000"/>
              </a:lnSpc>
              <a:spcBef>
                <a:spcPts val="600"/>
              </a:spcBef>
              <a:buClr>
                <a:schemeClr val="accent1"/>
              </a:buClr>
              <a:buSzPct val="80000"/>
              <a:buFont typeface="Wingdings" pitchFamily="2" charset="2"/>
              <a:buNone/>
              <a:tabLst>
                <a:tab pos="2222500" algn="ctr"/>
                <a:tab pos="3997325" algn="ctr"/>
              </a:tabLst>
            </a:pPr>
            <a:r>
              <a:rPr lang="en-US" sz="2400" b="1" i="1" dirty="0">
                <a:latin typeface="Garamond" pitchFamily="18" charset="0"/>
              </a:rPr>
              <a:t>P2	</a:t>
            </a:r>
            <a:r>
              <a:rPr lang="en-US" sz="2400" b="1" dirty="0">
                <a:latin typeface="Garamond" pitchFamily="18" charset="0"/>
              </a:rPr>
              <a:t>3</a:t>
            </a:r>
          </a:p>
          <a:p>
            <a:pPr marL="365125" indent="-282575" algn="ctr">
              <a:lnSpc>
                <a:spcPct val="90000"/>
              </a:lnSpc>
              <a:spcBef>
                <a:spcPts val="600"/>
              </a:spcBef>
              <a:buClr>
                <a:schemeClr val="accent1"/>
              </a:buClr>
              <a:buSzPct val="80000"/>
              <a:buFont typeface="Wingdings" pitchFamily="2" charset="2"/>
              <a:buNone/>
              <a:tabLst>
                <a:tab pos="2222500" algn="ctr"/>
                <a:tab pos="3997325" algn="ctr"/>
              </a:tabLst>
            </a:pPr>
            <a:r>
              <a:rPr lang="en-US" sz="2400" b="1" i="1" dirty="0">
                <a:latin typeface="Garamond" pitchFamily="18" charset="0"/>
              </a:rPr>
              <a:t>P3	</a:t>
            </a:r>
            <a:r>
              <a:rPr lang="en-US" sz="2400" b="1" dirty="0">
                <a:latin typeface="Garamond" pitchFamily="18" charset="0"/>
              </a:rPr>
              <a:t>3</a:t>
            </a:r>
          </a:p>
          <a:p>
            <a:pPr marL="365125" indent="-282575">
              <a:lnSpc>
                <a:spcPct val="90000"/>
              </a:lnSpc>
              <a:spcBef>
                <a:spcPts val="600"/>
              </a:spcBef>
              <a:buClr>
                <a:schemeClr val="accent1"/>
              </a:buClr>
              <a:buSzPct val="80000"/>
              <a:buFont typeface="Wingdings 2" pitchFamily="18" charset="2"/>
              <a:buChar char=""/>
              <a:tabLst>
                <a:tab pos="2222500" algn="ctr"/>
                <a:tab pos="3997325" algn="ctr"/>
              </a:tabLst>
            </a:pPr>
            <a:endParaRPr lang="en-US" sz="2400" b="1" dirty="0">
              <a:latin typeface="Garamond" pitchFamily="18" charset="0"/>
            </a:endParaRPr>
          </a:p>
          <a:p>
            <a:pPr marL="365125" indent="-282575">
              <a:lnSpc>
                <a:spcPct val="90000"/>
              </a:lnSpc>
              <a:spcBef>
                <a:spcPts val="600"/>
              </a:spcBef>
              <a:buClr>
                <a:schemeClr val="accent1"/>
              </a:buClr>
              <a:buSzPct val="80000"/>
              <a:buFont typeface="Wingdings 2" pitchFamily="18" charset="2"/>
              <a:buChar char=""/>
              <a:tabLst>
                <a:tab pos="2222500" algn="ctr"/>
                <a:tab pos="3997325" algn="ctr"/>
              </a:tabLst>
            </a:pPr>
            <a:r>
              <a:rPr lang="en-US" sz="2400" b="1" dirty="0">
                <a:latin typeface="Garamond" pitchFamily="18" charset="0"/>
              </a:rPr>
              <a:t>Quantum time = 4 milliseconds</a:t>
            </a:r>
          </a:p>
          <a:p>
            <a:pPr marL="365125" indent="-282575">
              <a:lnSpc>
                <a:spcPct val="90000"/>
              </a:lnSpc>
              <a:spcBef>
                <a:spcPts val="600"/>
              </a:spcBef>
              <a:buClr>
                <a:schemeClr val="accent1"/>
              </a:buClr>
              <a:buSzPct val="80000"/>
              <a:buFont typeface="Wingdings 2" pitchFamily="18" charset="2"/>
              <a:buChar char=""/>
              <a:tabLst>
                <a:tab pos="2222500" algn="ctr"/>
                <a:tab pos="3997325" algn="ctr"/>
              </a:tabLst>
            </a:pPr>
            <a:r>
              <a:rPr lang="en-US" sz="2400" b="1" dirty="0">
                <a:latin typeface="Garamond" pitchFamily="18" charset="0"/>
              </a:rPr>
              <a:t>The Gantt chart is: </a:t>
            </a:r>
          </a:p>
          <a:p>
            <a:pPr marL="365125" indent="-282575">
              <a:lnSpc>
                <a:spcPct val="90000"/>
              </a:lnSpc>
              <a:spcBef>
                <a:spcPts val="600"/>
              </a:spcBef>
              <a:buClr>
                <a:schemeClr val="accent1"/>
              </a:buClr>
              <a:buSzPct val="80000"/>
              <a:buFont typeface="Wingdings 2" pitchFamily="18" charset="2"/>
              <a:buChar char=""/>
              <a:tabLst>
                <a:tab pos="2222500" algn="ctr"/>
                <a:tab pos="3997325" algn="ctr"/>
              </a:tabLst>
            </a:pPr>
            <a:endParaRPr lang="en-US" sz="2400" b="1" dirty="0">
              <a:latin typeface="Garamond" pitchFamily="18" charset="0"/>
            </a:endParaRPr>
          </a:p>
          <a:p>
            <a:pPr marL="365125" indent="-282575">
              <a:lnSpc>
                <a:spcPct val="90000"/>
              </a:lnSpc>
              <a:spcBef>
                <a:spcPts val="600"/>
              </a:spcBef>
              <a:buClr>
                <a:schemeClr val="accent1"/>
              </a:buClr>
              <a:buSzPct val="80000"/>
              <a:buFont typeface="Wingdings 2" pitchFamily="18" charset="2"/>
              <a:buChar char=""/>
              <a:tabLst>
                <a:tab pos="2222500" algn="ctr"/>
                <a:tab pos="3997325" algn="ctr"/>
              </a:tabLst>
            </a:pPr>
            <a:endParaRPr lang="en-US" sz="2400" b="1" dirty="0">
              <a:latin typeface="Garamond" pitchFamily="18" charset="0"/>
            </a:endParaRPr>
          </a:p>
          <a:p>
            <a:pPr marL="365125" indent="-282575">
              <a:lnSpc>
                <a:spcPct val="90000"/>
              </a:lnSpc>
              <a:spcBef>
                <a:spcPts val="600"/>
              </a:spcBef>
              <a:buClr>
                <a:schemeClr val="accent1"/>
              </a:buClr>
              <a:buSzPct val="80000"/>
              <a:tabLst>
                <a:tab pos="2222500" algn="ctr"/>
                <a:tab pos="3997325" algn="ctr"/>
              </a:tabLst>
            </a:pPr>
            <a:endParaRPr lang="en-US" sz="2400" b="1" dirty="0">
              <a:latin typeface="Garamond" pitchFamily="18" charset="0"/>
            </a:endParaRPr>
          </a:p>
          <a:p>
            <a:pPr marL="365125" indent="-282575">
              <a:lnSpc>
                <a:spcPct val="90000"/>
              </a:lnSpc>
              <a:spcBef>
                <a:spcPts val="600"/>
              </a:spcBef>
              <a:buClr>
                <a:schemeClr val="accent1"/>
              </a:buClr>
              <a:buSzPct val="80000"/>
              <a:buFont typeface="Wingdings 2" pitchFamily="18" charset="2"/>
              <a:buChar char=""/>
              <a:tabLst>
                <a:tab pos="2222500" algn="ctr"/>
                <a:tab pos="3997325" algn="ctr"/>
              </a:tabLst>
            </a:pPr>
            <a:r>
              <a:rPr lang="en-US" sz="2400" b="1" dirty="0">
                <a:latin typeface="Garamond" pitchFamily="18" charset="0"/>
              </a:rPr>
              <a:t>Average waiting time = {[0+(10-4)]+4+7}/3 = 5.6</a:t>
            </a:r>
          </a:p>
          <a:p>
            <a:pPr marL="365125" indent="-282575">
              <a:lnSpc>
                <a:spcPct val="90000"/>
              </a:lnSpc>
              <a:spcBef>
                <a:spcPts val="600"/>
              </a:spcBef>
              <a:buClr>
                <a:schemeClr val="accent1"/>
              </a:buClr>
              <a:buSzPct val="80000"/>
              <a:buFont typeface="Wingdings 2" pitchFamily="18" charset="2"/>
              <a:buChar char=""/>
              <a:tabLst>
                <a:tab pos="2222500" algn="ctr"/>
                <a:tab pos="3997325" algn="ctr"/>
              </a:tabLst>
            </a:pPr>
            <a:endParaRPr lang="en-US" sz="2400" b="1" dirty="0">
              <a:latin typeface="Garamond" pitchFamily="18" charset="0"/>
            </a:endParaRPr>
          </a:p>
        </p:txBody>
      </p:sp>
      <p:grpSp>
        <p:nvGrpSpPr>
          <p:cNvPr id="2" name="Group 7"/>
          <p:cNvGrpSpPr>
            <a:grpSpLocks/>
          </p:cNvGrpSpPr>
          <p:nvPr/>
        </p:nvGrpSpPr>
        <p:grpSpPr bwMode="auto">
          <a:xfrm>
            <a:off x="2209800" y="4357688"/>
            <a:ext cx="5861050" cy="976312"/>
            <a:chOff x="1056" y="2640"/>
            <a:chExt cx="3692" cy="615"/>
          </a:xfrm>
        </p:grpSpPr>
        <p:grpSp>
          <p:nvGrpSpPr>
            <p:cNvPr id="3" name="Group 8"/>
            <p:cNvGrpSpPr>
              <a:grpSpLocks/>
            </p:cNvGrpSpPr>
            <p:nvPr/>
          </p:nvGrpSpPr>
          <p:grpSpPr bwMode="auto">
            <a:xfrm>
              <a:off x="1151" y="2640"/>
              <a:ext cx="3550" cy="384"/>
              <a:chOff x="1152" y="2736"/>
              <a:chExt cx="2880" cy="288"/>
            </a:xfrm>
          </p:grpSpPr>
          <p:sp>
            <p:nvSpPr>
              <p:cNvPr id="26644" name="Rectangle 9"/>
              <p:cNvSpPr>
                <a:spLocks noChangeArrowheads="1"/>
              </p:cNvSpPr>
              <p:nvPr/>
            </p:nvSpPr>
            <p:spPr bwMode="auto">
              <a:xfrm>
                <a:off x="1152" y="2736"/>
                <a:ext cx="288" cy="288"/>
              </a:xfrm>
              <a:prstGeom prst="rect">
                <a:avLst/>
              </a:prstGeom>
              <a:noFill/>
              <a:ln w="9525">
                <a:solidFill>
                  <a:schemeClr val="tx1"/>
                </a:solidFill>
                <a:miter lim="800000"/>
                <a:headEnd/>
                <a:tailEnd/>
              </a:ln>
            </p:spPr>
            <p:txBody>
              <a:bodyPr wrap="none" anchor="ctr"/>
              <a:lstStyle/>
              <a:p>
                <a:pPr algn="ctr" eaLnBrk="0" hangingPunct="0"/>
                <a:r>
                  <a:rPr lang="en-US">
                    <a:latin typeface="Helvetica" pitchFamily="34" charset="0"/>
                  </a:rPr>
                  <a:t>P</a:t>
                </a:r>
                <a:r>
                  <a:rPr lang="en-US" baseline="-25000">
                    <a:latin typeface="Helvetica" pitchFamily="34" charset="0"/>
                  </a:rPr>
                  <a:t>1</a:t>
                </a:r>
                <a:endParaRPr lang="en-US">
                  <a:latin typeface="Helvetica" pitchFamily="34" charset="0"/>
                </a:endParaRPr>
              </a:p>
            </p:txBody>
          </p:sp>
          <p:sp>
            <p:nvSpPr>
              <p:cNvPr id="26645" name="Rectangle 10"/>
              <p:cNvSpPr>
                <a:spLocks noChangeArrowheads="1"/>
              </p:cNvSpPr>
              <p:nvPr/>
            </p:nvSpPr>
            <p:spPr bwMode="auto">
              <a:xfrm>
                <a:off x="1440" y="2736"/>
                <a:ext cx="288" cy="288"/>
              </a:xfrm>
              <a:prstGeom prst="rect">
                <a:avLst/>
              </a:prstGeom>
              <a:noFill/>
              <a:ln w="9525">
                <a:solidFill>
                  <a:schemeClr val="tx1"/>
                </a:solidFill>
                <a:miter lim="800000"/>
                <a:headEnd/>
                <a:tailEnd/>
              </a:ln>
            </p:spPr>
            <p:txBody>
              <a:bodyPr wrap="none" anchor="ctr"/>
              <a:lstStyle/>
              <a:p>
                <a:pPr algn="ctr" eaLnBrk="0" hangingPunct="0"/>
                <a:r>
                  <a:rPr lang="en-US">
                    <a:latin typeface="Helvetica" pitchFamily="34" charset="0"/>
                  </a:rPr>
                  <a:t>P</a:t>
                </a:r>
                <a:r>
                  <a:rPr lang="en-US" baseline="-25000">
                    <a:latin typeface="Helvetica" pitchFamily="34" charset="0"/>
                  </a:rPr>
                  <a:t>2</a:t>
                </a:r>
              </a:p>
            </p:txBody>
          </p:sp>
          <p:sp>
            <p:nvSpPr>
              <p:cNvPr id="26646" name="Rectangle 11"/>
              <p:cNvSpPr>
                <a:spLocks noChangeArrowheads="1"/>
              </p:cNvSpPr>
              <p:nvPr/>
            </p:nvSpPr>
            <p:spPr bwMode="auto">
              <a:xfrm>
                <a:off x="1728" y="2736"/>
                <a:ext cx="288" cy="288"/>
              </a:xfrm>
              <a:prstGeom prst="rect">
                <a:avLst/>
              </a:prstGeom>
              <a:noFill/>
              <a:ln w="9525">
                <a:solidFill>
                  <a:schemeClr val="tx1"/>
                </a:solidFill>
                <a:miter lim="800000"/>
                <a:headEnd/>
                <a:tailEnd/>
              </a:ln>
            </p:spPr>
            <p:txBody>
              <a:bodyPr wrap="none" anchor="ctr"/>
              <a:lstStyle/>
              <a:p>
                <a:pPr algn="ctr" eaLnBrk="0" hangingPunct="0"/>
                <a:r>
                  <a:rPr lang="en-US">
                    <a:latin typeface="Helvetica" pitchFamily="34" charset="0"/>
                  </a:rPr>
                  <a:t>P</a:t>
                </a:r>
                <a:r>
                  <a:rPr lang="en-US" baseline="-25000">
                    <a:latin typeface="Helvetica" pitchFamily="34" charset="0"/>
                  </a:rPr>
                  <a:t>3</a:t>
                </a:r>
              </a:p>
            </p:txBody>
          </p:sp>
          <p:sp>
            <p:nvSpPr>
              <p:cNvPr id="26647" name="Rectangle 12"/>
              <p:cNvSpPr>
                <a:spLocks noChangeArrowheads="1"/>
              </p:cNvSpPr>
              <p:nvPr/>
            </p:nvSpPr>
            <p:spPr bwMode="auto">
              <a:xfrm>
                <a:off x="2016" y="2736"/>
                <a:ext cx="288" cy="288"/>
              </a:xfrm>
              <a:prstGeom prst="rect">
                <a:avLst/>
              </a:prstGeom>
              <a:noFill/>
              <a:ln w="9525">
                <a:solidFill>
                  <a:schemeClr val="tx1"/>
                </a:solidFill>
                <a:miter lim="800000"/>
                <a:headEnd/>
                <a:tailEnd/>
              </a:ln>
            </p:spPr>
            <p:txBody>
              <a:bodyPr wrap="none" anchor="ctr"/>
              <a:lstStyle/>
              <a:p>
                <a:pPr algn="ctr" eaLnBrk="0" hangingPunct="0"/>
                <a:r>
                  <a:rPr lang="en-US">
                    <a:latin typeface="Helvetica" pitchFamily="34" charset="0"/>
                  </a:rPr>
                  <a:t>P</a:t>
                </a:r>
                <a:r>
                  <a:rPr lang="en-US" baseline="-25000">
                    <a:latin typeface="Helvetica" pitchFamily="34" charset="0"/>
                  </a:rPr>
                  <a:t>1</a:t>
                </a:r>
              </a:p>
            </p:txBody>
          </p:sp>
          <p:sp>
            <p:nvSpPr>
              <p:cNvPr id="26648" name="Rectangle 13"/>
              <p:cNvSpPr>
                <a:spLocks noChangeArrowheads="1"/>
              </p:cNvSpPr>
              <p:nvPr/>
            </p:nvSpPr>
            <p:spPr bwMode="auto">
              <a:xfrm>
                <a:off x="2304" y="2736"/>
                <a:ext cx="288" cy="288"/>
              </a:xfrm>
              <a:prstGeom prst="rect">
                <a:avLst/>
              </a:prstGeom>
              <a:noFill/>
              <a:ln w="9525">
                <a:solidFill>
                  <a:schemeClr val="tx1"/>
                </a:solidFill>
                <a:miter lim="800000"/>
                <a:headEnd/>
                <a:tailEnd/>
              </a:ln>
            </p:spPr>
            <p:txBody>
              <a:bodyPr wrap="none" anchor="ctr"/>
              <a:lstStyle/>
              <a:p>
                <a:pPr algn="ctr" eaLnBrk="0" hangingPunct="0"/>
                <a:r>
                  <a:rPr lang="en-US">
                    <a:latin typeface="Helvetica" pitchFamily="34" charset="0"/>
                  </a:rPr>
                  <a:t>P</a:t>
                </a:r>
                <a:r>
                  <a:rPr lang="en-US" baseline="-25000">
                    <a:latin typeface="Helvetica" pitchFamily="34" charset="0"/>
                  </a:rPr>
                  <a:t>1</a:t>
                </a:r>
              </a:p>
            </p:txBody>
          </p:sp>
          <p:sp>
            <p:nvSpPr>
              <p:cNvPr id="26649" name="Rectangle 14"/>
              <p:cNvSpPr>
                <a:spLocks noChangeArrowheads="1"/>
              </p:cNvSpPr>
              <p:nvPr/>
            </p:nvSpPr>
            <p:spPr bwMode="auto">
              <a:xfrm>
                <a:off x="2592" y="2736"/>
                <a:ext cx="288" cy="288"/>
              </a:xfrm>
              <a:prstGeom prst="rect">
                <a:avLst/>
              </a:prstGeom>
              <a:noFill/>
              <a:ln w="9525">
                <a:solidFill>
                  <a:schemeClr val="tx1"/>
                </a:solidFill>
                <a:miter lim="800000"/>
                <a:headEnd/>
                <a:tailEnd/>
              </a:ln>
            </p:spPr>
            <p:txBody>
              <a:bodyPr wrap="none" anchor="ctr"/>
              <a:lstStyle/>
              <a:p>
                <a:pPr algn="ctr" eaLnBrk="0" hangingPunct="0"/>
                <a:r>
                  <a:rPr lang="en-US">
                    <a:latin typeface="Helvetica" pitchFamily="34" charset="0"/>
                  </a:rPr>
                  <a:t>P</a:t>
                </a:r>
                <a:r>
                  <a:rPr lang="en-US" baseline="-25000">
                    <a:latin typeface="Helvetica" pitchFamily="34" charset="0"/>
                  </a:rPr>
                  <a:t>1</a:t>
                </a:r>
              </a:p>
            </p:txBody>
          </p:sp>
          <p:sp>
            <p:nvSpPr>
              <p:cNvPr id="26650" name="Rectangle 15"/>
              <p:cNvSpPr>
                <a:spLocks noChangeArrowheads="1"/>
              </p:cNvSpPr>
              <p:nvPr/>
            </p:nvSpPr>
            <p:spPr bwMode="auto">
              <a:xfrm>
                <a:off x="2880" y="2736"/>
                <a:ext cx="288" cy="288"/>
              </a:xfrm>
              <a:prstGeom prst="rect">
                <a:avLst/>
              </a:prstGeom>
              <a:noFill/>
              <a:ln w="9525">
                <a:solidFill>
                  <a:schemeClr val="tx1"/>
                </a:solidFill>
                <a:miter lim="800000"/>
                <a:headEnd/>
                <a:tailEnd/>
              </a:ln>
            </p:spPr>
            <p:txBody>
              <a:bodyPr wrap="none" anchor="ctr"/>
              <a:lstStyle/>
              <a:p>
                <a:pPr algn="ctr" eaLnBrk="0" hangingPunct="0"/>
                <a:r>
                  <a:rPr lang="en-US">
                    <a:latin typeface="Helvetica" pitchFamily="34" charset="0"/>
                  </a:rPr>
                  <a:t>P</a:t>
                </a:r>
                <a:r>
                  <a:rPr lang="en-US" baseline="-25000">
                    <a:latin typeface="Helvetica" pitchFamily="34" charset="0"/>
                  </a:rPr>
                  <a:t>1</a:t>
                </a:r>
              </a:p>
            </p:txBody>
          </p:sp>
          <p:sp>
            <p:nvSpPr>
              <p:cNvPr id="26651" name="Rectangle 16"/>
              <p:cNvSpPr>
                <a:spLocks noChangeArrowheads="1"/>
              </p:cNvSpPr>
              <p:nvPr/>
            </p:nvSpPr>
            <p:spPr bwMode="auto">
              <a:xfrm>
                <a:off x="3168" y="2736"/>
                <a:ext cx="288" cy="288"/>
              </a:xfrm>
              <a:prstGeom prst="rect">
                <a:avLst/>
              </a:prstGeom>
              <a:noFill/>
              <a:ln w="9525">
                <a:solidFill>
                  <a:schemeClr val="tx1"/>
                </a:solidFill>
                <a:miter lim="800000"/>
                <a:headEnd/>
                <a:tailEnd/>
              </a:ln>
            </p:spPr>
            <p:txBody>
              <a:bodyPr wrap="none" anchor="ctr"/>
              <a:lstStyle/>
              <a:p>
                <a:pPr algn="ctr" eaLnBrk="0" hangingPunct="0"/>
                <a:r>
                  <a:rPr lang="en-US">
                    <a:latin typeface="Helvetica" pitchFamily="34" charset="0"/>
                  </a:rPr>
                  <a:t>P</a:t>
                </a:r>
                <a:r>
                  <a:rPr lang="en-US" baseline="-25000">
                    <a:latin typeface="Helvetica" pitchFamily="34" charset="0"/>
                  </a:rPr>
                  <a:t>1</a:t>
                </a:r>
              </a:p>
            </p:txBody>
          </p:sp>
          <p:sp>
            <p:nvSpPr>
              <p:cNvPr id="26652" name="Rectangle 17"/>
              <p:cNvSpPr>
                <a:spLocks noChangeArrowheads="1"/>
              </p:cNvSpPr>
              <p:nvPr/>
            </p:nvSpPr>
            <p:spPr bwMode="auto">
              <a:xfrm>
                <a:off x="3456" y="2736"/>
                <a:ext cx="288" cy="288"/>
              </a:xfrm>
              <a:prstGeom prst="rect">
                <a:avLst/>
              </a:prstGeom>
              <a:noFill/>
              <a:ln w="9525">
                <a:noFill/>
                <a:miter lim="800000"/>
                <a:headEnd/>
                <a:tailEnd/>
              </a:ln>
            </p:spPr>
            <p:txBody>
              <a:bodyPr wrap="none" anchor="ctr"/>
              <a:lstStyle/>
              <a:p>
                <a:pPr algn="ctr" eaLnBrk="0" hangingPunct="0"/>
                <a:endParaRPr lang="en-US" baseline="-25000">
                  <a:latin typeface="Helvetica" pitchFamily="34" charset="0"/>
                </a:endParaRPr>
              </a:p>
            </p:txBody>
          </p:sp>
          <p:sp>
            <p:nvSpPr>
              <p:cNvPr id="26653" name="Rectangle 18"/>
              <p:cNvSpPr>
                <a:spLocks noChangeArrowheads="1"/>
              </p:cNvSpPr>
              <p:nvPr/>
            </p:nvSpPr>
            <p:spPr bwMode="auto">
              <a:xfrm>
                <a:off x="3744" y="2736"/>
                <a:ext cx="288" cy="288"/>
              </a:xfrm>
              <a:prstGeom prst="rect">
                <a:avLst/>
              </a:prstGeom>
              <a:noFill/>
              <a:ln w="9525">
                <a:noFill/>
                <a:miter lim="800000"/>
                <a:headEnd/>
                <a:tailEnd/>
              </a:ln>
            </p:spPr>
            <p:txBody>
              <a:bodyPr wrap="none" anchor="ctr"/>
              <a:lstStyle/>
              <a:p>
                <a:pPr algn="ctr" eaLnBrk="0" hangingPunct="0"/>
                <a:endParaRPr lang="en-US" baseline="-25000">
                  <a:latin typeface="Helvetica" pitchFamily="34" charset="0"/>
                </a:endParaRPr>
              </a:p>
            </p:txBody>
          </p:sp>
        </p:grpSp>
        <p:sp>
          <p:nvSpPr>
            <p:cNvPr id="26633" name="Text Box 19"/>
            <p:cNvSpPr txBox="1">
              <a:spLocks noChangeArrowheads="1"/>
            </p:cNvSpPr>
            <p:nvPr/>
          </p:nvSpPr>
          <p:spPr bwMode="auto">
            <a:xfrm>
              <a:off x="1056" y="3024"/>
              <a:ext cx="196" cy="231"/>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Helvetica" pitchFamily="34" charset="0"/>
                </a:rPr>
                <a:t>0</a:t>
              </a:r>
            </a:p>
          </p:txBody>
        </p:sp>
        <p:sp>
          <p:nvSpPr>
            <p:cNvPr id="26634" name="Text Box 20"/>
            <p:cNvSpPr txBox="1">
              <a:spLocks noChangeArrowheads="1"/>
            </p:cNvSpPr>
            <p:nvPr/>
          </p:nvSpPr>
          <p:spPr bwMode="auto">
            <a:xfrm>
              <a:off x="1392" y="3024"/>
              <a:ext cx="196" cy="231"/>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Helvetica" pitchFamily="34" charset="0"/>
                </a:rPr>
                <a:t>4</a:t>
              </a:r>
            </a:p>
          </p:txBody>
        </p:sp>
        <p:sp>
          <p:nvSpPr>
            <p:cNvPr id="26635" name="Text Box 21"/>
            <p:cNvSpPr txBox="1">
              <a:spLocks noChangeArrowheads="1"/>
            </p:cNvSpPr>
            <p:nvPr/>
          </p:nvSpPr>
          <p:spPr bwMode="auto">
            <a:xfrm>
              <a:off x="1728" y="3024"/>
              <a:ext cx="196" cy="231"/>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Helvetica" pitchFamily="34" charset="0"/>
                </a:rPr>
                <a:t>7</a:t>
              </a:r>
            </a:p>
          </p:txBody>
        </p:sp>
        <p:sp>
          <p:nvSpPr>
            <p:cNvPr id="26636" name="Text Box 22"/>
            <p:cNvSpPr txBox="1">
              <a:spLocks noChangeArrowheads="1"/>
            </p:cNvSpPr>
            <p:nvPr/>
          </p:nvSpPr>
          <p:spPr bwMode="auto">
            <a:xfrm>
              <a:off x="2068" y="3024"/>
              <a:ext cx="276" cy="231"/>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Helvetica" pitchFamily="34" charset="0"/>
                </a:rPr>
                <a:t>10</a:t>
              </a:r>
            </a:p>
          </p:txBody>
        </p:sp>
        <p:sp>
          <p:nvSpPr>
            <p:cNvPr id="26637" name="Text Box 23"/>
            <p:cNvSpPr txBox="1">
              <a:spLocks noChangeArrowheads="1"/>
            </p:cNvSpPr>
            <p:nvPr/>
          </p:nvSpPr>
          <p:spPr bwMode="auto">
            <a:xfrm>
              <a:off x="2456" y="3024"/>
              <a:ext cx="276" cy="231"/>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Helvetica" pitchFamily="34" charset="0"/>
                </a:rPr>
                <a:t>14</a:t>
              </a:r>
            </a:p>
          </p:txBody>
        </p:sp>
        <p:sp>
          <p:nvSpPr>
            <p:cNvPr id="26638" name="Text Box 24"/>
            <p:cNvSpPr txBox="1">
              <a:spLocks noChangeArrowheads="1"/>
            </p:cNvSpPr>
            <p:nvPr/>
          </p:nvSpPr>
          <p:spPr bwMode="auto">
            <a:xfrm>
              <a:off x="2792" y="3024"/>
              <a:ext cx="276" cy="231"/>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Helvetica" pitchFamily="34" charset="0"/>
                </a:rPr>
                <a:t>18</a:t>
              </a:r>
            </a:p>
          </p:txBody>
        </p:sp>
        <p:sp>
          <p:nvSpPr>
            <p:cNvPr id="26639" name="Text Box 25"/>
            <p:cNvSpPr txBox="1">
              <a:spLocks noChangeArrowheads="1"/>
            </p:cNvSpPr>
            <p:nvPr/>
          </p:nvSpPr>
          <p:spPr bwMode="auto">
            <a:xfrm>
              <a:off x="3128" y="3024"/>
              <a:ext cx="276" cy="231"/>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Helvetica" pitchFamily="34" charset="0"/>
                </a:rPr>
                <a:t>22</a:t>
              </a:r>
            </a:p>
          </p:txBody>
        </p:sp>
        <p:sp>
          <p:nvSpPr>
            <p:cNvPr id="26640" name="Text Box 26"/>
            <p:cNvSpPr txBox="1">
              <a:spLocks noChangeArrowheads="1"/>
            </p:cNvSpPr>
            <p:nvPr/>
          </p:nvSpPr>
          <p:spPr bwMode="auto">
            <a:xfrm>
              <a:off x="3512" y="3024"/>
              <a:ext cx="276" cy="231"/>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Helvetica" pitchFamily="34" charset="0"/>
                </a:rPr>
                <a:t>26</a:t>
              </a:r>
            </a:p>
          </p:txBody>
        </p:sp>
        <p:sp>
          <p:nvSpPr>
            <p:cNvPr id="26641" name="Text Box 27"/>
            <p:cNvSpPr txBox="1">
              <a:spLocks noChangeArrowheads="1"/>
            </p:cNvSpPr>
            <p:nvPr/>
          </p:nvSpPr>
          <p:spPr bwMode="auto">
            <a:xfrm>
              <a:off x="3848" y="3024"/>
              <a:ext cx="276" cy="231"/>
            </a:xfrm>
            <a:prstGeom prst="rect">
              <a:avLst/>
            </a:prstGeom>
            <a:noFill/>
            <a:ln w="9525">
              <a:noFill/>
              <a:miter lim="800000"/>
              <a:headEnd/>
              <a:tailEnd/>
            </a:ln>
          </p:spPr>
          <p:txBody>
            <a:bodyPr wrap="none" anchor="ctr">
              <a:spAutoFit/>
            </a:bodyPr>
            <a:lstStyle/>
            <a:p>
              <a:pPr algn="ctr" eaLnBrk="0" hangingPunct="0">
                <a:spcBef>
                  <a:spcPct val="50000"/>
                </a:spcBef>
              </a:pPr>
              <a:r>
                <a:rPr lang="en-US">
                  <a:latin typeface="Helvetica" pitchFamily="34" charset="0"/>
                </a:rPr>
                <a:t>30</a:t>
              </a:r>
            </a:p>
          </p:txBody>
        </p:sp>
        <p:sp>
          <p:nvSpPr>
            <p:cNvPr id="26642" name="Text Box 28"/>
            <p:cNvSpPr txBox="1">
              <a:spLocks noChangeArrowheads="1"/>
            </p:cNvSpPr>
            <p:nvPr/>
          </p:nvSpPr>
          <p:spPr bwMode="auto">
            <a:xfrm>
              <a:off x="4296" y="3024"/>
              <a:ext cx="116" cy="231"/>
            </a:xfrm>
            <a:prstGeom prst="rect">
              <a:avLst/>
            </a:prstGeom>
            <a:noFill/>
            <a:ln w="9525">
              <a:noFill/>
              <a:miter lim="800000"/>
              <a:headEnd/>
              <a:tailEnd/>
            </a:ln>
          </p:spPr>
          <p:txBody>
            <a:bodyPr wrap="none" anchor="ctr">
              <a:spAutoFit/>
            </a:bodyPr>
            <a:lstStyle/>
            <a:p>
              <a:pPr algn="ctr" eaLnBrk="0" hangingPunct="0">
                <a:spcBef>
                  <a:spcPct val="50000"/>
                </a:spcBef>
              </a:pPr>
              <a:endParaRPr lang="en-US">
                <a:latin typeface="Helvetica" pitchFamily="34" charset="0"/>
              </a:endParaRPr>
            </a:p>
          </p:txBody>
        </p:sp>
        <p:sp>
          <p:nvSpPr>
            <p:cNvPr id="26643" name="Text Box 29"/>
            <p:cNvSpPr txBox="1">
              <a:spLocks noChangeArrowheads="1"/>
            </p:cNvSpPr>
            <p:nvPr/>
          </p:nvSpPr>
          <p:spPr bwMode="auto">
            <a:xfrm>
              <a:off x="4632" y="3024"/>
              <a:ext cx="116" cy="231"/>
            </a:xfrm>
            <a:prstGeom prst="rect">
              <a:avLst/>
            </a:prstGeom>
            <a:noFill/>
            <a:ln w="9525">
              <a:noFill/>
              <a:miter lim="800000"/>
              <a:headEnd/>
              <a:tailEnd/>
            </a:ln>
          </p:spPr>
          <p:txBody>
            <a:bodyPr wrap="none" anchor="ctr">
              <a:spAutoFit/>
            </a:bodyPr>
            <a:lstStyle/>
            <a:p>
              <a:pPr algn="ctr" eaLnBrk="0" hangingPunct="0">
                <a:spcBef>
                  <a:spcPct val="50000"/>
                </a:spcBef>
              </a:pPr>
              <a:endParaRPr lang="en-US">
                <a:latin typeface="Helvetica" pitchFamily="34" charset="0"/>
              </a:endParaRPr>
            </a:p>
          </p:txBody>
        </p:sp>
      </p:grpSp>
      <p:sp>
        <p:nvSpPr>
          <p:cNvPr id="24583" name="Rectangle 30"/>
          <p:cNvSpPr>
            <a:spLocks noChangeArrowheads="1"/>
          </p:cNvSpPr>
          <p:nvPr/>
        </p:nvSpPr>
        <p:spPr bwMode="auto">
          <a:xfrm>
            <a:off x="3429000" y="1219200"/>
            <a:ext cx="3352800" cy="1752600"/>
          </a:xfrm>
          <a:prstGeom prst="rect">
            <a:avLst/>
          </a:prstGeom>
          <a:noFill/>
          <a:ln w="9525">
            <a:solidFill>
              <a:schemeClr val="tx1"/>
            </a:solidFill>
            <a:miter lim="800000"/>
            <a:headEnd/>
            <a:tailEnd/>
          </a:ln>
        </p:spPr>
        <p:txBody>
          <a:bodyPr wrap="none" anchor="ctr"/>
          <a:lstStyle/>
          <a:p>
            <a:endParaRPr lang="en-US">
              <a:latin typeface="Gill Sans MT"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4580"/>
                                        </p:tgtEl>
                                        <p:attrNameLst>
                                          <p:attrName>style.visibility</p:attrName>
                                        </p:attrNameLst>
                                      </p:cBhvr>
                                      <p:to>
                                        <p:strVal val="visible"/>
                                      </p:to>
                                    </p:set>
                                    <p:animEffect transition="in" filter="wipe(left)">
                                      <p:cBhvr>
                                        <p:cTn id="7" dur="1000"/>
                                        <p:tgtEl>
                                          <p:spTgt spid="24580"/>
                                        </p:tgtEl>
                                      </p:cBhvr>
                                    </p:animEffect>
                                  </p:childTnLst>
                                </p:cTn>
                              </p:par>
                            </p:childTnLst>
                          </p:cTn>
                        </p:par>
                        <p:par>
                          <p:cTn id="8" fill="hold">
                            <p:stCondLst>
                              <p:cond delay="1000"/>
                            </p:stCondLst>
                            <p:childTnLst>
                              <p:par>
                                <p:cTn id="9" presetID="13" presetClass="entr" presetSubtype="16" fill="hold" grpId="0" nodeType="afterEffect">
                                  <p:stCondLst>
                                    <p:cond delay="0"/>
                                  </p:stCondLst>
                                  <p:childTnLst>
                                    <p:set>
                                      <p:cBhvr>
                                        <p:cTn id="10" dur="1" fill="hold">
                                          <p:stCondLst>
                                            <p:cond delay="0"/>
                                          </p:stCondLst>
                                        </p:cTn>
                                        <p:tgtEl>
                                          <p:spTgt spid="24583"/>
                                        </p:tgtEl>
                                        <p:attrNameLst>
                                          <p:attrName>style.visibility</p:attrName>
                                        </p:attrNameLst>
                                      </p:cBhvr>
                                      <p:to>
                                        <p:strVal val="visible"/>
                                      </p:to>
                                    </p:set>
                                    <p:animEffect transition="in" filter="plus(in)">
                                      <p:cBhvr>
                                        <p:cTn id="11" dur="1000"/>
                                        <p:tgtEl>
                                          <p:spTgt spid="24583"/>
                                        </p:tgtEl>
                                      </p:cBhvr>
                                    </p:animEffect>
                                  </p:childTnLst>
                                </p:cTn>
                              </p:par>
                            </p:childTnLst>
                          </p:cTn>
                        </p:par>
                        <p:par>
                          <p:cTn id="12" fill="hold">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24581"/>
                                        </p:tgtEl>
                                        <p:attrNameLst>
                                          <p:attrName>style.visibility</p:attrName>
                                        </p:attrNameLst>
                                      </p:cBhvr>
                                      <p:to>
                                        <p:strVal val="visible"/>
                                      </p:to>
                                    </p:set>
                                    <p:animEffect transition="in" filter="fade">
                                      <p:cBhvr>
                                        <p:cTn id="15" dur="500"/>
                                        <p:tgtEl>
                                          <p:spTgt spid="24581"/>
                                        </p:tgtEl>
                                      </p:cBhvr>
                                    </p:animEffect>
                                  </p:childTnLst>
                                </p:cTn>
                              </p:par>
                            </p:childTnLst>
                          </p:cTn>
                        </p:par>
                        <p:par>
                          <p:cTn id="16" fill="hold">
                            <p:stCondLst>
                              <p:cond delay="2500"/>
                            </p:stCondLst>
                            <p:childTnLst>
                              <p:par>
                                <p:cTn id="17" presetID="10" presetClass="entr" presetSubtype="0"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0" grpId="0"/>
      <p:bldP spid="24581" grpId="0"/>
      <p:bldP spid="2458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1"/>
          <p:cNvSpPr>
            <a:spLocks noGrp="1" noChangeArrowheads="1"/>
          </p:cNvSpPr>
          <p:nvPr>
            <p:ph type="title" idx="4294967295"/>
          </p:nvPr>
        </p:nvSpPr>
        <p:spPr>
          <a:xfrm>
            <a:off x="914400" y="0"/>
            <a:ext cx="8054975" cy="844550"/>
          </a:xfrm>
        </p:spPr>
        <p:txBody>
          <a:bodyPr>
            <a:normAutofit/>
          </a:bodyPr>
          <a:lstStyle/>
          <a:p>
            <a:pPr>
              <a:lnSpc>
                <a:spcPct val="93000"/>
              </a:lnSpc>
              <a:buFont typeface="Helvetica" pitchFamily="32"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3600" dirty="0">
                <a:latin typeface="Times New Roman" pitchFamily="18" charset="0"/>
                <a:cs typeface="Times New Roman" pitchFamily="18" charset="0"/>
              </a:rPr>
              <a:t>Example of RR with Time Quantum = 20</a:t>
            </a:r>
          </a:p>
        </p:txBody>
      </p:sp>
      <p:sp>
        <p:nvSpPr>
          <p:cNvPr id="28675" name="Rectangle 2"/>
          <p:cNvSpPr>
            <a:spLocks noGrp="1" noChangeArrowheads="1"/>
          </p:cNvSpPr>
          <p:nvPr>
            <p:ph type="body" idx="4294967295"/>
          </p:nvPr>
        </p:nvSpPr>
        <p:spPr>
          <a:xfrm>
            <a:off x="609600" y="914400"/>
            <a:ext cx="8113713" cy="5466928"/>
          </a:xfrm>
        </p:spPr>
        <p:txBody>
          <a:bodyPr>
            <a:normAutofit fontScale="77500" lnSpcReduction="20000"/>
          </a:bodyPr>
          <a:lstStyle/>
          <a:p>
            <a:pPr>
              <a:lnSpc>
                <a:spcPct val="93000"/>
              </a:lnSpc>
              <a:buFont typeface="Monotype Sorts" charset="2"/>
              <a:buNone/>
              <a:tabLst>
                <a:tab pos="341313" algn="l"/>
                <a:tab pos="2219325" algn="ctr"/>
                <a:tab pos="3994150" algn="ctr"/>
                <a:tab pos="4568825" algn="l"/>
                <a:tab pos="5483225" algn="l"/>
                <a:tab pos="6397625" algn="l"/>
                <a:tab pos="7312025" algn="l"/>
                <a:tab pos="8226425" algn="l"/>
                <a:tab pos="9140825" algn="l"/>
                <a:tab pos="10055225" algn="l"/>
              </a:tabLst>
            </a:pPr>
            <a:r>
              <a:rPr lang="en-GB" dirty="0"/>
              <a:t>		</a:t>
            </a:r>
            <a:r>
              <a:rPr lang="en-GB" u="sng" dirty="0"/>
              <a:t>Process</a:t>
            </a:r>
            <a:r>
              <a:rPr lang="en-GB" dirty="0"/>
              <a:t>	</a:t>
            </a:r>
            <a:r>
              <a:rPr lang="en-GB" u="sng" dirty="0"/>
              <a:t>Burst Time</a:t>
            </a:r>
          </a:p>
          <a:p>
            <a:pPr>
              <a:lnSpc>
                <a:spcPct val="90000"/>
              </a:lnSpc>
              <a:buFont typeface="Monotype Sorts" charset="2"/>
              <a:buNone/>
              <a:tabLst>
                <a:tab pos="341313" algn="l"/>
                <a:tab pos="2219325" algn="ctr"/>
                <a:tab pos="3994150" algn="ctr"/>
                <a:tab pos="4568825" algn="l"/>
                <a:tab pos="5483225" algn="l"/>
                <a:tab pos="6397625" algn="l"/>
                <a:tab pos="7312025" algn="l"/>
                <a:tab pos="8226425" algn="l"/>
                <a:tab pos="9140825" algn="l"/>
                <a:tab pos="10055225" algn="l"/>
              </a:tabLst>
            </a:pPr>
            <a:r>
              <a:rPr lang="en-GB" i="1" dirty="0"/>
              <a:t>		P</a:t>
            </a:r>
            <a:r>
              <a:rPr lang="en-GB" i="1" baseline="-25000" dirty="0"/>
              <a:t>1	</a:t>
            </a:r>
            <a:r>
              <a:rPr lang="en-GB" dirty="0"/>
              <a:t>53</a:t>
            </a:r>
          </a:p>
          <a:p>
            <a:pPr>
              <a:lnSpc>
                <a:spcPct val="90000"/>
              </a:lnSpc>
              <a:buFont typeface="Monotype Sorts" charset="2"/>
              <a:buNone/>
              <a:tabLst>
                <a:tab pos="341313" algn="l"/>
                <a:tab pos="2219325" algn="ctr"/>
                <a:tab pos="3994150" algn="ctr"/>
                <a:tab pos="4568825" algn="l"/>
                <a:tab pos="5483225" algn="l"/>
                <a:tab pos="6397625" algn="l"/>
                <a:tab pos="7312025" algn="l"/>
                <a:tab pos="8226425" algn="l"/>
                <a:tab pos="9140825" algn="l"/>
                <a:tab pos="10055225" algn="l"/>
              </a:tabLst>
            </a:pPr>
            <a:r>
              <a:rPr lang="en-GB" dirty="0"/>
              <a:t>		</a:t>
            </a:r>
            <a:r>
              <a:rPr lang="en-GB" i="1" dirty="0"/>
              <a:t>P</a:t>
            </a:r>
            <a:r>
              <a:rPr lang="en-GB" i="1" baseline="-25000" dirty="0"/>
              <a:t>2	 </a:t>
            </a:r>
            <a:r>
              <a:rPr lang="en-GB" dirty="0"/>
              <a:t>17</a:t>
            </a:r>
          </a:p>
          <a:p>
            <a:pPr>
              <a:lnSpc>
                <a:spcPct val="90000"/>
              </a:lnSpc>
              <a:buFont typeface="Monotype Sorts" charset="2"/>
              <a:buNone/>
              <a:tabLst>
                <a:tab pos="341313" algn="l"/>
                <a:tab pos="2219325" algn="ctr"/>
                <a:tab pos="3994150" algn="ctr"/>
                <a:tab pos="4568825" algn="l"/>
                <a:tab pos="5483225" algn="l"/>
                <a:tab pos="6397625" algn="l"/>
                <a:tab pos="7312025" algn="l"/>
                <a:tab pos="8226425" algn="l"/>
                <a:tab pos="9140825" algn="l"/>
                <a:tab pos="10055225" algn="l"/>
              </a:tabLst>
            </a:pPr>
            <a:r>
              <a:rPr lang="en-GB" dirty="0"/>
              <a:t>		</a:t>
            </a:r>
            <a:r>
              <a:rPr lang="en-GB" i="1" dirty="0"/>
              <a:t>P</a:t>
            </a:r>
            <a:r>
              <a:rPr lang="en-GB" i="1" baseline="-25000" dirty="0"/>
              <a:t>3	</a:t>
            </a:r>
            <a:r>
              <a:rPr lang="en-GB" dirty="0"/>
              <a:t>68</a:t>
            </a:r>
          </a:p>
          <a:p>
            <a:pPr>
              <a:lnSpc>
                <a:spcPct val="90000"/>
              </a:lnSpc>
              <a:buFont typeface="Monotype Sorts" charset="2"/>
              <a:buNone/>
              <a:tabLst>
                <a:tab pos="341313" algn="l"/>
                <a:tab pos="2219325" algn="ctr"/>
                <a:tab pos="3994150" algn="ctr"/>
                <a:tab pos="4568825" algn="l"/>
                <a:tab pos="5483225" algn="l"/>
                <a:tab pos="6397625" algn="l"/>
                <a:tab pos="7312025" algn="l"/>
                <a:tab pos="8226425" algn="l"/>
                <a:tab pos="9140825" algn="l"/>
                <a:tab pos="10055225" algn="l"/>
              </a:tabLst>
            </a:pPr>
            <a:r>
              <a:rPr lang="en-GB" dirty="0"/>
              <a:t>	 </a:t>
            </a:r>
            <a:r>
              <a:rPr lang="en-GB" i="1" dirty="0"/>
              <a:t>P</a:t>
            </a:r>
            <a:r>
              <a:rPr lang="en-GB" i="1" baseline="-25000" dirty="0"/>
              <a:t>4	 </a:t>
            </a:r>
            <a:r>
              <a:rPr lang="en-GB" dirty="0"/>
              <a:t>24</a:t>
            </a:r>
          </a:p>
          <a:p>
            <a:pPr>
              <a:lnSpc>
                <a:spcPct val="90000"/>
              </a:lnSpc>
              <a:tabLst>
                <a:tab pos="341313" algn="l"/>
                <a:tab pos="2219325" algn="ctr"/>
                <a:tab pos="3994150" algn="ctr"/>
                <a:tab pos="4568825" algn="l"/>
                <a:tab pos="5483225" algn="l"/>
                <a:tab pos="6397625" algn="l"/>
                <a:tab pos="7312025" algn="l"/>
                <a:tab pos="8226425" algn="l"/>
                <a:tab pos="9140825" algn="l"/>
                <a:tab pos="10055225" algn="l"/>
              </a:tabLst>
            </a:pPr>
            <a:r>
              <a:rPr lang="en-GB" dirty="0"/>
              <a:t>The Gantt chart is: </a:t>
            </a:r>
            <a:br>
              <a:rPr lang="en-GB" dirty="0"/>
            </a:br>
            <a:br>
              <a:rPr lang="en-GB" dirty="0"/>
            </a:br>
            <a:br>
              <a:rPr lang="en-GB" dirty="0"/>
            </a:br>
            <a:br>
              <a:rPr lang="en-GB" dirty="0"/>
            </a:br>
            <a:br>
              <a:rPr lang="en-GB" dirty="0"/>
            </a:br>
            <a:endParaRPr lang="en-GB" dirty="0"/>
          </a:p>
          <a:p>
            <a:pPr>
              <a:lnSpc>
                <a:spcPct val="90000"/>
              </a:lnSpc>
              <a:tabLst>
                <a:tab pos="341313" algn="l"/>
                <a:tab pos="2219325" algn="ctr"/>
                <a:tab pos="3994150" algn="ctr"/>
                <a:tab pos="4568825" algn="l"/>
                <a:tab pos="5483225" algn="l"/>
                <a:tab pos="6397625" algn="l"/>
                <a:tab pos="7312025" algn="l"/>
                <a:tab pos="8226425" algn="l"/>
                <a:tab pos="9140825" algn="l"/>
                <a:tab pos="10055225" algn="l"/>
              </a:tabLst>
            </a:pPr>
            <a:endParaRPr lang="en-GB" dirty="0"/>
          </a:p>
          <a:p>
            <a:pPr>
              <a:lnSpc>
                <a:spcPct val="90000"/>
              </a:lnSpc>
              <a:tabLst>
                <a:tab pos="341313" algn="l"/>
                <a:tab pos="2219325" algn="ctr"/>
                <a:tab pos="3994150" algn="ctr"/>
                <a:tab pos="4568825" algn="l"/>
                <a:tab pos="5483225" algn="l"/>
                <a:tab pos="6397625" algn="l"/>
                <a:tab pos="7312025" algn="l"/>
                <a:tab pos="8226425" algn="l"/>
                <a:tab pos="9140825" algn="l"/>
                <a:tab pos="10055225" algn="l"/>
              </a:tabLst>
            </a:pPr>
            <a:r>
              <a:rPr lang="en-GB" dirty="0"/>
              <a:t>Typically, </a:t>
            </a:r>
            <a:r>
              <a:rPr lang="en-GB" u="sng" dirty="0"/>
              <a:t>higher</a:t>
            </a:r>
            <a:r>
              <a:rPr lang="en-GB" dirty="0"/>
              <a:t> average turnaround than SJF, but </a:t>
            </a:r>
            <a:r>
              <a:rPr lang="en-GB" u="sng" dirty="0"/>
              <a:t>better</a:t>
            </a:r>
            <a:r>
              <a:rPr lang="en-GB" dirty="0"/>
              <a:t> </a:t>
            </a:r>
            <a:r>
              <a:rPr lang="en-GB" i="1" dirty="0"/>
              <a:t>response time</a:t>
            </a:r>
          </a:p>
          <a:p>
            <a:pPr>
              <a:lnSpc>
                <a:spcPct val="90000"/>
              </a:lnSpc>
              <a:tabLst>
                <a:tab pos="341313" algn="l"/>
                <a:tab pos="2219325" algn="ctr"/>
                <a:tab pos="3994150" algn="ctr"/>
                <a:tab pos="4568825" algn="l"/>
                <a:tab pos="5483225" algn="l"/>
                <a:tab pos="6397625" algn="l"/>
                <a:tab pos="7312025" algn="l"/>
                <a:tab pos="8226425" algn="l"/>
                <a:tab pos="9140825" algn="l"/>
                <a:tab pos="10055225" algn="l"/>
              </a:tabLst>
            </a:pPr>
            <a:r>
              <a:rPr lang="en-GB" dirty="0"/>
              <a:t>Average waiting time </a:t>
            </a:r>
            <a:br>
              <a:rPr lang="en-GB" dirty="0"/>
            </a:br>
            <a:r>
              <a:rPr lang="en-GB" dirty="0"/>
              <a:t>	= ( [(0 – 0) + (77 - 20) + (121 – 97)] + (20 – 0) + [(37 – 0) + (97 - 57) + (134 – 117)] + [(57 – 0) + (117 – 77)] ) / 4 </a:t>
            </a:r>
            <a:br>
              <a:rPr lang="en-GB" dirty="0"/>
            </a:br>
            <a:r>
              <a:rPr lang="en-GB" dirty="0"/>
              <a:t>= (0 + 57 + 24) + 20 + (37 + 40 + 17) + (57 + 40) ) / 4 </a:t>
            </a:r>
            <a:br>
              <a:rPr lang="en-GB" dirty="0"/>
            </a:br>
            <a:r>
              <a:rPr lang="en-GB" dirty="0"/>
              <a:t>= (81 + 20 + 94 + 97)/4</a:t>
            </a:r>
            <a:br>
              <a:rPr lang="en-GB" dirty="0"/>
            </a:br>
            <a:r>
              <a:rPr lang="en-GB" dirty="0"/>
              <a:t>= 292 / 4 = 73</a:t>
            </a:r>
          </a:p>
          <a:p>
            <a:pPr>
              <a:lnSpc>
                <a:spcPct val="90000"/>
              </a:lnSpc>
              <a:tabLst>
                <a:tab pos="341313" algn="l"/>
                <a:tab pos="2219325" algn="ctr"/>
                <a:tab pos="3994150" algn="ctr"/>
                <a:tab pos="4568825" algn="l"/>
                <a:tab pos="5483225" algn="l"/>
                <a:tab pos="6397625" algn="l"/>
                <a:tab pos="7312025" algn="l"/>
                <a:tab pos="8226425" algn="l"/>
                <a:tab pos="9140825" algn="l"/>
                <a:tab pos="10055225" algn="l"/>
              </a:tabLst>
            </a:pPr>
            <a:r>
              <a:rPr lang="en-GB" dirty="0"/>
              <a:t>Average turn-around time 	= 134 + 37 + 162 + 121) / 4 = 113.5</a:t>
            </a:r>
            <a:endParaRPr lang="en-GB" i="1" dirty="0"/>
          </a:p>
        </p:txBody>
      </p:sp>
      <p:grpSp>
        <p:nvGrpSpPr>
          <p:cNvPr id="2" name="Group 3"/>
          <p:cNvGrpSpPr>
            <a:grpSpLocks/>
          </p:cNvGrpSpPr>
          <p:nvPr/>
        </p:nvGrpSpPr>
        <p:grpSpPr bwMode="auto">
          <a:xfrm>
            <a:off x="1547664" y="2852936"/>
            <a:ext cx="6049963" cy="974725"/>
            <a:chOff x="1014" y="2490"/>
            <a:chExt cx="3811" cy="614"/>
          </a:xfrm>
        </p:grpSpPr>
        <p:grpSp>
          <p:nvGrpSpPr>
            <p:cNvPr id="3" name="Group 4"/>
            <p:cNvGrpSpPr>
              <a:grpSpLocks/>
            </p:cNvGrpSpPr>
            <p:nvPr/>
          </p:nvGrpSpPr>
          <p:grpSpPr bwMode="auto">
            <a:xfrm>
              <a:off x="1110" y="2490"/>
              <a:ext cx="3551" cy="383"/>
              <a:chOff x="1110" y="2490"/>
              <a:chExt cx="3551" cy="383"/>
            </a:xfrm>
          </p:grpSpPr>
          <p:grpSp>
            <p:nvGrpSpPr>
              <p:cNvPr id="4" name="Group 5"/>
              <p:cNvGrpSpPr>
                <a:grpSpLocks/>
              </p:cNvGrpSpPr>
              <p:nvPr/>
            </p:nvGrpSpPr>
            <p:grpSpPr bwMode="auto">
              <a:xfrm>
                <a:off x="1110" y="2490"/>
                <a:ext cx="354" cy="383"/>
                <a:chOff x="1110" y="2490"/>
                <a:chExt cx="354" cy="383"/>
              </a:xfrm>
            </p:grpSpPr>
            <p:sp>
              <p:nvSpPr>
                <p:cNvPr id="28717" name="AutoShape 6"/>
                <p:cNvSpPr>
                  <a:spLocks noChangeArrowheads="1"/>
                </p:cNvSpPr>
                <p:nvPr/>
              </p:nvSpPr>
              <p:spPr bwMode="auto">
                <a:xfrm>
                  <a:off x="1110" y="2490"/>
                  <a:ext cx="355" cy="384"/>
                </a:xfrm>
                <a:prstGeom prst="roundRect">
                  <a:avLst>
                    <a:gd name="adj" fmla="val 282"/>
                  </a:avLst>
                </a:prstGeom>
                <a:solidFill>
                  <a:srgbClr val="FFFF99"/>
                </a:solidFill>
                <a:ln w="9360">
                  <a:solidFill>
                    <a:srgbClr val="000000"/>
                  </a:solidFill>
                  <a:round/>
                  <a:headEnd/>
                  <a:tailEnd/>
                </a:ln>
              </p:spPr>
              <p:txBody>
                <a:bodyPr wrap="none" anchor="ctr"/>
                <a:lstStyle/>
                <a:p>
                  <a:endParaRPr lang="en-US">
                    <a:ea typeface="Lucida Sans Unicode" pitchFamily="34" charset="0"/>
                  </a:endParaRPr>
                </a:p>
              </p:txBody>
            </p:sp>
            <p:sp>
              <p:nvSpPr>
                <p:cNvPr id="28718" name="AutoShape 7"/>
                <p:cNvSpPr>
                  <a:spLocks noChangeArrowheads="1"/>
                </p:cNvSpPr>
                <p:nvPr/>
              </p:nvSpPr>
              <p:spPr bwMode="auto">
                <a:xfrm>
                  <a:off x="1110" y="2490"/>
                  <a:ext cx="355" cy="384"/>
                </a:xfrm>
                <a:prstGeom prst="roundRect">
                  <a:avLst>
                    <a:gd name="adj" fmla="val 282"/>
                  </a:avLst>
                </a:prstGeom>
                <a:noFill/>
                <a:ln w="9525">
                  <a:noFill/>
                  <a:round/>
                  <a:headEnd/>
                  <a:tailEnd/>
                </a:ln>
              </p:spPr>
              <p:txBody>
                <a:bodyPr lIns="90000" tIns="46800" rIns="90000" bIns="46800" anchor="ctr"/>
                <a:lstStyle/>
                <a:p>
                  <a:pPr algn="ctr">
                    <a:lnSpc>
                      <a:spcPct val="93000"/>
                    </a:lnSpc>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P</a:t>
                  </a:r>
                  <a:r>
                    <a:rPr lang="en-GB" sz="1800" baseline="-25000">
                      <a:solidFill>
                        <a:schemeClr val="tx1"/>
                      </a:solidFill>
                      <a:latin typeface="Helvetica" pitchFamily="34" charset="0"/>
                      <a:ea typeface="Lucida Sans Unicode" pitchFamily="34" charset="0"/>
                    </a:rPr>
                    <a:t>1</a:t>
                  </a:r>
                </a:p>
              </p:txBody>
            </p:sp>
          </p:grpSp>
          <p:grpSp>
            <p:nvGrpSpPr>
              <p:cNvPr id="5" name="Group 8"/>
              <p:cNvGrpSpPr>
                <a:grpSpLocks/>
              </p:cNvGrpSpPr>
              <p:nvPr/>
            </p:nvGrpSpPr>
            <p:grpSpPr bwMode="auto">
              <a:xfrm>
                <a:off x="1465" y="2490"/>
                <a:ext cx="355" cy="383"/>
                <a:chOff x="1465" y="2490"/>
                <a:chExt cx="355" cy="383"/>
              </a:xfrm>
            </p:grpSpPr>
            <p:sp>
              <p:nvSpPr>
                <p:cNvPr id="28715" name="AutoShape 9"/>
                <p:cNvSpPr>
                  <a:spLocks noChangeArrowheads="1"/>
                </p:cNvSpPr>
                <p:nvPr/>
              </p:nvSpPr>
              <p:spPr bwMode="auto">
                <a:xfrm>
                  <a:off x="1465" y="2490"/>
                  <a:ext cx="356" cy="384"/>
                </a:xfrm>
                <a:prstGeom prst="roundRect">
                  <a:avLst>
                    <a:gd name="adj" fmla="val 278"/>
                  </a:avLst>
                </a:prstGeom>
                <a:solidFill>
                  <a:srgbClr val="FFFF99"/>
                </a:solidFill>
                <a:ln w="9360">
                  <a:solidFill>
                    <a:srgbClr val="000000"/>
                  </a:solidFill>
                  <a:round/>
                  <a:headEnd/>
                  <a:tailEnd/>
                </a:ln>
              </p:spPr>
              <p:txBody>
                <a:bodyPr wrap="none" anchor="ctr"/>
                <a:lstStyle/>
                <a:p>
                  <a:endParaRPr lang="en-US">
                    <a:ea typeface="Lucida Sans Unicode" pitchFamily="34" charset="0"/>
                  </a:endParaRPr>
                </a:p>
              </p:txBody>
            </p:sp>
            <p:sp>
              <p:nvSpPr>
                <p:cNvPr id="28716" name="AutoShape 10"/>
                <p:cNvSpPr>
                  <a:spLocks noChangeArrowheads="1"/>
                </p:cNvSpPr>
                <p:nvPr/>
              </p:nvSpPr>
              <p:spPr bwMode="auto">
                <a:xfrm>
                  <a:off x="1465" y="2490"/>
                  <a:ext cx="356" cy="384"/>
                </a:xfrm>
                <a:prstGeom prst="roundRect">
                  <a:avLst>
                    <a:gd name="adj" fmla="val 278"/>
                  </a:avLst>
                </a:prstGeom>
                <a:noFill/>
                <a:ln w="9525">
                  <a:noFill/>
                  <a:round/>
                  <a:headEnd/>
                  <a:tailEnd/>
                </a:ln>
              </p:spPr>
              <p:txBody>
                <a:bodyPr lIns="90000" tIns="46800" rIns="90000" bIns="46800" anchor="ctr"/>
                <a:lstStyle/>
                <a:p>
                  <a:pPr algn="ctr">
                    <a:lnSpc>
                      <a:spcPct val="93000"/>
                    </a:lnSpc>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P</a:t>
                  </a:r>
                  <a:r>
                    <a:rPr lang="en-GB" sz="1800" baseline="-25000">
                      <a:solidFill>
                        <a:schemeClr val="tx1"/>
                      </a:solidFill>
                      <a:latin typeface="Helvetica" pitchFamily="34" charset="0"/>
                      <a:ea typeface="Lucida Sans Unicode" pitchFamily="34" charset="0"/>
                    </a:rPr>
                    <a:t>2</a:t>
                  </a:r>
                </a:p>
              </p:txBody>
            </p:sp>
          </p:grpSp>
          <p:grpSp>
            <p:nvGrpSpPr>
              <p:cNvPr id="6" name="Group 11"/>
              <p:cNvGrpSpPr>
                <a:grpSpLocks/>
              </p:cNvGrpSpPr>
              <p:nvPr/>
            </p:nvGrpSpPr>
            <p:grpSpPr bwMode="auto">
              <a:xfrm>
                <a:off x="1820" y="2490"/>
                <a:ext cx="354" cy="383"/>
                <a:chOff x="1820" y="2490"/>
                <a:chExt cx="354" cy="383"/>
              </a:xfrm>
            </p:grpSpPr>
            <p:sp>
              <p:nvSpPr>
                <p:cNvPr id="28713" name="AutoShape 12"/>
                <p:cNvSpPr>
                  <a:spLocks noChangeArrowheads="1"/>
                </p:cNvSpPr>
                <p:nvPr/>
              </p:nvSpPr>
              <p:spPr bwMode="auto">
                <a:xfrm>
                  <a:off x="1820" y="2490"/>
                  <a:ext cx="355" cy="384"/>
                </a:xfrm>
                <a:prstGeom prst="roundRect">
                  <a:avLst>
                    <a:gd name="adj" fmla="val 282"/>
                  </a:avLst>
                </a:prstGeom>
                <a:solidFill>
                  <a:srgbClr val="FFFF99"/>
                </a:solidFill>
                <a:ln w="9360">
                  <a:solidFill>
                    <a:srgbClr val="000000"/>
                  </a:solidFill>
                  <a:round/>
                  <a:headEnd/>
                  <a:tailEnd/>
                </a:ln>
              </p:spPr>
              <p:txBody>
                <a:bodyPr wrap="none" anchor="ctr"/>
                <a:lstStyle/>
                <a:p>
                  <a:endParaRPr lang="en-US">
                    <a:ea typeface="Lucida Sans Unicode" pitchFamily="34" charset="0"/>
                  </a:endParaRPr>
                </a:p>
              </p:txBody>
            </p:sp>
            <p:sp>
              <p:nvSpPr>
                <p:cNvPr id="28714" name="AutoShape 13"/>
                <p:cNvSpPr>
                  <a:spLocks noChangeArrowheads="1"/>
                </p:cNvSpPr>
                <p:nvPr/>
              </p:nvSpPr>
              <p:spPr bwMode="auto">
                <a:xfrm>
                  <a:off x="1820" y="2490"/>
                  <a:ext cx="355" cy="384"/>
                </a:xfrm>
                <a:prstGeom prst="roundRect">
                  <a:avLst>
                    <a:gd name="adj" fmla="val 282"/>
                  </a:avLst>
                </a:prstGeom>
                <a:noFill/>
                <a:ln w="9525">
                  <a:noFill/>
                  <a:round/>
                  <a:headEnd/>
                  <a:tailEnd/>
                </a:ln>
              </p:spPr>
              <p:txBody>
                <a:bodyPr lIns="90000" tIns="46800" rIns="90000" bIns="46800" anchor="ctr"/>
                <a:lstStyle/>
                <a:p>
                  <a:pPr algn="ctr">
                    <a:lnSpc>
                      <a:spcPct val="93000"/>
                    </a:lnSpc>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P</a:t>
                  </a:r>
                  <a:r>
                    <a:rPr lang="en-GB" sz="1800" baseline="-25000">
                      <a:solidFill>
                        <a:schemeClr val="tx1"/>
                      </a:solidFill>
                      <a:latin typeface="Helvetica" pitchFamily="34" charset="0"/>
                      <a:ea typeface="Lucida Sans Unicode" pitchFamily="34" charset="0"/>
                    </a:rPr>
                    <a:t>3</a:t>
                  </a:r>
                </a:p>
              </p:txBody>
            </p:sp>
          </p:grpSp>
          <p:grpSp>
            <p:nvGrpSpPr>
              <p:cNvPr id="7" name="Group 14"/>
              <p:cNvGrpSpPr>
                <a:grpSpLocks/>
              </p:cNvGrpSpPr>
              <p:nvPr/>
            </p:nvGrpSpPr>
            <p:grpSpPr bwMode="auto">
              <a:xfrm>
                <a:off x="2175" y="2490"/>
                <a:ext cx="354" cy="383"/>
                <a:chOff x="2175" y="2490"/>
                <a:chExt cx="354" cy="383"/>
              </a:xfrm>
            </p:grpSpPr>
            <p:sp>
              <p:nvSpPr>
                <p:cNvPr id="28711" name="AutoShape 15"/>
                <p:cNvSpPr>
                  <a:spLocks noChangeArrowheads="1"/>
                </p:cNvSpPr>
                <p:nvPr/>
              </p:nvSpPr>
              <p:spPr bwMode="auto">
                <a:xfrm>
                  <a:off x="2175" y="2490"/>
                  <a:ext cx="355" cy="384"/>
                </a:xfrm>
                <a:prstGeom prst="roundRect">
                  <a:avLst>
                    <a:gd name="adj" fmla="val 282"/>
                  </a:avLst>
                </a:prstGeom>
                <a:solidFill>
                  <a:srgbClr val="FFFF99"/>
                </a:solidFill>
                <a:ln w="9360">
                  <a:solidFill>
                    <a:srgbClr val="000000"/>
                  </a:solidFill>
                  <a:round/>
                  <a:headEnd/>
                  <a:tailEnd/>
                </a:ln>
              </p:spPr>
              <p:txBody>
                <a:bodyPr wrap="none" anchor="ctr"/>
                <a:lstStyle/>
                <a:p>
                  <a:endParaRPr lang="en-US">
                    <a:ea typeface="Lucida Sans Unicode" pitchFamily="34" charset="0"/>
                  </a:endParaRPr>
                </a:p>
              </p:txBody>
            </p:sp>
            <p:sp>
              <p:nvSpPr>
                <p:cNvPr id="28712" name="AutoShape 16"/>
                <p:cNvSpPr>
                  <a:spLocks noChangeArrowheads="1"/>
                </p:cNvSpPr>
                <p:nvPr/>
              </p:nvSpPr>
              <p:spPr bwMode="auto">
                <a:xfrm>
                  <a:off x="2175" y="2490"/>
                  <a:ext cx="355" cy="384"/>
                </a:xfrm>
                <a:prstGeom prst="roundRect">
                  <a:avLst>
                    <a:gd name="adj" fmla="val 282"/>
                  </a:avLst>
                </a:prstGeom>
                <a:noFill/>
                <a:ln w="9525">
                  <a:noFill/>
                  <a:round/>
                  <a:headEnd/>
                  <a:tailEnd/>
                </a:ln>
              </p:spPr>
              <p:txBody>
                <a:bodyPr lIns="90000" tIns="46800" rIns="90000" bIns="46800" anchor="ctr"/>
                <a:lstStyle/>
                <a:p>
                  <a:pPr algn="ctr">
                    <a:lnSpc>
                      <a:spcPct val="93000"/>
                    </a:lnSpc>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P</a:t>
                  </a:r>
                  <a:r>
                    <a:rPr lang="en-GB" sz="1800" baseline="-25000">
                      <a:solidFill>
                        <a:schemeClr val="tx1"/>
                      </a:solidFill>
                      <a:latin typeface="Helvetica" pitchFamily="34" charset="0"/>
                      <a:ea typeface="Lucida Sans Unicode" pitchFamily="34" charset="0"/>
                    </a:rPr>
                    <a:t>4</a:t>
                  </a:r>
                </a:p>
              </p:txBody>
            </p:sp>
          </p:grpSp>
          <p:grpSp>
            <p:nvGrpSpPr>
              <p:cNvPr id="8" name="Group 17"/>
              <p:cNvGrpSpPr>
                <a:grpSpLocks/>
              </p:cNvGrpSpPr>
              <p:nvPr/>
            </p:nvGrpSpPr>
            <p:grpSpPr bwMode="auto">
              <a:xfrm>
                <a:off x="2531" y="2490"/>
                <a:ext cx="355" cy="383"/>
                <a:chOff x="2531" y="2490"/>
                <a:chExt cx="355" cy="383"/>
              </a:xfrm>
            </p:grpSpPr>
            <p:sp>
              <p:nvSpPr>
                <p:cNvPr id="28709" name="AutoShape 18"/>
                <p:cNvSpPr>
                  <a:spLocks noChangeArrowheads="1"/>
                </p:cNvSpPr>
                <p:nvPr/>
              </p:nvSpPr>
              <p:spPr bwMode="auto">
                <a:xfrm>
                  <a:off x="2531" y="2490"/>
                  <a:ext cx="356" cy="384"/>
                </a:xfrm>
                <a:prstGeom prst="roundRect">
                  <a:avLst>
                    <a:gd name="adj" fmla="val 278"/>
                  </a:avLst>
                </a:prstGeom>
                <a:solidFill>
                  <a:srgbClr val="FFFF99"/>
                </a:solidFill>
                <a:ln w="9360">
                  <a:solidFill>
                    <a:srgbClr val="000000"/>
                  </a:solidFill>
                  <a:round/>
                  <a:headEnd/>
                  <a:tailEnd/>
                </a:ln>
              </p:spPr>
              <p:txBody>
                <a:bodyPr wrap="none" anchor="ctr"/>
                <a:lstStyle/>
                <a:p>
                  <a:endParaRPr lang="en-US">
                    <a:ea typeface="Lucida Sans Unicode" pitchFamily="34" charset="0"/>
                  </a:endParaRPr>
                </a:p>
              </p:txBody>
            </p:sp>
            <p:sp>
              <p:nvSpPr>
                <p:cNvPr id="28710" name="AutoShape 19"/>
                <p:cNvSpPr>
                  <a:spLocks noChangeArrowheads="1"/>
                </p:cNvSpPr>
                <p:nvPr/>
              </p:nvSpPr>
              <p:spPr bwMode="auto">
                <a:xfrm>
                  <a:off x="2531" y="2490"/>
                  <a:ext cx="356" cy="384"/>
                </a:xfrm>
                <a:prstGeom prst="roundRect">
                  <a:avLst>
                    <a:gd name="adj" fmla="val 278"/>
                  </a:avLst>
                </a:prstGeom>
                <a:noFill/>
                <a:ln w="9525">
                  <a:noFill/>
                  <a:round/>
                  <a:headEnd/>
                  <a:tailEnd/>
                </a:ln>
              </p:spPr>
              <p:txBody>
                <a:bodyPr lIns="90000" tIns="46800" rIns="90000" bIns="46800" anchor="ctr"/>
                <a:lstStyle/>
                <a:p>
                  <a:pPr algn="ctr">
                    <a:lnSpc>
                      <a:spcPct val="93000"/>
                    </a:lnSpc>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P</a:t>
                  </a:r>
                  <a:r>
                    <a:rPr lang="en-GB" sz="1800" baseline="-25000">
                      <a:solidFill>
                        <a:schemeClr val="tx1"/>
                      </a:solidFill>
                      <a:latin typeface="Helvetica" pitchFamily="34" charset="0"/>
                      <a:ea typeface="Lucida Sans Unicode" pitchFamily="34" charset="0"/>
                    </a:rPr>
                    <a:t>1</a:t>
                  </a:r>
                </a:p>
              </p:txBody>
            </p:sp>
          </p:grpSp>
          <p:grpSp>
            <p:nvGrpSpPr>
              <p:cNvPr id="9" name="Group 20"/>
              <p:cNvGrpSpPr>
                <a:grpSpLocks/>
              </p:cNvGrpSpPr>
              <p:nvPr/>
            </p:nvGrpSpPr>
            <p:grpSpPr bwMode="auto">
              <a:xfrm>
                <a:off x="2886" y="2490"/>
                <a:ext cx="354" cy="383"/>
                <a:chOff x="2886" y="2490"/>
                <a:chExt cx="354" cy="383"/>
              </a:xfrm>
            </p:grpSpPr>
            <p:sp>
              <p:nvSpPr>
                <p:cNvPr id="28707" name="AutoShape 21"/>
                <p:cNvSpPr>
                  <a:spLocks noChangeArrowheads="1"/>
                </p:cNvSpPr>
                <p:nvPr/>
              </p:nvSpPr>
              <p:spPr bwMode="auto">
                <a:xfrm>
                  <a:off x="2886" y="2490"/>
                  <a:ext cx="355" cy="384"/>
                </a:xfrm>
                <a:prstGeom prst="roundRect">
                  <a:avLst>
                    <a:gd name="adj" fmla="val 282"/>
                  </a:avLst>
                </a:prstGeom>
                <a:solidFill>
                  <a:srgbClr val="FFFF99"/>
                </a:solidFill>
                <a:ln w="9360">
                  <a:solidFill>
                    <a:srgbClr val="000000"/>
                  </a:solidFill>
                  <a:round/>
                  <a:headEnd/>
                  <a:tailEnd/>
                </a:ln>
              </p:spPr>
              <p:txBody>
                <a:bodyPr wrap="none" anchor="ctr"/>
                <a:lstStyle/>
                <a:p>
                  <a:endParaRPr lang="en-US">
                    <a:ea typeface="Lucida Sans Unicode" pitchFamily="34" charset="0"/>
                  </a:endParaRPr>
                </a:p>
              </p:txBody>
            </p:sp>
            <p:sp>
              <p:nvSpPr>
                <p:cNvPr id="28708" name="AutoShape 22"/>
                <p:cNvSpPr>
                  <a:spLocks noChangeArrowheads="1"/>
                </p:cNvSpPr>
                <p:nvPr/>
              </p:nvSpPr>
              <p:spPr bwMode="auto">
                <a:xfrm>
                  <a:off x="2886" y="2490"/>
                  <a:ext cx="355" cy="384"/>
                </a:xfrm>
                <a:prstGeom prst="roundRect">
                  <a:avLst>
                    <a:gd name="adj" fmla="val 282"/>
                  </a:avLst>
                </a:prstGeom>
                <a:noFill/>
                <a:ln w="9525">
                  <a:noFill/>
                  <a:round/>
                  <a:headEnd/>
                  <a:tailEnd/>
                </a:ln>
              </p:spPr>
              <p:txBody>
                <a:bodyPr lIns="90000" tIns="46800" rIns="90000" bIns="46800" anchor="ctr"/>
                <a:lstStyle/>
                <a:p>
                  <a:pPr algn="ctr">
                    <a:lnSpc>
                      <a:spcPct val="93000"/>
                    </a:lnSpc>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P</a:t>
                  </a:r>
                  <a:r>
                    <a:rPr lang="en-GB" sz="1800" baseline="-25000">
                      <a:solidFill>
                        <a:schemeClr val="tx1"/>
                      </a:solidFill>
                      <a:latin typeface="Helvetica" pitchFamily="34" charset="0"/>
                      <a:ea typeface="Lucida Sans Unicode" pitchFamily="34" charset="0"/>
                    </a:rPr>
                    <a:t>3</a:t>
                  </a:r>
                </a:p>
              </p:txBody>
            </p:sp>
          </p:grpSp>
          <p:grpSp>
            <p:nvGrpSpPr>
              <p:cNvPr id="10" name="Group 23"/>
              <p:cNvGrpSpPr>
                <a:grpSpLocks/>
              </p:cNvGrpSpPr>
              <p:nvPr/>
            </p:nvGrpSpPr>
            <p:grpSpPr bwMode="auto">
              <a:xfrm>
                <a:off x="3241" y="2490"/>
                <a:ext cx="354" cy="383"/>
                <a:chOff x="3241" y="2490"/>
                <a:chExt cx="354" cy="383"/>
              </a:xfrm>
            </p:grpSpPr>
            <p:sp>
              <p:nvSpPr>
                <p:cNvPr id="28705" name="AutoShape 24"/>
                <p:cNvSpPr>
                  <a:spLocks noChangeArrowheads="1"/>
                </p:cNvSpPr>
                <p:nvPr/>
              </p:nvSpPr>
              <p:spPr bwMode="auto">
                <a:xfrm>
                  <a:off x="3241" y="2490"/>
                  <a:ext cx="355" cy="384"/>
                </a:xfrm>
                <a:prstGeom prst="roundRect">
                  <a:avLst>
                    <a:gd name="adj" fmla="val 282"/>
                  </a:avLst>
                </a:prstGeom>
                <a:solidFill>
                  <a:srgbClr val="FFFF99"/>
                </a:solidFill>
                <a:ln w="9360">
                  <a:solidFill>
                    <a:srgbClr val="000000"/>
                  </a:solidFill>
                  <a:round/>
                  <a:headEnd/>
                  <a:tailEnd/>
                </a:ln>
              </p:spPr>
              <p:txBody>
                <a:bodyPr wrap="none" anchor="ctr"/>
                <a:lstStyle/>
                <a:p>
                  <a:endParaRPr lang="en-US">
                    <a:ea typeface="Lucida Sans Unicode" pitchFamily="34" charset="0"/>
                  </a:endParaRPr>
                </a:p>
              </p:txBody>
            </p:sp>
            <p:sp>
              <p:nvSpPr>
                <p:cNvPr id="28706" name="AutoShape 25"/>
                <p:cNvSpPr>
                  <a:spLocks noChangeArrowheads="1"/>
                </p:cNvSpPr>
                <p:nvPr/>
              </p:nvSpPr>
              <p:spPr bwMode="auto">
                <a:xfrm>
                  <a:off x="3241" y="2490"/>
                  <a:ext cx="355" cy="384"/>
                </a:xfrm>
                <a:prstGeom prst="roundRect">
                  <a:avLst>
                    <a:gd name="adj" fmla="val 282"/>
                  </a:avLst>
                </a:prstGeom>
                <a:noFill/>
                <a:ln w="9525">
                  <a:noFill/>
                  <a:round/>
                  <a:headEnd/>
                  <a:tailEnd/>
                </a:ln>
              </p:spPr>
              <p:txBody>
                <a:bodyPr lIns="90000" tIns="46800" rIns="90000" bIns="46800" anchor="ctr"/>
                <a:lstStyle/>
                <a:p>
                  <a:pPr algn="ctr">
                    <a:lnSpc>
                      <a:spcPct val="93000"/>
                    </a:lnSpc>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P</a:t>
                  </a:r>
                  <a:r>
                    <a:rPr lang="en-GB" sz="1800" baseline="-25000">
                      <a:solidFill>
                        <a:schemeClr val="tx1"/>
                      </a:solidFill>
                      <a:latin typeface="Helvetica" pitchFamily="34" charset="0"/>
                      <a:ea typeface="Lucida Sans Unicode" pitchFamily="34" charset="0"/>
                    </a:rPr>
                    <a:t>4</a:t>
                  </a:r>
                </a:p>
              </p:txBody>
            </p:sp>
          </p:grpSp>
          <p:grpSp>
            <p:nvGrpSpPr>
              <p:cNvPr id="11" name="Group 26"/>
              <p:cNvGrpSpPr>
                <a:grpSpLocks/>
              </p:cNvGrpSpPr>
              <p:nvPr/>
            </p:nvGrpSpPr>
            <p:grpSpPr bwMode="auto">
              <a:xfrm>
                <a:off x="3596" y="2490"/>
                <a:ext cx="354" cy="383"/>
                <a:chOff x="3596" y="2490"/>
                <a:chExt cx="354" cy="383"/>
              </a:xfrm>
            </p:grpSpPr>
            <p:sp>
              <p:nvSpPr>
                <p:cNvPr id="28703" name="AutoShape 27"/>
                <p:cNvSpPr>
                  <a:spLocks noChangeArrowheads="1"/>
                </p:cNvSpPr>
                <p:nvPr/>
              </p:nvSpPr>
              <p:spPr bwMode="auto">
                <a:xfrm>
                  <a:off x="3596" y="2490"/>
                  <a:ext cx="355" cy="384"/>
                </a:xfrm>
                <a:prstGeom prst="roundRect">
                  <a:avLst>
                    <a:gd name="adj" fmla="val 282"/>
                  </a:avLst>
                </a:prstGeom>
                <a:solidFill>
                  <a:srgbClr val="FFFF99"/>
                </a:solidFill>
                <a:ln w="9360">
                  <a:solidFill>
                    <a:srgbClr val="000000"/>
                  </a:solidFill>
                  <a:round/>
                  <a:headEnd/>
                  <a:tailEnd/>
                </a:ln>
              </p:spPr>
              <p:txBody>
                <a:bodyPr wrap="none" anchor="ctr"/>
                <a:lstStyle/>
                <a:p>
                  <a:endParaRPr lang="en-US">
                    <a:ea typeface="Lucida Sans Unicode" pitchFamily="34" charset="0"/>
                  </a:endParaRPr>
                </a:p>
              </p:txBody>
            </p:sp>
            <p:sp>
              <p:nvSpPr>
                <p:cNvPr id="28704" name="AutoShape 28"/>
                <p:cNvSpPr>
                  <a:spLocks noChangeArrowheads="1"/>
                </p:cNvSpPr>
                <p:nvPr/>
              </p:nvSpPr>
              <p:spPr bwMode="auto">
                <a:xfrm>
                  <a:off x="3596" y="2490"/>
                  <a:ext cx="355" cy="384"/>
                </a:xfrm>
                <a:prstGeom prst="roundRect">
                  <a:avLst>
                    <a:gd name="adj" fmla="val 282"/>
                  </a:avLst>
                </a:prstGeom>
                <a:noFill/>
                <a:ln w="9525">
                  <a:noFill/>
                  <a:round/>
                  <a:headEnd/>
                  <a:tailEnd/>
                </a:ln>
              </p:spPr>
              <p:txBody>
                <a:bodyPr lIns="90000" tIns="46800" rIns="90000" bIns="46800" anchor="ctr"/>
                <a:lstStyle/>
                <a:p>
                  <a:pPr algn="ctr">
                    <a:lnSpc>
                      <a:spcPct val="93000"/>
                    </a:lnSpc>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P</a:t>
                  </a:r>
                  <a:r>
                    <a:rPr lang="en-GB" sz="1800" baseline="-25000">
                      <a:solidFill>
                        <a:schemeClr val="tx1"/>
                      </a:solidFill>
                      <a:latin typeface="Helvetica" pitchFamily="34" charset="0"/>
                      <a:ea typeface="Lucida Sans Unicode" pitchFamily="34" charset="0"/>
                    </a:rPr>
                    <a:t>1</a:t>
                  </a:r>
                </a:p>
              </p:txBody>
            </p:sp>
          </p:grpSp>
          <p:grpSp>
            <p:nvGrpSpPr>
              <p:cNvPr id="12" name="Group 29"/>
              <p:cNvGrpSpPr>
                <a:grpSpLocks/>
              </p:cNvGrpSpPr>
              <p:nvPr/>
            </p:nvGrpSpPr>
            <p:grpSpPr bwMode="auto">
              <a:xfrm>
                <a:off x="3951" y="2490"/>
                <a:ext cx="355" cy="383"/>
                <a:chOff x="3951" y="2490"/>
                <a:chExt cx="355" cy="383"/>
              </a:xfrm>
            </p:grpSpPr>
            <p:sp>
              <p:nvSpPr>
                <p:cNvPr id="28701" name="AutoShape 30"/>
                <p:cNvSpPr>
                  <a:spLocks noChangeArrowheads="1"/>
                </p:cNvSpPr>
                <p:nvPr/>
              </p:nvSpPr>
              <p:spPr bwMode="auto">
                <a:xfrm>
                  <a:off x="3951" y="2490"/>
                  <a:ext cx="356" cy="384"/>
                </a:xfrm>
                <a:prstGeom prst="roundRect">
                  <a:avLst>
                    <a:gd name="adj" fmla="val 278"/>
                  </a:avLst>
                </a:prstGeom>
                <a:solidFill>
                  <a:srgbClr val="FFFF99"/>
                </a:solidFill>
                <a:ln w="9360">
                  <a:solidFill>
                    <a:srgbClr val="000000"/>
                  </a:solidFill>
                  <a:round/>
                  <a:headEnd/>
                  <a:tailEnd/>
                </a:ln>
              </p:spPr>
              <p:txBody>
                <a:bodyPr wrap="none" anchor="ctr"/>
                <a:lstStyle/>
                <a:p>
                  <a:endParaRPr lang="en-US">
                    <a:ea typeface="Lucida Sans Unicode" pitchFamily="34" charset="0"/>
                  </a:endParaRPr>
                </a:p>
              </p:txBody>
            </p:sp>
            <p:sp>
              <p:nvSpPr>
                <p:cNvPr id="28702" name="AutoShape 31"/>
                <p:cNvSpPr>
                  <a:spLocks noChangeArrowheads="1"/>
                </p:cNvSpPr>
                <p:nvPr/>
              </p:nvSpPr>
              <p:spPr bwMode="auto">
                <a:xfrm>
                  <a:off x="3951" y="2490"/>
                  <a:ext cx="356" cy="384"/>
                </a:xfrm>
                <a:prstGeom prst="roundRect">
                  <a:avLst>
                    <a:gd name="adj" fmla="val 278"/>
                  </a:avLst>
                </a:prstGeom>
                <a:noFill/>
                <a:ln w="9525">
                  <a:noFill/>
                  <a:round/>
                  <a:headEnd/>
                  <a:tailEnd/>
                </a:ln>
              </p:spPr>
              <p:txBody>
                <a:bodyPr lIns="90000" tIns="46800" rIns="90000" bIns="46800" anchor="ctr"/>
                <a:lstStyle/>
                <a:p>
                  <a:pPr algn="ctr">
                    <a:lnSpc>
                      <a:spcPct val="93000"/>
                    </a:lnSpc>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P</a:t>
                  </a:r>
                  <a:r>
                    <a:rPr lang="en-GB" sz="1800" baseline="-25000">
                      <a:solidFill>
                        <a:schemeClr val="tx1"/>
                      </a:solidFill>
                      <a:latin typeface="Helvetica" pitchFamily="34" charset="0"/>
                      <a:ea typeface="Lucida Sans Unicode" pitchFamily="34" charset="0"/>
                    </a:rPr>
                    <a:t>3</a:t>
                  </a:r>
                </a:p>
              </p:txBody>
            </p:sp>
          </p:grpSp>
          <p:grpSp>
            <p:nvGrpSpPr>
              <p:cNvPr id="13" name="Group 32"/>
              <p:cNvGrpSpPr>
                <a:grpSpLocks/>
              </p:cNvGrpSpPr>
              <p:nvPr/>
            </p:nvGrpSpPr>
            <p:grpSpPr bwMode="auto">
              <a:xfrm>
                <a:off x="4307" y="2490"/>
                <a:ext cx="354" cy="383"/>
                <a:chOff x="4307" y="2490"/>
                <a:chExt cx="354" cy="383"/>
              </a:xfrm>
            </p:grpSpPr>
            <p:sp>
              <p:nvSpPr>
                <p:cNvPr id="28699" name="AutoShape 33"/>
                <p:cNvSpPr>
                  <a:spLocks noChangeArrowheads="1"/>
                </p:cNvSpPr>
                <p:nvPr/>
              </p:nvSpPr>
              <p:spPr bwMode="auto">
                <a:xfrm>
                  <a:off x="4307" y="2490"/>
                  <a:ext cx="355" cy="384"/>
                </a:xfrm>
                <a:prstGeom prst="roundRect">
                  <a:avLst>
                    <a:gd name="adj" fmla="val 282"/>
                  </a:avLst>
                </a:prstGeom>
                <a:solidFill>
                  <a:srgbClr val="FFFF99"/>
                </a:solidFill>
                <a:ln w="9360">
                  <a:solidFill>
                    <a:srgbClr val="000000"/>
                  </a:solidFill>
                  <a:round/>
                  <a:headEnd/>
                  <a:tailEnd/>
                </a:ln>
              </p:spPr>
              <p:txBody>
                <a:bodyPr wrap="none" anchor="ctr"/>
                <a:lstStyle/>
                <a:p>
                  <a:endParaRPr lang="en-US">
                    <a:ea typeface="Lucida Sans Unicode" pitchFamily="34" charset="0"/>
                  </a:endParaRPr>
                </a:p>
              </p:txBody>
            </p:sp>
            <p:sp>
              <p:nvSpPr>
                <p:cNvPr id="28700" name="AutoShape 34"/>
                <p:cNvSpPr>
                  <a:spLocks noChangeArrowheads="1"/>
                </p:cNvSpPr>
                <p:nvPr/>
              </p:nvSpPr>
              <p:spPr bwMode="auto">
                <a:xfrm>
                  <a:off x="4307" y="2490"/>
                  <a:ext cx="355" cy="384"/>
                </a:xfrm>
                <a:prstGeom prst="roundRect">
                  <a:avLst>
                    <a:gd name="adj" fmla="val 282"/>
                  </a:avLst>
                </a:prstGeom>
                <a:noFill/>
                <a:ln w="9525">
                  <a:noFill/>
                  <a:round/>
                  <a:headEnd/>
                  <a:tailEnd/>
                </a:ln>
              </p:spPr>
              <p:txBody>
                <a:bodyPr lIns="90000" tIns="46800" rIns="90000" bIns="46800" anchor="ctr"/>
                <a:lstStyle/>
                <a:p>
                  <a:pPr algn="ctr">
                    <a:lnSpc>
                      <a:spcPct val="93000"/>
                    </a:lnSpc>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P</a:t>
                  </a:r>
                  <a:r>
                    <a:rPr lang="en-GB" sz="1800" baseline="-25000">
                      <a:solidFill>
                        <a:schemeClr val="tx1"/>
                      </a:solidFill>
                      <a:latin typeface="Helvetica" pitchFamily="34" charset="0"/>
                      <a:ea typeface="Lucida Sans Unicode" pitchFamily="34" charset="0"/>
                    </a:rPr>
                    <a:t>3</a:t>
                  </a:r>
                </a:p>
              </p:txBody>
            </p:sp>
          </p:grpSp>
        </p:grpSp>
        <p:sp>
          <p:nvSpPr>
            <p:cNvPr id="28678" name="AutoShape 35"/>
            <p:cNvSpPr>
              <a:spLocks noChangeArrowheads="1"/>
            </p:cNvSpPr>
            <p:nvPr/>
          </p:nvSpPr>
          <p:spPr bwMode="auto">
            <a:xfrm>
              <a:off x="1014" y="2874"/>
              <a:ext cx="196" cy="231"/>
            </a:xfrm>
            <a:prstGeom prst="roundRect">
              <a:avLst>
                <a:gd name="adj" fmla="val 509"/>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0</a:t>
              </a:r>
            </a:p>
          </p:txBody>
        </p:sp>
        <p:sp>
          <p:nvSpPr>
            <p:cNvPr id="28679" name="AutoShape 36"/>
            <p:cNvSpPr>
              <a:spLocks noChangeArrowheads="1"/>
            </p:cNvSpPr>
            <p:nvPr/>
          </p:nvSpPr>
          <p:spPr bwMode="auto">
            <a:xfrm>
              <a:off x="1310" y="2874"/>
              <a:ext cx="276" cy="231"/>
            </a:xfrm>
            <a:prstGeom prst="roundRect">
              <a:avLst>
                <a:gd name="adj" fmla="val 431"/>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20</a:t>
              </a:r>
            </a:p>
          </p:txBody>
        </p:sp>
        <p:sp>
          <p:nvSpPr>
            <p:cNvPr id="28680" name="AutoShape 37"/>
            <p:cNvSpPr>
              <a:spLocks noChangeArrowheads="1"/>
            </p:cNvSpPr>
            <p:nvPr/>
          </p:nvSpPr>
          <p:spPr bwMode="auto">
            <a:xfrm>
              <a:off x="1646" y="2874"/>
              <a:ext cx="276" cy="231"/>
            </a:xfrm>
            <a:prstGeom prst="roundRect">
              <a:avLst>
                <a:gd name="adj" fmla="val 431"/>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37</a:t>
              </a:r>
            </a:p>
          </p:txBody>
        </p:sp>
        <p:sp>
          <p:nvSpPr>
            <p:cNvPr id="28681" name="AutoShape 38"/>
            <p:cNvSpPr>
              <a:spLocks noChangeArrowheads="1"/>
            </p:cNvSpPr>
            <p:nvPr/>
          </p:nvSpPr>
          <p:spPr bwMode="auto">
            <a:xfrm>
              <a:off x="2026" y="2874"/>
              <a:ext cx="276" cy="231"/>
            </a:xfrm>
            <a:prstGeom prst="roundRect">
              <a:avLst>
                <a:gd name="adj" fmla="val 431"/>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57</a:t>
              </a:r>
            </a:p>
          </p:txBody>
        </p:sp>
        <p:sp>
          <p:nvSpPr>
            <p:cNvPr id="28682" name="AutoShape 39"/>
            <p:cNvSpPr>
              <a:spLocks noChangeArrowheads="1"/>
            </p:cNvSpPr>
            <p:nvPr/>
          </p:nvSpPr>
          <p:spPr bwMode="auto">
            <a:xfrm>
              <a:off x="2414" y="2874"/>
              <a:ext cx="276" cy="231"/>
            </a:xfrm>
            <a:prstGeom prst="roundRect">
              <a:avLst>
                <a:gd name="adj" fmla="val 431"/>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77</a:t>
              </a:r>
            </a:p>
          </p:txBody>
        </p:sp>
        <p:sp>
          <p:nvSpPr>
            <p:cNvPr id="28683" name="AutoShape 40"/>
            <p:cNvSpPr>
              <a:spLocks noChangeArrowheads="1"/>
            </p:cNvSpPr>
            <p:nvPr/>
          </p:nvSpPr>
          <p:spPr bwMode="auto">
            <a:xfrm>
              <a:off x="2750" y="2874"/>
              <a:ext cx="276" cy="231"/>
            </a:xfrm>
            <a:prstGeom prst="roundRect">
              <a:avLst>
                <a:gd name="adj" fmla="val 431"/>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97</a:t>
              </a:r>
            </a:p>
          </p:txBody>
        </p:sp>
        <p:sp>
          <p:nvSpPr>
            <p:cNvPr id="28684" name="AutoShape 41"/>
            <p:cNvSpPr>
              <a:spLocks noChangeArrowheads="1"/>
            </p:cNvSpPr>
            <p:nvPr/>
          </p:nvSpPr>
          <p:spPr bwMode="auto">
            <a:xfrm>
              <a:off x="3046" y="2874"/>
              <a:ext cx="356" cy="231"/>
            </a:xfrm>
            <a:prstGeom prst="roundRect">
              <a:avLst>
                <a:gd name="adj" fmla="val 431"/>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117</a:t>
              </a:r>
            </a:p>
          </p:txBody>
        </p:sp>
        <p:sp>
          <p:nvSpPr>
            <p:cNvPr id="28685" name="AutoShape 42"/>
            <p:cNvSpPr>
              <a:spLocks noChangeArrowheads="1"/>
            </p:cNvSpPr>
            <p:nvPr/>
          </p:nvSpPr>
          <p:spPr bwMode="auto">
            <a:xfrm>
              <a:off x="3430" y="2874"/>
              <a:ext cx="356" cy="231"/>
            </a:xfrm>
            <a:prstGeom prst="roundRect">
              <a:avLst>
                <a:gd name="adj" fmla="val 431"/>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121</a:t>
              </a:r>
            </a:p>
          </p:txBody>
        </p:sp>
        <p:sp>
          <p:nvSpPr>
            <p:cNvPr id="28686" name="AutoShape 43"/>
            <p:cNvSpPr>
              <a:spLocks noChangeArrowheads="1"/>
            </p:cNvSpPr>
            <p:nvPr/>
          </p:nvSpPr>
          <p:spPr bwMode="auto">
            <a:xfrm>
              <a:off x="3766" y="2874"/>
              <a:ext cx="356" cy="231"/>
            </a:xfrm>
            <a:prstGeom prst="roundRect">
              <a:avLst>
                <a:gd name="adj" fmla="val 431"/>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134</a:t>
              </a:r>
            </a:p>
          </p:txBody>
        </p:sp>
        <p:sp>
          <p:nvSpPr>
            <p:cNvPr id="28687" name="AutoShape 44"/>
            <p:cNvSpPr>
              <a:spLocks noChangeArrowheads="1"/>
            </p:cNvSpPr>
            <p:nvPr/>
          </p:nvSpPr>
          <p:spPr bwMode="auto">
            <a:xfrm>
              <a:off x="4134" y="2874"/>
              <a:ext cx="356" cy="231"/>
            </a:xfrm>
            <a:prstGeom prst="roundRect">
              <a:avLst>
                <a:gd name="adj" fmla="val 431"/>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154</a:t>
              </a:r>
            </a:p>
          </p:txBody>
        </p:sp>
        <p:sp>
          <p:nvSpPr>
            <p:cNvPr id="28688" name="AutoShape 45"/>
            <p:cNvSpPr>
              <a:spLocks noChangeArrowheads="1"/>
            </p:cNvSpPr>
            <p:nvPr/>
          </p:nvSpPr>
          <p:spPr bwMode="auto">
            <a:xfrm>
              <a:off x="4470" y="2874"/>
              <a:ext cx="356" cy="231"/>
            </a:xfrm>
            <a:prstGeom prst="roundRect">
              <a:avLst>
                <a:gd name="adj" fmla="val 431"/>
              </a:avLst>
            </a:prstGeom>
            <a:noFill/>
            <a:ln w="9525">
              <a:noFill/>
              <a:round/>
              <a:headEnd/>
              <a:tailEnd/>
            </a:ln>
          </p:spPr>
          <p:txBody>
            <a:bodyPr wrap="none" lIns="90000" tIns="46800" rIns="90000" bIns="46800" anchor="ctr">
              <a:spAutoFit/>
            </a:bodyPr>
            <a:lstStyle/>
            <a:p>
              <a:pPr algn="ctr">
                <a:lnSpc>
                  <a:spcPct val="93000"/>
                </a:lnSpc>
                <a:spcBef>
                  <a:spcPts val="1125"/>
                </a:spcBef>
                <a:buClr>
                  <a:srgbClr val="000000"/>
                </a:buClr>
                <a:buSzPct val="100000"/>
                <a:buFont typeface="Helvetica" pitchFamily="3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solidFill>
                    <a:schemeClr val="tx1"/>
                  </a:solidFill>
                  <a:latin typeface="Helvetica" pitchFamily="34" charset="0"/>
                  <a:ea typeface="Lucida Sans Unicode" pitchFamily="34" charset="0"/>
                </a:rPr>
                <a:t>162</a:t>
              </a:r>
            </a:p>
          </p:txBody>
        </p:sp>
      </p:grpSp>
    </p:spTree>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5479</TotalTime>
  <Words>3025</Words>
  <Application>Microsoft Office PowerPoint</Application>
  <PresentationFormat>On-screen Show (4:3)</PresentationFormat>
  <Paragraphs>359</Paragraphs>
  <Slides>30</Slides>
  <Notes>6</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30</vt:i4>
      </vt:variant>
    </vt:vector>
  </HeadingPairs>
  <TitlesOfParts>
    <vt:vector size="42" baseType="lpstr">
      <vt:lpstr>Calibri</vt:lpstr>
      <vt:lpstr>Constantia</vt:lpstr>
      <vt:lpstr>Courier New</vt:lpstr>
      <vt:lpstr>Garamond</vt:lpstr>
      <vt:lpstr>Gill Sans MT</vt:lpstr>
      <vt:lpstr>Helvetica</vt:lpstr>
      <vt:lpstr>Monotype Sorts</vt:lpstr>
      <vt:lpstr>Tahoma</vt:lpstr>
      <vt:lpstr>Times New Roman</vt:lpstr>
      <vt:lpstr>Wingdings</vt:lpstr>
      <vt:lpstr>Wingdings 2</vt:lpstr>
      <vt:lpstr>Flow</vt:lpstr>
      <vt:lpstr>CPU SCHEDULING</vt:lpstr>
      <vt:lpstr>CPU SCHEDULING</vt:lpstr>
      <vt:lpstr>CPU SCHEDULING</vt:lpstr>
      <vt:lpstr>CPU SCHEDULING...</vt:lpstr>
      <vt:lpstr>CPU SCHEDULING....</vt:lpstr>
      <vt:lpstr>CPU SCHEDULING</vt:lpstr>
      <vt:lpstr>CPU SCHEDULING</vt:lpstr>
      <vt:lpstr>CPU SCHEDULING</vt:lpstr>
      <vt:lpstr>CPU SCHEDULING</vt:lpstr>
      <vt:lpstr>CPU SCHEDULING</vt:lpstr>
      <vt:lpstr>CPU SCHEDULING</vt:lpstr>
      <vt:lpstr>CPU SCHEDULING</vt:lpstr>
      <vt:lpstr>Scheduling Algorithms</vt:lpstr>
      <vt:lpstr>First-Come, First-Served Scheduling contd...</vt:lpstr>
      <vt:lpstr>First-Come, First-Served Scheduling contd...</vt:lpstr>
      <vt:lpstr>First-Come, First-Served Scheduling contd...</vt:lpstr>
      <vt:lpstr>First-Come, First-Served Scheduling contd..</vt:lpstr>
      <vt:lpstr>First Come First Served </vt:lpstr>
      <vt:lpstr>Shortest Job First</vt:lpstr>
      <vt:lpstr>Example #1: Non-Preemptive SJF (simultaneous arrival)</vt:lpstr>
      <vt:lpstr>Example #2: Non-Preemptive SJF (simultaneous arrival)</vt:lpstr>
      <vt:lpstr>Example #3: Non-Preemptive SJF  (varied arrival times)</vt:lpstr>
      <vt:lpstr>Example #4: Pre-emptive SJF (Shortest-remaining-time-first)</vt:lpstr>
      <vt:lpstr>Priority Scheduling</vt:lpstr>
      <vt:lpstr>Priority Scheduling</vt:lpstr>
      <vt:lpstr>Priority Scheduling Example: Non preemptive</vt:lpstr>
      <vt:lpstr>Round Robin Scheduling</vt:lpstr>
      <vt:lpstr>Round Robin Scheduling</vt:lpstr>
      <vt:lpstr>Round Robin Scheduling: Example time Quantum = 4 milliseconds</vt:lpstr>
      <vt:lpstr>Example of RR with Time Quantum = 20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Processes</dc:title>
  <dc:creator>Aswathy Pradeep</dc:creator>
  <cp:lastModifiedBy>shahad palathingal</cp:lastModifiedBy>
  <cp:revision>103</cp:revision>
  <dcterms:created xsi:type="dcterms:W3CDTF">2017-01-09T16:23:11Z</dcterms:created>
  <dcterms:modified xsi:type="dcterms:W3CDTF">2021-06-09T08:14:43Z</dcterms:modified>
</cp:coreProperties>
</file>