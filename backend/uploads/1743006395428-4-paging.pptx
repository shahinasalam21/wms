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62" r:id="rId3"/>
    <p:sldId id="263" r:id="rId4"/>
    <p:sldId id="264" r:id="rId5"/>
    <p:sldId id="265" r:id="rId6"/>
    <p:sldId id="266" r:id="rId7"/>
    <p:sldId id="267" r:id="rId8"/>
    <p:sldId id="268" r:id="rId9"/>
    <p:sldId id="269" r:id="rId10"/>
    <p:sldId id="270" r:id="rId11"/>
    <p:sldId id="271" r:id="rId12"/>
    <p:sldId id="304" r:id="rId13"/>
    <p:sldId id="300" r:id="rId14"/>
    <p:sldId id="301" r:id="rId15"/>
    <p:sldId id="294" r:id="rId16"/>
    <p:sldId id="288" r:id="rId17"/>
    <p:sldId id="289" r:id="rId18"/>
    <p:sldId id="295" r:id="rId19"/>
    <p:sldId id="296" r:id="rId20"/>
    <p:sldId id="29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AC4AE6-A8D1-47F5-8429-792C94B5264D}" type="datetimeFigureOut">
              <a:rPr lang="en-IN" smtClean="0"/>
              <a:pPr/>
              <a:t>14-02-2024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118A28-29C2-49E4-A46F-6B846DAF02A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02892F50-D69F-4B4F-830D-A1C56377C0C6}" type="datetime1">
              <a:rPr lang="en-IN" smtClean="0"/>
              <a:t>14-02-2024</a:t>
            </a:fld>
            <a:endParaRPr lang="en-IN" dirty="0"/>
          </a:p>
        </p:txBody>
      </p:sp>
      <p:sp>
        <p:nvSpPr>
          <p:cNvPr id="19" name="Footer Placeholder 18"/>
          <p:cNvSpPr>
            <a:spLocks noGrp="1"/>
          </p:cNvSpPr>
          <p:nvPr>
            <p:ph type="ftr" sz="quarter" idx="11"/>
          </p:nvPr>
        </p:nvSpPr>
        <p:spPr/>
        <p:txBody>
          <a:bodyPr/>
          <a:lstStyle/>
          <a:p>
            <a:endParaRPr lang="en-IN" dirty="0"/>
          </a:p>
        </p:txBody>
      </p:sp>
      <p:sp>
        <p:nvSpPr>
          <p:cNvPr id="27" name="Slide Number Placeholder 26"/>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864096"/>
          </a:xfrm>
        </p:spPr>
        <p:txBody>
          <a:bodyPr>
            <a:normAutofit/>
          </a:bodyPr>
          <a:lstStyle>
            <a:lvl1pPr>
              <a:defRPr sz="3600" b="1">
                <a:latin typeface="Times New Roman" pitchFamily="18" charset="0"/>
                <a:cs typeface="Times New Roman" pitchFamily="18" charset="0"/>
              </a:defRPr>
            </a:lvl1pPr>
          </a:lstStyle>
          <a:p>
            <a:r>
              <a:rPr kumimoji="0" lang="en-US" dirty="0"/>
              <a:t>Click to edit Master title style</a:t>
            </a:r>
          </a:p>
        </p:txBody>
      </p:sp>
      <p:sp>
        <p:nvSpPr>
          <p:cNvPr id="3" name="Content Placeholder 2"/>
          <p:cNvSpPr>
            <a:spLocks noGrp="1"/>
          </p:cNvSpPr>
          <p:nvPr>
            <p:ph idx="1"/>
          </p:nvPr>
        </p:nvSpPr>
        <p:spPr>
          <a:xfrm>
            <a:off x="457200" y="1340768"/>
            <a:ext cx="8229600" cy="5256584"/>
          </a:xfrm>
        </p:spPr>
        <p:txBody>
          <a:bodyPr>
            <a:normAutofit/>
          </a:bodyPr>
          <a:lstStyle>
            <a:lvl1pPr>
              <a:defRPr sz="2400">
                <a:latin typeface="Times New Roman" pitchFamily="18" charset="0"/>
                <a:cs typeface="Times New Roman" pitchFamily="18" charset="0"/>
              </a:defRPr>
            </a:lvl1pPr>
            <a:lvl2pPr>
              <a:defRPr sz="2400">
                <a:latin typeface="Times New Roman" pitchFamily="18" charset="0"/>
                <a:cs typeface="Times New Roman" pitchFamily="18" charset="0"/>
              </a:defRPr>
            </a:lvl2pPr>
            <a:lvl3pPr>
              <a:defRPr sz="2400">
                <a:latin typeface="Times New Roman" pitchFamily="18" charset="0"/>
                <a:cs typeface="Times New Roman" pitchFamily="18" charset="0"/>
              </a:defRPr>
            </a:lvl3pPr>
            <a:lvl4pPr>
              <a:defRPr sz="2400">
                <a:latin typeface="Times New Roman" pitchFamily="18" charset="0"/>
                <a:cs typeface="Times New Roman" pitchFamily="18" charset="0"/>
              </a:defRPr>
            </a:lvl4pPr>
            <a:lvl5pPr>
              <a:defRPr sz="2400">
                <a:latin typeface="Times New Roman" pitchFamily="18" charset="0"/>
                <a:cs typeface="Times New Roman"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3D00AC2-C269-499D-A5BC-7A3584E5F540}" type="datetime1">
              <a:rPr lang="en-IN" smtClean="0"/>
              <a:t>14-02-2024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EE9B5E4-0049-4653-B0BF-9D9F7626BD03}" type="datetime1">
              <a:rPr lang="en-IN" smtClean="0"/>
              <a:t>14-02-2024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75B4400-7BA5-4B4C-8C32-F9CED8827A37}" type="datetime1">
              <a:rPr lang="en-IN" smtClean="0"/>
              <a:t>14-02-2024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A9B0F21-0650-42D5-8522-638896050CBD}" type="datetime1">
              <a:rPr lang="en-IN" smtClean="0"/>
              <a:t>14-02-2024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5E4229-B9F5-4B32-8858-F6C637D0047F}" type="datetime1">
              <a:rPr lang="en-IN" smtClean="0"/>
              <a:t>14-02-2024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50C8837-9472-4B01-8B42-7E2B28D024E9}" type="datetime1">
              <a:rPr lang="en-IN" smtClean="0"/>
              <a:t>14-02-2024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C5B9A33-FE2E-44A3-9923-897C64E30E06}" type="datetime1">
              <a:rPr lang="en-IN" smtClean="0"/>
              <a:t>14-02-2024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a:xfrm>
            <a:off x="8077200" y="6356350"/>
            <a:ext cx="609600" cy="365125"/>
          </a:xfrm>
        </p:spPr>
        <p:txBody>
          <a:bodyPr/>
          <a:lstStyle/>
          <a:p>
            <a:fld id="{EE5D3B95-1082-4AA7-8107-87B8F4991B16}" type="slidenum">
              <a:rPr lang="en-IN" smtClean="0"/>
              <a:pPr/>
              <a:t>‹#›</a:t>
            </a:fld>
            <a:endParaRPr lang="en-IN"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435FCD3-AE43-456C-B3EE-2D94187B59E1}" type="datetime1">
              <a:rPr lang="en-IN" smtClean="0"/>
              <a:t>14-02-2024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FBC08CC-CA43-4EBD-8CAF-3BE30E525ADF}" type="datetime1">
              <a:rPr lang="en-IN" smtClean="0"/>
              <a:t>14-02-2024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26B57A7-8B8F-4F53-8A74-3DE3065A5A29}" type="datetime1">
              <a:rPr lang="en-IN" smtClean="0"/>
              <a:t>14-02-2024</a:t>
            </a:fld>
            <a:endParaRPr lang="en-IN"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E5D3B95-1082-4AA7-8107-87B8F4991B16}" type="slidenum">
              <a:rPr lang="en-IN" smtClean="0"/>
              <a:pPr/>
              <a:t>‹#›</a:t>
            </a:fld>
            <a:endParaRPr lang="en-IN"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PAGING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normAutofit/>
          </a:bodyPr>
          <a:lstStyle/>
          <a:p>
            <a:pPr algn="just"/>
            <a:r>
              <a:rPr lang="en-IN" dirty="0"/>
              <a:t>Paging is a memory-management scheme that permits the physical address space of a process to be non contiguous.</a:t>
            </a:r>
          </a:p>
          <a:p>
            <a:pPr algn="just"/>
            <a:r>
              <a:rPr lang="en-IN" dirty="0"/>
              <a:t>Paging avoids the considerable problem of fitting memory chunks of varying sizes onto the backing store.</a:t>
            </a:r>
          </a:p>
          <a:p>
            <a:pPr algn="just">
              <a:buNone/>
            </a:pPr>
            <a:r>
              <a:rPr lang="en-IN" b="1" u="sng" dirty="0"/>
              <a:t>Basic Method</a:t>
            </a:r>
          </a:p>
          <a:p>
            <a:pPr algn="just"/>
            <a:r>
              <a:rPr lang="en-IN" dirty="0"/>
              <a:t>Breaking physical memory into fixed-sized blocks called </a:t>
            </a:r>
            <a:r>
              <a:rPr lang="en-IN" b="1" dirty="0"/>
              <a:t>frames and breaking logical memory into </a:t>
            </a:r>
            <a:r>
              <a:rPr lang="en-IN" dirty="0"/>
              <a:t>blocks of the same size called </a:t>
            </a:r>
            <a:r>
              <a:rPr lang="en-IN" b="1" dirty="0"/>
              <a:t>pages. </a:t>
            </a:r>
          </a:p>
          <a:p>
            <a:pPr algn="just"/>
            <a:r>
              <a:rPr lang="en-IN" b="1" dirty="0"/>
              <a:t>When a process is to be executed, its </a:t>
            </a:r>
            <a:r>
              <a:rPr lang="en-IN" dirty="0"/>
              <a:t>pages are loaded into any available memory frames from the backing store.</a:t>
            </a:r>
          </a:p>
          <a:p>
            <a:pPr algn="just"/>
            <a:r>
              <a:rPr lang="en-IN" dirty="0"/>
              <a:t>The backing store is divided into fixed-sized blocks that are of the same size as the memory frames.</a:t>
            </a:r>
            <a:endParaRPr lang="en-IN" b="1" u="sng"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611560" y="1484784"/>
            <a:ext cx="8136904" cy="492251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lstStyle/>
          <a:p>
            <a:pPr algn="just"/>
            <a:r>
              <a:rPr lang="en-IN" dirty="0"/>
              <a:t>Every address generated by the CPU is divided into two parts: a </a:t>
            </a:r>
            <a:r>
              <a:rPr lang="en-IN" b="1" dirty="0"/>
              <a:t>page number (p) and a page offset (d). </a:t>
            </a:r>
          </a:p>
          <a:p>
            <a:pPr algn="just"/>
            <a:r>
              <a:rPr lang="en-IN" dirty="0"/>
              <a:t>The page number is used as an index into a page table. </a:t>
            </a:r>
          </a:p>
          <a:p>
            <a:pPr algn="just"/>
            <a:r>
              <a:rPr lang="en-IN" dirty="0"/>
              <a:t>The page table contains the base address of each page in physical memory. </a:t>
            </a:r>
          </a:p>
          <a:p>
            <a:pPr algn="just"/>
            <a:r>
              <a:rPr lang="en-IN" dirty="0"/>
              <a:t>This base address is combined with the page offset to define the physical memory address that is sent to the memory unit.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cstate="print"/>
          <a:srcRect/>
          <a:stretch>
            <a:fillRect/>
          </a:stretch>
        </p:blipFill>
        <p:spPr bwMode="auto">
          <a:xfrm>
            <a:off x="395536" y="1196752"/>
            <a:ext cx="8496944" cy="5472608"/>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noAutofit/>
          </a:bodyPr>
          <a:lstStyle/>
          <a:p>
            <a:r>
              <a:rPr lang="en-IN" dirty="0"/>
              <a:t>The page size (like the frame size) is defined by the hardware.</a:t>
            </a:r>
          </a:p>
          <a:p>
            <a:r>
              <a:rPr lang="en-IN" dirty="0"/>
              <a:t>The size of a page is typically a power of 2, varying between 512 bytes and 16 MB per page, depending on the computer architecture.</a:t>
            </a:r>
          </a:p>
          <a:p>
            <a:r>
              <a:rPr lang="en-IN" dirty="0"/>
              <a:t>If the size of logical address space is 2</a:t>
            </a:r>
            <a:r>
              <a:rPr lang="en-IN" baseline="30000" dirty="0"/>
              <a:t>m</a:t>
            </a:r>
            <a:r>
              <a:rPr lang="en-IN" dirty="0"/>
              <a:t> and a page size is 2</a:t>
            </a:r>
            <a:r>
              <a:rPr lang="en-IN" baseline="30000" dirty="0"/>
              <a:t>n</a:t>
            </a:r>
            <a:r>
              <a:rPr lang="en-IN" dirty="0"/>
              <a:t> addressing units (bytes or words), then the high-order </a:t>
            </a:r>
            <a:r>
              <a:rPr lang="en-IN" i="1" dirty="0"/>
              <a:t>m – n </a:t>
            </a:r>
            <a:r>
              <a:rPr lang="en-IN" dirty="0"/>
              <a:t>bits of a logical address designate the page number, and the </a:t>
            </a:r>
            <a:r>
              <a:rPr lang="en-IN" i="1" dirty="0"/>
              <a:t>n low-order bits </a:t>
            </a:r>
            <a:r>
              <a:rPr lang="en-IN" dirty="0"/>
              <a:t>designate the page offset.</a:t>
            </a:r>
          </a:p>
          <a:p>
            <a:endParaRPr lang="en-IN" dirty="0"/>
          </a:p>
          <a:p>
            <a:pPr>
              <a:buNone/>
            </a:pPr>
            <a:endParaRPr lang="en-IN" dirty="0"/>
          </a:p>
          <a:p>
            <a:pPr>
              <a:buNone/>
            </a:pPr>
            <a:endParaRPr lang="en-IN" dirty="0"/>
          </a:p>
          <a:p>
            <a:r>
              <a:rPr lang="en-IN" dirty="0"/>
              <a:t>where </a:t>
            </a:r>
            <a:r>
              <a:rPr lang="en-IN" i="1" dirty="0"/>
              <a:t>p is an index into the page table and d is the displacement within the </a:t>
            </a:r>
            <a:r>
              <a:rPr lang="en-IN" dirty="0"/>
              <a:t>page.</a:t>
            </a:r>
          </a:p>
        </p:txBody>
      </p:sp>
      <p:pic>
        <p:nvPicPr>
          <p:cNvPr id="3074" name="Picture 2"/>
          <p:cNvPicPr>
            <a:picLocks noChangeAspect="1" noChangeArrowheads="1"/>
          </p:cNvPicPr>
          <p:nvPr/>
        </p:nvPicPr>
        <p:blipFill>
          <a:blip r:embed="rId2" cstate="print"/>
          <a:srcRect/>
          <a:stretch>
            <a:fillRect/>
          </a:stretch>
        </p:blipFill>
        <p:spPr bwMode="auto">
          <a:xfrm>
            <a:off x="1619672" y="4653136"/>
            <a:ext cx="4536504" cy="111462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Paging:Example</a:t>
            </a:r>
            <a:endParaRPr lang="en-IN" dirty="0"/>
          </a:p>
        </p:txBody>
      </p:sp>
      <p:sp>
        <p:nvSpPr>
          <p:cNvPr id="3" name="Content Placeholder 2"/>
          <p:cNvSpPr>
            <a:spLocks noGrp="1"/>
          </p:cNvSpPr>
          <p:nvPr>
            <p:ph idx="1"/>
          </p:nvPr>
        </p:nvSpPr>
        <p:spPr/>
        <p:txBody>
          <a:bodyPr/>
          <a:lstStyle/>
          <a:p>
            <a:endParaRPr lang="en-IN"/>
          </a:p>
        </p:txBody>
      </p:sp>
      <p:pic>
        <p:nvPicPr>
          <p:cNvPr id="4099" name="Picture 3"/>
          <p:cNvPicPr>
            <a:picLocks noChangeAspect="1" noChangeArrowheads="1"/>
          </p:cNvPicPr>
          <p:nvPr/>
        </p:nvPicPr>
        <p:blipFill>
          <a:blip r:embed="rId2" cstate="print"/>
          <a:srcRect/>
          <a:stretch>
            <a:fillRect/>
          </a:stretch>
        </p:blipFill>
        <p:spPr bwMode="auto">
          <a:xfrm>
            <a:off x="323528" y="1268760"/>
            <a:ext cx="8496944" cy="532447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 Example</a:t>
            </a:r>
          </a:p>
        </p:txBody>
      </p:sp>
      <p:sp>
        <p:nvSpPr>
          <p:cNvPr id="3" name="Content Placeholder 2"/>
          <p:cNvSpPr>
            <a:spLocks noGrp="1"/>
          </p:cNvSpPr>
          <p:nvPr>
            <p:ph idx="1"/>
          </p:nvPr>
        </p:nvSpPr>
        <p:spPr/>
        <p:txBody>
          <a:bodyPr>
            <a:normAutofit/>
          </a:bodyPr>
          <a:lstStyle/>
          <a:p>
            <a:pPr algn="just"/>
            <a:r>
              <a:rPr lang="en-IN" dirty="0"/>
              <a:t>Page size of 4 bytes and a physical memory of 32 bytes (8 pages.</a:t>
            </a:r>
          </a:p>
          <a:p>
            <a:pPr algn="just"/>
            <a:r>
              <a:rPr lang="en-IN" dirty="0"/>
              <a:t>page 0 is in frame 5. </a:t>
            </a:r>
          </a:p>
          <a:p>
            <a:pPr algn="just"/>
            <a:r>
              <a:rPr lang="en-IN" dirty="0"/>
              <a:t>Thus, logical address 0 maps to physical address 20 (= (5 x 4) + 0). </a:t>
            </a:r>
          </a:p>
          <a:p>
            <a:pPr algn="just"/>
            <a:r>
              <a:rPr lang="en-IN" dirty="0"/>
              <a:t>Logical address 3 (page 0, offset 3) maps to physical address 23 </a:t>
            </a:r>
            <a:r>
              <a:rPr lang="en-IN" i="1" dirty="0"/>
              <a:t>=( (5x4) + 3). </a:t>
            </a:r>
          </a:p>
          <a:p>
            <a:pPr algn="just"/>
            <a:r>
              <a:rPr lang="en-IN" i="1" dirty="0"/>
              <a:t>Logical address 4 is page 1, offset 0;</a:t>
            </a:r>
            <a:r>
              <a:rPr lang="en-IN" dirty="0"/>
              <a:t> Thus, logical address 4 maps to physical address 24 (= (6x4) + 0).</a:t>
            </a:r>
          </a:p>
          <a:p>
            <a:pPr algn="just"/>
            <a:r>
              <a:rPr lang="en-IN" dirty="0"/>
              <a:t> Logical address 13 maps to physical address 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Paging-Disadvantage</a:t>
            </a:r>
          </a:p>
        </p:txBody>
      </p:sp>
      <p:sp>
        <p:nvSpPr>
          <p:cNvPr id="3" name="Content Placeholder 2"/>
          <p:cNvSpPr>
            <a:spLocks noGrp="1"/>
          </p:cNvSpPr>
          <p:nvPr>
            <p:ph idx="1"/>
          </p:nvPr>
        </p:nvSpPr>
        <p:spPr>
          <a:xfrm>
            <a:off x="457200" y="1124744"/>
            <a:ext cx="8229600" cy="5472608"/>
          </a:xfrm>
        </p:spPr>
        <p:txBody>
          <a:bodyPr>
            <a:normAutofit lnSpcReduction="10000"/>
          </a:bodyPr>
          <a:lstStyle/>
          <a:p>
            <a:pPr algn="just"/>
            <a:r>
              <a:rPr lang="en-IN" dirty="0"/>
              <a:t>When we use a </a:t>
            </a:r>
            <a:r>
              <a:rPr lang="en-IN" b="1" dirty="0"/>
              <a:t>paging scheme, there is no external  fragmentation: </a:t>
            </a:r>
            <a:r>
              <a:rPr lang="en-IN" i="1" dirty="0"/>
              <a:t>Any</a:t>
            </a:r>
            <a:r>
              <a:rPr lang="en-IN" b="1" i="1" dirty="0"/>
              <a:t> </a:t>
            </a:r>
            <a:r>
              <a:rPr lang="en-IN" i="1" dirty="0"/>
              <a:t>free </a:t>
            </a:r>
            <a:r>
              <a:rPr lang="en-IN" dirty="0"/>
              <a:t>frame can be allocated to a process that needs it. </a:t>
            </a:r>
          </a:p>
          <a:p>
            <a:pPr algn="just"/>
            <a:r>
              <a:rPr lang="en-IN" dirty="0"/>
              <a:t>Paging have </a:t>
            </a:r>
            <a:r>
              <a:rPr lang="en-IN" b="1" dirty="0"/>
              <a:t>internal fragmentation</a:t>
            </a:r>
            <a:r>
              <a:rPr lang="en-IN" dirty="0"/>
              <a:t>. </a:t>
            </a:r>
          </a:p>
          <a:p>
            <a:pPr algn="just"/>
            <a:r>
              <a:rPr lang="en-IN" dirty="0"/>
              <a:t>If the memory requirements of a process do not coincide with page boundaries, the </a:t>
            </a:r>
            <a:r>
              <a:rPr lang="en-IN" i="1" dirty="0"/>
              <a:t>last frame allocated may not be completely full. </a:t>
            </a:r>
          </a:p>
          <a:p>
            <a:pPr lvl="1" algn="just"/>
            <a:r>
              <a:rPr lang="en-IN" i="1" dirty="0"/>
              <a:t>For example, if page size </a:t>
            </a:r>
            <a:r>
              <a:rPr lang="en-IN" dirty="0"/>
              <a:t>is 2,048 bytes, a process of 72,766 bytes would need 35 pages plus 1,086 bytes. It would be allocated 36 frames, resulting in an internal fragmentation of 2,048-1,086 = 962 bytes. </a:t>
            </a:r>
          </a:p>
          <a:p>
            <a:pPr algn="just"/>
            <a:r>
              <a:rPr lang="en-IN" dirty="0"/>
              <a:t>In the worst case, a process would need </a:t>
            </a:r>
            <a:r>
              <a:rPr lang="en-IN" i="1" dirty="0"/>
              <a:t>n pages plus 1 </a:t>
            </a:r>
            <a:r>
              <a:rPr lang="en-IN" dirty="0"/>
              <a:t>byte. It would be allocated, </a:t>
            </a:r>
            <a:r>
              <a:rPr lang="en-IN" i="1" dirty="0"/>
              <a:t>n + 1 frames, resulting in an internal fragmentation </a:t>
            </a:r>
            <a:r>
              <a:rPr lang="en-IN" dirty="0"/>
              <a:t>of almost an entire frame.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normAutofit/>
          </a:bodyPr>
          <a:lstStyle/>
          <a:p>
            <a:pPr algn="just"/>
            <a:r>
              <a:rPr lang="en-IN" dirty="0"/>
              <a:t>When a process arrives in the system to be executed, its size, expressed in pages, is examined.</a:t>
            </a:r>
          </a:p>
          <a:p>
            <a:pPr algn="just"/>
            <a:r>
              <a:rPr lang="en-IN" dirty="0"/>
              <a:t> Each page of the process needs one frame. </a:t>
            </a:r>
          </a:p>
          <a:p>
            <a:pPr algn="just"/>
            <a:r>
              <a:rPr lang="en-IN" dirty="0"/>
              <a:t>If the process requires </a:t>
            </a:r>
            <a:r>
              <a:rPr lang="en-IN" i="1" dirty="0"/>
              <a:t>n pages, at least n frames must be available in memory.</a:t>
            </a:r>
          </a:p>
          <a:p>
            <a:pPr algn="just"/>
            <a:r>
              <a:rPr lang="en-IN" i="1" dirty="0"/>
              <a:t> If n </a:t>
            </a:r>
            <a:r>
              <a:rPr lang="en-IN" dirty="0"/>
              <a:t>frames are available, they are allocated to this arriving process. </a:t>
            </a:r>
          </a:p>
          <a:p>
            <a:pPr algn="just"/>
            <a:r>
              <a:rPr lang="en-IN" dirty="0"/>
              <a:t>The first page of the process is loaded into one of the allocated frames, and the frame number is put in the page table for this process. The next page is loaded into another frame, and its frame number is put into the page table, and so 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a:t>
            </a:r>
          </a:p>
        </p:txBody>
      </p:sp>
      <p:sp>
        <p:nvSpPr>
          <p:cNvPr id="3" name="Content Placeholder 2"/>
          <p:cNvSpPr>
            <a:spLocks noGrp="1"/>
          </p:cNvSpPr>
          <p:nvPr>
            <p:ph idx="1"/>
          </p:nvPr>
        </p:nvSpPr>
        <p:spPr/>
        <p:txBody>
          <a:bodyPr/>
          <a:lstStyle/>
          <a:p>
            <a:endParaRPr lang="en-IN"/>
          </a:p>
        </p:txBody>
      </p:sp>
      <p:pic>
        <p:nvPicPr>
          <p:cNvPr id="5123" name="Picture 3"/>
          <p:cNvPicPr>
            <a:picLocks noChangeAspect="1" noChangeArrowheads="1"/>
          </p:cNvPicPr>
          <p:nvPr/>
        </p:nvPicPr>
        <p:blipFill>
          <a:blip r:embed="rId2" cstate="print"/>
          <a:srcRect/>
          <a:stretch>
            <a:fillRect/>
          </a:stretch>
        </p:blipFill>
        <p:spPr bwMode="auto">
          <a:xfrm>
            <a:off x="395536" y="1196752"/>
            <a:ext cx="8136904" cy="547260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Paging-Hardware Support</a:t>
            </a:r>
          </a:p>
        </p:txBody>
      </p:sp>
      <p:sp>
        <p:nvSpPr>
          <p:cNvPr id="3" name="Content Placeholder 2"/>
          <p:cNvSpPr>
            <a:spLocks noGrp="1"/>
          </p:cNvSpPr>
          <p:nvPr>
            <p:ph idx="1"/>
          </p:nvPr>
        </p:nvSpPr>
        <p:spPr/>
        <p:txBody>
          <a:bodyPr>
            <a:normAutofit/>
          </a:bodyPr>
          <a:lstStyle/>
          <a:p>
            <a:pPr algn="just"/>
            <a:r>
              <a:rPr lang="en-IN" dirty="0"/>
              <a:t>Each operating system has its own methods for storing page tables.</a:t>
            </a:r>
          </a:p>
          <a:p>
            <a:pPr algn="just"/>
            <a:r>
              <a:rPr lang="en-IN" dirty="0"/>
              <a:t> Some allocate a page table for each process.</a:t>
            </a:r>
          </a:p>
          <a:p>
            <a:pPr algn="just"/>
            <a:r>
              <a:rPr lang="en-IN" dirty="0"/>
              <a:t> A pointer to the page table is stored with the other register values (like the instruction counter) in the process control block.</a:t>
            </a:r>
          </a:p>
          <a:p>
            <a:pPr algn="just"/>
            <a:r>
              <a:rPr lang="en-IN" dirty="0"/>
              <a:t> When the dispatcher is told to start a process, it must reload the user registers and define the correct hardware page-table values from the stored user page table.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688632"/>
          </a:xfrm>
        </p:spPr>
        <p:txBody>
          <a:bodyPr>
            <a:normAutofit/>
          </a:bodyPr>
          <a:lstStyle/>
          <a:p>
            <a:pPr algn="just">
              <a:buNone/>
            </a:pPr>
            <a:r>
              <a:rPr lang="en-IN" sz="2800" b="1" u="sng" dirty="0"/>
              <a:t>Hardware implementation of page table</a:t>
            </a:r>
          </a:p>
          <a:p>
            <a:pPr algn="just">
              <a:buNone/>
            </a:pPr>
            <a:r>
              <a:rPr lang="en-IN" b="1" dirty="0"/>
              <a:t>1)Using Hardware registers</a:t>
            </a:r>
          </a:p>
          <a:p>
            <a:pPr algn="just"/>
            <a:r>
              <a:rPr lang="en-IN" dirty="0"/>
              <a:t>A single page table consisting of an array of fast hardware registers, with one entry for each virtual page, indexed by virtual page number.</a:t>
            </a:r>
          </a:p>
          <a:p>
            <a:pPr algn="just"/>
            <a:r>
              <a:rPr lang="en-IN" dirty="0"/>
              <a:t>When a process is started up, the operating system loads the registers with the process‘ page table, taken from a copy kept in main memory. </a:t>
            </a:r>
          </a:p>
          <a:p>
            <a:pPr algn="just">
              <a:buNone/>
            </a:pPr>
            <a:r>
              <a:rPr lang="en-IN" b="1" dirty="0"/>
              <a:t>Advantages</a:t>
            </a:r>
            <a:r>
              <a:rPr lang="en-IN" dirty="0"/>
              <a:t>: It is straightforward and requires no memory references during mapping.</a:t>
            </a:r>
          </a:p>
          <a:p>
            <a:pPr algn="just">
              <a:buNone/>
            </a:pPr>
            <a:r>
              <a:rPr lang="en-IN" b="1" dirty="0"/>
              <a:t>Disadvantage: </a:t>
            </a:r>
            <a:r>
              <a:rPr lang="en-IN" dirty="0"/>
              <a:t>Potentially expensive (if the page table is large). Having to load the full page table at every context switch hurts performance.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Page Tables-Implementation</a:t>
            </a:r>
          </a:p>
        </p:txBody>
      </p:sp>
      <p:sp>
        <p:nvSpPr>
          <p:cNvPr id="3" name="Content Placeholder 2"/>
          <p:cNvSpPr>
            <a:spLocks noGrp="1"/>
          </p:cNvSpPr>
          <p:nvPr>
            <p:ph idx="1"/>
          </p:nvPr>
        </p:nvSpPr>
        <p:spPr/>
        <p:txBody>
          <a:bodyPr/>
          <a:lstStyle/>
          <a:p>
            <a:pPr algn="just">
              <a:buNone/>
            </a:pPr>
            <a:r>
              <a:rPr lang="en-IN" b="1" dirty="0"/>
              <a:t>2)Page table  stored entirely in main memory</a:t>
            </a:r>
            <a:r>
              <a:rPr lang="en-IN" dirty="0"/>
              <a:t>.</a:t>
            </a:r>
          </a:p>
          <a:p>
            <a:pPr algn="just"/>
            <a:r>
              <a:rPr lang="en-IN" dirty="0"/>
              <a:t>Page table base register  (PTBR) points to the start of the page table. </a:t>
            </a:r>
          </a:p>
          <a:p>
            <a:pPr algn="just"/>
            <a:r>
              <a:rPr lang="en-IN" dirty="0"/>
              <a:t>Changing the page table requires changing only this register thereby reducing context switch time.</a:t>
            </a:r>
          </a:p>
          <a:p>
            <a:pPr algn="just">
              <a:buNone/>
            </a:pPr>
            <a:r>
              <a:rPr lang="en-IN" b="1" dirty="0"/>
              <a:t>Disadvantage</a:t>
            </a:r>
            <a:r>
              <a:rPr lang="en-IN" dirty="0"/>
              <a:t> </a:t>
            </a:r>
          </a:p>
          <a:p>
            <a:r>
              <a:rPr lang="en-IN" dirty="0"/>
              <a:t>This scheme,  requires </a:t>
            </a:r>
            <a:r>
              <a:rPr lang="en-IN" b="1" i="1" dirty="0"/>
              <a:t>two memory accesses </a:t>
            </a:r>
            <a:r>
              <a:rPr lang="en-IN" dirty="0"/>
              <a:t>to access a byte (one for the page-table entry, one for the byte).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b="1" dirty="0"/>
              <a:t>3) </a:t>
            </a:r>
            <a:r>
              <a:rPr lang="en-US" b="1" dirty="0"/>
              <a:t>Translation </a:t>
            </a:r>
            <a:r>
              <a:rPr lang="en-US" b="1" dirty="0" err="1"/>
              <a:t>Lookaside</a:t>
            </a:r>
            <a:r>
              <a:rPr lang="en-US" b="1" dirty="0"/>
              <a:t> Buffer (TLB)</a:t>
            </a:r>
            <a:endParaRPr lang="en-IN" b="1" dirty="0"/>
          </a:p>
        </p:txBody>
      </p:sp>
      <p:pic>
        <p:nvPicPr>
          <p:cNvPr id="1028" name="Picture 4"/>
          <p:cNvPicPr>
            <a:picLocks noChangeAspect="1" noChangeArrowheads="1"/>
          </p:cNvPicPr>
          <p:nvPr/>
        </p:nvPicPr>
        <p:blipFill>
          <a:blip r:embed="rId2" cstate="print"/>
          <a:srcRect/>
          <a:stretch>
            <a:fillRect/>
          </a:stretch>
        </p:blipFill>
        <p:spPr bwMode="auto">
          <a:xfrm>
            <a:off x="395536" y="2420888"/>
            <a:ext cx="8296275" cy="479846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buNone/>
            </a:pPr>
            <a:endParaRPr lang="en-IN" b="1" dirty="0"/>
          </a:p>
          <a:p>
            <a:pPr algn="just"/>
            <a:r>
              <a:rPr lang="en-IN" b="1" dirty="0"/>
              <a:t> </a:t>
            </a:r>
            <a:r>
              <a:rPr lang="en-IN" dirty="0"/>
              <a:t>The TLB is associative, high-speed memory.</a:t>
            </a:r>
          </a:p>
          <a:p>
            <a:pPr algn="just"/>
            <a:r>
              <a:rPr lang="en-IN" dirty="0"/>
              <a:t> Each entry in the TLB consists of two </a:t>
            </a:r>
            <a:r>
              <a:rPr lang="en-IN" dirty="0" err="1"/>
              <a:t>parts:a</a:t>
            </a:r>
            <a:r>
              <a:rPr lang="en-IN" dirty="0"/>
              <a:t> key (or tag) and a value.</a:t>
            </a:r>
          </a:p>
          <a:p>
            <a:pPr algn="just"/>
            <a:r>
              <a:rPr lang="en-IN" dirty="0"/>
              <a:t>When the associative memory is presented with an item, the item is compared with all keys simultaneously.</a:t>
            </a:r>
          </a:p>
          <a:p>
            <a:pPr algn="just"/>
            <a:r>
              <a:rPr lang="en-IN" dirty="0"/>
              <a:t> If item is found, corresponding value field is returned.</a:t>
            </a:r>
          </a:p>
          <a:p>
            <a:pPr algn="just"/>
            <a:r>
              <a:rPr lang="en-IN" dirty="0"/>
              <a:t>The search is fast; </a:t>
            </a:r>
          </a:p>
          <a:p>
            <a:pPr algn="just"/>
            <a:r>
              <a:rPr lang="en-IN" dirty="0"/>
              <a:t>The TLB contains only a few of the page-table entries. </a:t>
            </a:r>
          </a:p>
          <a:p>
            <a:pPr algn="just"/>
            <a:r>
              <a:rPr lang="en-IN" dirty="0"/>
              <a:t>When a logical address is generated by the CPU, its page number is presented to the TLB. </a:t>
            </a:r>
          </a:p>
          <a:p>
            <a:pPr algn="just"/>
            <a:r>
              <a:rPr lang="en-IN" dirty="0"/>
              <a:t>If the page number is found, its frame number is immediately available and is used to access memory.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dirty="0"/>
              <a:t>If the page number is not in the TLB (known as a </a:t>
            </a:r>
            <a:r>
              <a:rPr lang="en-IN" b="1" dirty="0"/>
              <a:t>TLB miss), a memory </a:t>
            </a:r>
            <a:r>
              <a:rPr lang="en-IN" dirty="0"/>
              <a:t>reference to the page table must be made.</a:t>
            </a:r>
          </a:p>
          <a:p>
            <a:pPr algn="just"/>
            <a:r>
              <a:rPr lang="en-IN" dirty="0"/>
              <a:t>Then add the page number and frame number to the TLB.</a:t>
            </a:r>
          </a:p>
          <a:p>
            <a:pPr algn="just"/>
            <a:r>
              <a:rPr lang="en-IN" dirty="0"/>
              <a:t> If the TLB is already full of entries, an existing entry must be selected for replacement. </a:t>
            </a:r>
          </a:p>
          <a:p>
            <a:pPr algn="just"/>
            <a:r>
              <a:rPr lang="en-IN" dirty="0"/>
              <a:t>Replacement policies range from least recently used (LRU) through round-robin to random.</a:t>
            </a:r>
          </a:p>
          <a:p>
            <a:pPr algn="just"/>
            <a:r>
              <a:rPr lang="en-IN" dirty="0"/>
              <a:t>Some TLBs allow certain entries to be </a:t>
            </a:r>
            <a:r>
              <a:rPr lang="en-IN" b="1" dirty="0"/>
              <a:t>wired down, meaning that they cannot be removed from </a:t>
            </a:r>
            <a:r>
              <a:rPr lang="en-IN" dirty="0"/>
              <a:t>the TLB. Typically, TLB entries for kernel code are wired down.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5400600"/>
          </a:xfrm>
        </p:spPr>
        <p:txBody>
          <a:bodyPr>
            <a:normAutofit/>
          </a:bodyPr>
          <a:lstStyle/>
          <a:p>
            <a:pPr algn="just"/>
            <a:r>
              <a:rPr lang="en-IN" dirty="0"/>
              <a:t>Some TLBs store </a:t>
            </a:r>
            <a:r>
              <a:rPr lang="en-IN" b="1" dirty="0"/>
              <a:t>address-space identifiers (ASIDs) in each TLB entry. </a:t>
            </a:r>
          </a:p>
          <a:p>
            <a:pPr algn="just"/>
            <a:r>
              <a:rPr lang="en-IN" dirty="0"/>
              <a:t>An</a:t>
            </a:r>
            <a:r>
              <a:rPr lang="en-IN" b="1" dirty="0"/>
              <a:t> ASID uniquely identifies each process </a:t>
            </a:r>
            <a:r>
              <a:rPr lang="en-IN" dirty="0"/>
              <a:t>and is used to provide address-space protection for that process. </a:t>
            </a:r>
          </a:p>
          <a:p>
            <a:pPr algn="just"/>
            <a:r>
              <a:rPr lang="en-IN" dirty="0"/>
              <a:t>When the TLB attempts to resolve virtual page numbers, it ensures that the ASID for the currently running process matches the ASID associated with the virtual page. </a:t>
            </a:r>
          </a:p>
          <a:p>
            <a:pPr algn="just"/>
            <a:r>
              <a:rPr lang="en-IN" dirty="0"/>
              <a:t>If the ASIDs do not match, the attempt is treated as a TLB miss. </a:t>
            </a:r>
          </a:p>
          <a:p>
            <a:pPr algn="just"/>
            <a:r>
              <a:rPr lang="en-IN" dirty="0"/>
              <a:t>ASID allows the TLB to contain entries for several different processes simultaneously.</a:t>
            </a:r>
          </a:p>
          <a:p>
            <a:pPr algn="just">
              <a:buNone/>
            </a:pPr>
            <a:r>
              <a:rPr lang="en-IN" dirty="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The percentage of times that the page number of interest is found in the TLB is called the </a:t>
            </a:r>
            <a:r>
              <a:rPr lang="en-IN" b="1" dirty="0"/>
              <a:t>hit ratio.</a:t>
            </a:r>
          </a:p>
          <a:p>
            <a:pPr>
              <a:buNone/>
            </a:pPr>
            <a:r>
              <a:rPr lang="en-IN" b="1" dirty="0" err="1"/>
              <a:t>Eg</a:t>
            </a:r>
            <a:r>
              <a:rPr lang="en-IN" b="1" dirty="0"/>
              <a:t>: An 80-percent hit ratio, </a:t>
            </a:r>
            <a:r>
              <a:rPr lang="en-IN" dirty="0"/>
              <a:t>means that we find the desired page number in the TLB 80 percent of the time.</a:t>
            </a:r>
          </a:p>
          <a:p>
            <a:pPr>
              <a:buNone/>
            </a:pPr>
            <a:endParaRPr lang="en-IN" dirty="0"/>
          </a:p>
          <a:p>
            <a:pPr>
              <a:buNone/>
            </a:pPr>
            <a:endParaRPr lang="en-IN"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340768"/>
            <a:ext cx="8640960" cy="5256584"/>
          </a:xfrm>
        </p:spPr>
        <p:txBody>
          <a:bodyPr/>
          <a:lstStyle/>
          <a:p>
            <a:pPr algn="just">
              <a:buNone/>
            </a:pPr>
            <a:r>
              <a:rPr lang="en-IN" b="1" dirty="0"/>
              <a:t>Problem</a:t>
            </a:r>
            <a:r>
              <a:rPr lang="en-IN" dirty="0"/>
              <a:t>: If it takes 20 nanoseconds to search TLB and 100 nanoseconds to access memory. Find the effective memory access time? hit ratio is 80%.</a:t>
            </a:r>
          </a:p>
          <a:p>
            <a:pPr algn="just">
              <a:buNone/>
            </a:pPr>
            <a:r>
              <a:rPr lang="en-IN" dirty="0"/>
              <a:t>Effective access time=(hit ratio*memory access time) +(miss ratio *memory access time)</a:t>
            </a:r>
          </a:p>
          <a:p>
            <a:pPr algn="just">
              <a:buNone/>
            </a:pPr>
            <a:r>
              <a:rPr lang="en-IN" dirty="0"/>
              <a:t>   =hit ratio*(time to search TLB+ memory access time for desired byte)</a:t>
            </a:r>
            <a:r>
              <a:rPr lang="en-IN" b="1" dirty="0"/>
              <a:t>+ </a:t>
            </a:r>
            <a:r>
              <a:rPr lang="en-IN" dirty="0"/>
              <a:t>miss ratio*(time to search TLB+ memory access time for the page table and frame number+ memory access time for desired byte)</a:t>
            </a:r>
          </a:p>
          <a:p>
            <a:pPr algn="just">
              <a:buNone/>
            </a:pPr>
            <a:r>
              <a:rPr lang="en-IN" dirty="0"/>
              <a:t>=0.8*120+0.20*220</a:t>
            </a:r>
          </a:p>
          <a:p>
            <a:pPr algn="just">
              <a:buNone/>
            </a:pPr>
            <a:r>
              <a:rPr lang="en-IN" dirty="0"/>
              <a:t>=140 nanoseconds</a:t>
            </a:r>
          </a:p>
          <a:p>
            <a:pPr algn="just"/>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7487</TotalTime>
  <Words>1358</Words>
  <Application>Microsoft Office PowerPoint</Application>
  <PresentationFormat>On-screen Show (4:3)</PresentationFormat>
  <Paragraphs>89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Constantia</vt:lpstr>
      <vt:lpstr>Times New Roman</vt:lpstr>
      <vt:lpstr>Wingdings 2</vt:lpstr>
      <vt:lpstr>Flow</vt:lpstr>
      <vt:lpstr>PAGING</vt:lpstr>
      <vt:lpstr>Paging</vt:lpstr>
      <vt:lpstr>Paging</vt:lpstr>
      <vt:lpstr>Paging</vt:lpstr>
      <vt:lpstr>Paging</vt:lpstr>
      <vt:lpstr>Paging</vt:lpstr>
      <vt:lpstr>Paging:Example</vt:lpstr>
      <vt:lpstr>Paging: Example</vt:lpstr>
      <vt:lpstr>Paging-Disadvantage</vt:lpstr>
      <vt:lpstr>Paging</vt:lpstr>
      <vt:lpstr>Paging</vt:lpstr>
      <vt:lpstr>Paging-Hardware Support</vt:lpstr>
      <vt:lpstr>PowerPoint Presentation</vt:lpstr>
      <vt:lpstr>Page Tables-Implementation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Processes</dc:title>
  <dc:creator>Aswathy Pradeep</dc:creator>
  <cp:lastModifiedBy>preethi np</cp:lastModifiedBy>
  <cp:revision>221</cp:revision>
  <dcterms:created xsi:type="dcterms:W3CDTF">2017-01-09T16:23:11Z</dcterms:created>
  <dcterms:modified xsi:type="dcterms:W3CDTF">2024-02-14T09:02:16Z</dcterms:modified>
</cp:coreProperties>
</file>